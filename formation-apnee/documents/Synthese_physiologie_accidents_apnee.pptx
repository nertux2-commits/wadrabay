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PpO₂ (mmHg)</c:v>
                </c:pt>
              </c:strCache>
            </c:strRef>
          </c:tx>
          <c:spPr>
            <a:solidFill>
              <a:srgbClr val="0E7CB8"/>
            </a:solidFill>
            <a:ln w="38100" cap="flat">
              <a:solidFill>
                <a:srgbClr val="0E7C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7CB8"/>
              </a:solidFill>
              <a:ln w="9525" cap="flat">
                <a:solidFill>
                  <a:srgbClr val="0E7CB8"/>
                </a:solidFill>
                <a:prstDash val="solid"/>
                <a:round/>
              </a:ln>
              <a:effectLst/>
            </c:spPr>
          </c:marker>
          <c:cat>
            <c:multiLvlStrRef>
              <c:f>Sheet1!$A$2:$A$8</c:f>
              <c:multiLvlStrCache>
                <c:ptCount val="7"/>
                <c:lvl>
                  <c:pt idx="0">
                    <c:v>Surface</c:v>
                  </c:pt>
                  <c:pt idx="1">
                    <c:v>Descente</c:v>
                  </c:pt>
                  <c:pt idx="2">
                    <c:v>Arrivée fond</c:v>
                  </c:pt>
                  <c:pt idx="3">
                    <c:v>Fond (statique)</c:v>
                  </c:pt>
                  <c:pt idx="4">
                    <c:v>Fin de fond</c:v>
                  </c:pt>
                  <c:pt idx="5">
                    <c:v>Remontée</c:v>
                  </c:pt>
                  <c:pt idx="6">
                    <c:v>Surface</c:v>
                  </c:pt>
                </c:lvl>
              </c:multiLvlStrCache>
            </c:multiLvlStrRef>
          </c:cat>
          <c:val>
            <c:numRef>
              <c:f>Sheet1!$B$2:$B$8</c:f>
              <c:numCache>
                <c:formatCode>General</c:formatCode>
                <c:ptCount val="7"/>
                <c:pt idx="0">
                  <c:v>106</c:v>
                </c:pt>
                <c:pt idx="1">
                  <c:v>160</c:v>
                </c:pt>
                <c:pt idx="2">
                  <c:v>200</c:v>
                </c:pt>
                <c:pt idx="3">
                  <c:v>130</c:v>
                </c:pt>
                <c:pt idx="4">
                  <c:v>60</c:v>
                </c:pt>
                <c:pt idx="5">
                  <c:v>45</c:v>
                </c:pt>
                <c:pt idx="6">
                  <c:v>30</c:v>
                </c:pt>
              </c:numCache>
            </c:numRef>
          </c:val>
          <c:smooth val="1"/>
        </c:ser>
        <c:ser>
          <c:idx val="1"/>
          <c:order val="1"/>
          <c:tx>
            <c:strRef>
              <c:f>Sheet1!$C$1</c:f>
              <c:strCache>
                <c:ptCount val="1"/>
                <c:pt idx="0">
                  <c:v>PpCO₂ (mmHg)</c:v>
                </c:pt>
              </c:strCache>
            </c:strRef>
          </c:tx>
          <c:spPr>
            <a:solidFill>
              <a:srgbClr val="D9541E"/>
            </a:solidFill>
            <a:ln w="38100" cap="flat">
              <a:solidFill>
                <a:srgbClr val="D954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9541E"/>
              </a:solidFill>
              <a:ln w="9525" cap="flat">
                <a:solidFill>
                  <a:srgbClr val="D9541E"/>
                </a:solidFill>
                <a:prstDash val="solid"/>
                <a:round/>
              </a:ln>
              <a:effectLst/>
            </c:spPr>
          </c:marker>
          <c:cat>
            <c:multiLvlStrRef>
              <c:f>Sheet1!$A$2:$A$8</c:f>
              <c:multiLvlStrCache>
                <c:ptCount val="7"/>
                <c:lvl>
                  <c:pt idx="0">
                    <c:v>Surface</c:v>
                  </c:pt>
                  <c:pt idx="1">
                    <c:v>Descente</c:v>
                  </c:pt>
                  <c:pt idx="2">
                    <c:v>Arrivée fond</c:v>
                  </c:pt>
                  <c:pt idx="3">
                    <c:v>Fond (statique)</c:v>
                  </c:pt>
                  <c:pt idx="4">
                    <c:v>Fin de fond</c:v>
                  </c:pt>
                  <c:pt idx="5">
                    <c:v>Remontée</c:v>
                  </c:pt>
                  <c:pt idx="6">
                    <c:v>Surface</c:v>
                  </c:pt>
                </c:lvl>
              </c:multiLvlStrCache>
            </c:multiLvlStrRef>
          </c:cat>
          <c:val>
            <c:numRef>
              <c:f>Sheet1!$C$2:$C$8</c:f>
              <c:numCache>
                <c:formatCode>General</c:formatCode>
                <c:ptCount val="7"/>
                <c:pt idx="0">
                  <c:v>40</c:v>
                </c:pt>
                <c:pt idx="1">
                  <c:v>42</c:v>
                </c:pt>
                <c:pt idx="2">
                  <c:v>44</c:v>
                </c:pt>
                <c:pt idx="3">
                  <c:v>47</c:v>
                </c:pt>
                <c:pt idx="4">
                  <c:v>50</c:v>
                </c:pt>
                <c:pt idx="5">
                  <c:v>51</c:v>
                </c:pt>
                <c:pt idx="6">
                  <c:v>52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7288"/>
                </a:solidFill>
                <a:latin typeface="Arial"/>
              </a:defRPr>
            </a:pPr>
            <a:endParaRPr lang="en-US"/>
          </a:p>
        </c:txPr>
        <c:crossAx val="2094734552"/>
        <c:crosses val="autoZero"/>
        <c:auto val="1"/>
        <c:lblAlgn val="ctr"/>
        <c:noMultiLvlLbl val="1"/>
      </c:catAx>
      <c:valAx>
        <c:axId val="2094734552"/>
        <c:scaling>
          <c:orientation val="minMax"/>
          <c:max val="220"/>
          <c:min val="0"/>
        </c:scaling>
        <c:delete val="0"/>
        <c:axPos val="l"/>
        <c:majorGridlines>
          <c:spPr>
            <a:ln w="12700" cap="flat">
              <a:solidFill>
                <a:srgbClr val="DCEBF5"/>
              </a:solidFill>
              <a:prstDash val="solid"/>
              <a:round/>
            </a:ln>
          </c:spPr>
        </c:majorGridlines>
        <c:title>
          <c:tx>
            <c:rich>
              <a:bodyPr/>
              <a:lstStyle/>
              <a:p>
                <a:pPr>
                  <a:defRPr sz="1050" b="0" i="0" u="none" strike="noStrike">
                    <a:solidFill>
                      <a:srgbClr val="5B7288"/>
                    </a:solidFill>
                    <a:latin typeface="Arial"/>
                  </a:defRPr>
                </a:pPr>
                <a:r>
                  <a:rPr sz="1050" b="0" i="0" u="none" strike="noStrike">
                    <a:solidFill>
                      <a:srgbClr val="5B7288"/>
                    </a:solidFill>
                    <a:latin typeface="Arial"/>
                  </a:rPr>
                  <a:t>Pression partielle (mmHg)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288"/>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1150">
              <a:solidFill>
                <a:srgbClr val="1F3347"/>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PpO₂</c:v>
                </c:pt>
              </c:strCache>
            </c:strRef>
          </c:tx>
          <c:spPr>
            <a:solidFill>
              <a:srgbClr val="0E7CB8"/>
            </a:solidFill>
            <a:ln w="38100" cap="flat">
              <a:solidFill>
                <a:srgbClr val="0E7C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7CB8"/>
              </a:solidFill>
              <a:ln w="9525" cap="flat">
                <a:solidFill>
                  <a:srgbClr val="0E7CB8"/>
                </a:solidFill>
                <a:prstDash val="solid"/>
                <a:round/>
              </a:ln>
              <a:effectLst/>
            </c:spPr>
          </c:marker>
          <c:cat>
            <c:multiLvlStrRef>
              <c:f>Sheet1!$A$2:$A$9</c:f>
              <c:multiLvlStrCache>
                <c:ptCount val="8"/>
                <c:lvl>
                  <c:pt idx="0">
                    <c:v>0</c:v>
                  </c:pt>
                  <c:pt idx="1">
                    <c:v>30</c:v>
                  </c:pt>
                  <c:pt idx="2">
                    <c:v>60</c:v>
                  </c:pt>
                  <c:pt idx="3">
                    <c:v>90</c:v>
                  </c:pt>
                  <c:pt idx="4">
                    <c:v>120</c:v>
                  </c:pt>
                  <c:pt idx="5">
                    <c:v>150</c:v>
                  </c:pt>
                  <c:pt idx="6">
                    <c:v>180</c:v>
                  </c:pt>
                  <c:pt idx="7">
                    <c:v>210</c:v>
                  </c:pt>
                </c:lvl>
              </c:multiLvlStrCache>
            </c:multiLvlStrRef>
          </c:cat>
          <c:val>
            <c:numRef>
              <c:f>Sheet1!$B$2:$B$9</c:f>
              <c:numCache>
                <c:formatCode>General</c:formatCode>
                <c:ptCount val="8"/>
                <c:pt idx="0">
                  <c:v>98</c:v>
                </c:pt>
                <c:pt idx="1">
                  <c:v>88</c:v>
                </c:pt>
                <c:pt idx="2">
                  <c:v>77</c:v>
                </c:pt>
                <c:pt idx="3">
                  <c:v>66</c:v>
                </c:pt>
                <c:pt idx="4">
                  <c:v>55</c:v>
                </c:pt>
                <c:pt idx="5">
                  <c:v>44</c:v>
                </c:pt>
                <c:pt idx="6">
                  <c:v>33</c:v>
                </c:pt>
                <c:pt idx="7">
                  <c:v>24</c:v>
                </c:pt>
              </c:numCache>
            </c:numRef>
          </c:val>
          <c:smooth val="0"/>
        </c:ser>
        <c:ser>
          <c:idx val="1"/>
          <c:order val="1"/>
          <c:tx>
            <c:strRef>
              <c:f>Sheet1!$C$1</c:f>
              <c:strCache>
                <c:ptCount val="1"/>
                <c:pt idx="0">
                  <c:v>PpCO₂ — ventilation normale</c:v>
                </c:pt>
              </c:strCache>
            </c:strRef>
          </c:tx>
          <c:spPr>
            <a:solidFill>
              <a:srgbClr val="D9541E"/>
            </a:solidFill>
            <a:ln w="38100" cap="flat">
              <a:solidFill>
                <a:srgbClr val="D954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541E"/>
              </a:solidFill>
              <a:ln w="9525" cap="flat">
                <a:solidFill>
                  <a:srgbClr val="D9541E"/>
                </a:solidFill>
                <a:prstDash val="solid"/>
                <a:round/>
              </a:ln>
              <a:effectLst/>
            </c:spPr>
          </c:marker>
          <c:cat>
            <c:multiLvlStrRef>
              <c:f>Sheet1!$A$2:$A$9</c:f>
              <c:multiLvlStrCache>
                <c:ptCount val="8"/>
                <c:lvl>
                  <c:pt idx="0">
                    <c:v>0</c:v>
                  </c:pt>
                  <c:pt idx="1">
                    <c:v>30</c:v>
                  </c:pt>
                  <c:pt idx="2">
                    <c:v>60</c:v>
                  </c:pt>
                  <c:pt idx="3">
                    <c:v>90</c:v>
                  </c:pt>
                  <c:pt idx="4">
                    <c:v>120</c:v>
                  </c:pt>
                  <c:pt idx="5">
                    <c:v>150</c:v>
                  </c:pt>
                  <c:pt idx="6">
                    <c:v>180</c:v>
                  </c:pt>
                  <c:pt idx="7">
                    <c:v>210</c:v>
                  </c:pt>
                </c:lvl>
              </c:multiLvlStrCache>
            </c:multiLvlStrRef>
          </c:cat>
          <c:val>
            <c:numRef>
              <c:f>Sheet1!$C$2:$C$9</c:f>
              <c:numCache>
                <c:formatCode>General</c:formatCode>
                <c:ptCount val="8"/>
                <c:pt idx="0">
                  <c:v>40</c:v>
                </c:pt>
                <c:pt idx="1">
                  <c:v>42.5</c:v>
                </c:pt>
                <c:pt idx="2">
                  <c:v>45</c:v>
                </c:pt>
                <c:pt idx="3">
                  <c:v>47.5</c:v>
                </c:pt>
                <c:pt idx="4">
                  <c:v>50</c:v>
                </c:pt>
                <c:pt idx="5">
                  <c:v>52.5</c:v>
                </c:pt>
                <c:pt idx="6">
                  <c:v>55</c:v>
                </c:pt>
                <c:pt idx="7">
                  <c:v>57</c:v>
                </c:pt>
              </c:numCache>
            </c:numRef>
          </c:val>
          <c:smooth val="0"/>
        </c:ser>
        <c:ser>
          <c:idx val="2"/>
          <c:order val="2"/>
          <c:tx>
            <c:strRef>
              <c:f>Sheet1!$D$1</c:f>
              <c:strCache>
                <c:ptCount val="1"/>
                <c:pt idx="0">
                  <c:v>PpCO₂ — après hyperventilation</c:v>
                </c:pt>
              </c:strCache>
            </c:strRef>
          </c:tx>
          <c:spPr>
            <a:solidFill>
              <a:srgbClr val="8A4B0F"/>
            </a:solidFill>
            <a:ln w="38100" cap="flat">
              <a:solidFill>
                <a:srgbClr val="8A4B0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A4B0F"/>
              </a:solidFill>
              <a:ln w="9525" cap="flat">
                <a:solidFill>
                  <a:srgbClr val="8A4B0F"/>
                </a:solidFill>
                <a:prstDash val="solid"/>
                <a:round/>
              </a:ln>
              <a:effectLst/>
            </c:spPr>
          </c:marker>
          <c:cat>
            <c:multiLvlStrRef>
              <c:f>Sheet1!$A$2:$A$9</c:f>
              <c:multiLvlStrCache>
                <c:ptCount val="8"/>
                <c:lvl>
                  <c:pt idx="0">
                    <c:v>0</c:v>
                  </c:pt>
                  <c:pt idx="1">
                    <c:v>30</c:v>
                  </c:pt>
                  <c:pt idx="2">
                    <c:v>60</c:v>
                  </c:pt>
                  <c:pt idx="3">
                    <c:v>90</c:v>
                  </c:pt>
                  <c:pt idx="4">
                    <c:v>120</c:v>
                  </c:pt>
                  <c:pt idx="5">
                    <c:v>150</c:v>
                  </c:pt>
                  <c:pt idx="6">
                    <c:v>180</c:v>
                  </c:pt>
                  <c:pt idx="7">
                    <c:v>210</c:v>
                  </c:pt>
                </c:lvl>
              </c:multiLvlStrCache>
            </c:multiLvlStrRef>
          </c:cat>
          <c:val>
            <c:numRef>
              <c:f>Sheet1!$D$2:$D$9</c:f>
              <c:numCache>
                <c:formatCode>General</c:formatCode>
                <c:ptCount val="8"/>
                <c:pt idx="0">
                  <c:v>25</c:v>
                </c:pt>
                <c:pt idx="1">
                  <c:v>27.5</c:v>
                </c:pt>
                <c:pt idx="2">
                  <c:v>30</c:v>
                </c:pt>
                <c:pt idx="3">
                  <c:v>32.5</c:v>
                </c:pt>
                <c:pt idx="4">
                  <c:v>35</c:v>
                </c:pt>
                <c:pt idx="5">
                  <c:v>37.5</c:v>
                </c:pt>
                <c:pt idx="6">
                  <c:v>40</c:v>
                </c:pt>
                <c:pt idx="7">
                  <c:v>42.5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50" b="0" i="0" u="none" strike="noStrike">
                    <a:solidFill>
                      <a:srgbClr val="5B7288"/>
                    </a:solidFill>
                    <a:latin typeface="Arial"/>
                  </a:defRPr>
                </a:pPr>
                <a:r>
                  <a:rPr sz="1050" b="0" i="0" u="none" strike="noStrike">
                    <a:solidFill>
                      <a:srgbClr val="5B7288"/>
                    </a:solidFill>
                    <a:latin typeface="Arial"/>
                  </a:rPr>
                  <a:t>Temps d'apnée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728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CEBF5"/>
              </a:solidFill>
              <a:prstDash val="solid"/>
              <a:round/>
            </a:ln>
          </c:spPr>
        </c:majorGridlines>
        <c:title>
          <c:tx>
            <c:rich>
              <a:bodyPr/>
              <a:lstStyle/>
              <a:p>
                <a:pPr>
                  <a:defRPr sz="1050" b="0" i="0" u="none" strike="noStrike">
                    <a:solidFill>
                      <a:srgbClr val="5B7288"/>
                    </a:solidFill>
                    <a:latin typeface="Arial"/>
                  </a:defRPr>
                </a:pPr>
                <a:r>
                  <a:rPr sz="1050" b="0" i="0" u="none" strike="noStrike">
                    <a:solidFill>
                      <a:srgbClr val="5B7288"/>
                    </a:solidFill>
                    <a:latin typeface="Arial"/>
                  </a:rPr>
                  <a:t>Pression partielle (mmHg)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288"/>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50">
              <a:solidFill>
                <a:srgbClr val="1F334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des deux modules : Physiologie de l'apnée (33 diapos) et Accidents (28 diapos), réorganisée en une progression unique de 50 diapositives. Durée indicative : 2 × 1 h 30. Le fil rouge : la physiologie explique POURQUOI les règles de sécurité existent.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Poser le contrat : pas de récitation de chiffres, mais trois explications à savoir restituer. L'exercice de clôture (diapo 50) reprendra exactement ces trois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Le plan en 5 rubriques (mécanisme, causes, symptômes, CAT, prévention) est le format attendu au jury et le format à enseigner. Durée indicative : 2 × 1 h 30, une pause entre les deux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h 30 pour cette partie. Elle n'est pas de la culture générale : chaque notion débouche sur une règle de sécurité ou une consigne de séance que la partie 2 exploitera.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min. Diapo la plus rentable de la partie physique avec la suivante. Faire compléter le tableau par les stagiaires. Conséquence pratique du dernier encart : la formation à la surpression se fait même en piscine.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min. L'image de l'éponge : autant d'oxygène, mais concentré. La courbe complète sera tracée diapo 26. Placement du cadre = conséquence pratique immédiate.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Six mots à employer correctement devant un jury et devant un élève. La nuance syncope / PDC anoxique explique pourquoi un apnéiste sorti à temps récupère très bien : le cœur n'a jamais cessé de battre.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Le levier de prévention n'est pas la profondeur mais le temps de récupération en surface. À imposer en séance — c'est ce qu'un chasseur ne fait pas spontanément.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Faire nommer les trois parties par un stagiaire. Deux fonctions : entendre + équilibre. Ne pas se noyer dans l'anatomie : une seule idée directrice, l'oreille moyenne est la cavité à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Les manœuvres (Valsalva, Frenzel, BTV) sont travaillées en pratique ; ici on installe le principe. Frenzel = référence en apnée, BTV = idéal (mains libres). Valsalva à éviter en profondeur et jamais à la remontée.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Un vertige identifié est un vertige qui n'affole pas. Le trajet du son (tympan → osselets → fenêtre ovale → cellules ciliées → nerf auditif) : culture générale utile, renvoyer les curieux au cours médical fédéral.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Le pharynx est aussi le point de départ de l'air de compensation. Le larynx = niveau du blocage : fermer la glotte plutôt que contracter le diaphragme (moins coûteux en 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Deux chiffres seulement à retenir : 150 m² et 2 microns. Tout le reste de la diapo en découle.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Chiffres : VC 0,5 L · VRI 2,5 L · VRE 1,5 L · VR 1,5 L · CV = VC+VRI+VRE = 4,5 L · CPT = 6 L. Ne pas donner les chiffres comme un examen : les faire vivre.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La notion la plus rentable du chapitre en conseil pratique : elle justifie une consigne que les élèves entendront toute leur 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Exercice à montrer : allongé, une main sur le ventre — le ventre doit se soulever à l'inspiration. Si ce sont les épaules qui montent, il y a du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Poser dès maintenant l'argument du coût métabolique : il sera réutilisé diapo 33 (hyperventilation).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LA diapositive charnière de la partie 1. Si les stagiaires ne retiennent qu'une phrase : c'est le CO₂ qui commande la respiration, pas le manque d'oxygène.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Ce chiffre de 97 % est le 2e argument contre l'hyperventilation (après le coût musculaire) — il sera réutilisé diapo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Tout est piloté par les différences de concentration. Le muscle est le client ; un client qui travaille commande beaucoup.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Le moment qui marque : l'air expiré contient encore 16 % d'O₂ — justification physiologique du bouche-à-bouche/bouche-à-nez.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Ne pas transformer en cours de cardiologie : trois composants, une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Une seule chose à retenir : deux pompes en série + le chiffre de repos qui servira de référence à la bradycardie.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Le capillaire est le lieu de l'échange, et il est minuscule : c'est ce qui rend la vasoconstriction si efficace comme mécanisme d'épargne.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Un seul chiffre stratégique : 5 millions de GR/mm³ — il prépare la contraction splénique.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Deux circuits en série, le cœur au milieu. Le piège artère/veine pulmonaire tombe à tous les jurys.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Deux contraintes de l'apnée : le temps (O₂ ↓, CO₂ ↑) et la profondeur (pression). Un apnéiste entraîné n'a pas de plus gros poumons : il a un meilleur réflexe.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Bradycardie : persiste tout le séjour au froid ; très variable d'un individu à l'autre (plus marquée chez les sujets jeunes, entraînés, peu émotifs, sans effort ni Valsalva).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La contrepartie du mécanisme d'épargne : les sensations de jambes lourdes que décrivent les élèves sont physiologiques, pas psychologiques.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La diapositive la plus directement exploitable en pédagogie : elle dit comment provoquer le réflexe volontairement en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La partie la plus récente et la plus étonnante du chapitre — un bon moyen de réveiller le groupe. Chez le phoque et l'éléphant de mer, la réserve splénique est énorme ; chez l'homme, modeste mais réelle.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Le graphique le plus important de la séquence : chaque stagiaire doit savoir le redessiner de mémoire. Exemple chiffré du support : surface 106 mmHg → −10 m (gueuse, sans effort) ≈ 200 → statique au fond jusqu'à 60 → remontée (parachute) : pression divisée par 2, 60 devient 30 = syncope. Sans hyperventilation, sans effort, sans sensation de manque.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Être honnête : l'hyperventilation « marche » — elle allonge réellement l'apnée et la rend plus confortable. C'est précisément ce qui la rend mortelle : ce qu'elle améliore, c'est le silence de l'alarme. Ne jamais argumenter par « c'est interdit » : expliquer le mécanisme. Un élève convaincu ne recommence pas dans votre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min. Clôture de la démonstration : même apnée, seule la préparation change. Noyade si les voies aériennes sont immergées au moment de la reprise ventilatoire réflexe. Conclusion fédérale : hyperventilation à proscrire — ventilation normale, relâchement, expiration longue.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min. C'est l'exercice de restitution annoncé en diapo 2. La partie 2 (accidents) va réutiliser chacune de ces trois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Avertissement d'ouverture : ce module n'est pas un catalogue de maladies, c'est l'inventaire de ce qui peut arriver en séance et de ce que le cadre devra faire. Sur les 5 rubriques de chaque fiche, les deux qui concernent vraiment le moniteur : la conduite à tenir et la prévention.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30. C'est le plan que le jury attend et celui qu'on utilisera pour enseigner. Un stagiaire qui sait à quelle famille appartient un accident sait déjà par quel bout le prévenir.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Si le principe est compris ici, les cinq fiches suivantes s'expliquent toutes seules.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Possible à la remontée aussi (air bloqué qui se dilate, tympan poussé vers l'extérieur). Cause nº 1 : la mauvaise compensation — celle sur laquelle le cadre a une prise directe.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Chercher la cause exacte de tout accident : un accident inexpliqué est un accident qui reviendra la séance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LA diapositive actionnable de la série : tout y est transformable en habitude de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Un saignement de nez après une descente est un barotraumatisme jusqu'à preuve du contraire — facile à repérer, facile à minimiser (« c'est le froid »). 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Prévention : pas de plongée avec rhume/sinusite, pas en crise allergique, se moucher régulièrement, pas de décongestionnant.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Contrôle matériel au premier contact : beaucoup de nageurs arrivent à l'apnée avec des lunettes de piscine — utilisables en surface, jamais en profondeur.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Casser l'objection « on est en apnée, ça ne nous concerne pas » : la cause unique est de respirer au fond puis remonter en apnée. Accident 100 % évitable. S'y ajoute une mauvaise oxygénation du sang (le poumon ne fonctionne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Ne pas chercher à diagnostiquer — reconnaître et alerter. Tout signe neurologique après une plongée, quelle qu'elle soit, est une urgence : alerter, oxygéner, surveiller.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 min. Fiche rapide — la placer comme respiration avant le gros morceau suivant : la syncope.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min. Le cœur du module : l'accident spécifique de la discipline, celui qui tue, et le seul dont la prévention repose entièrement sur le comportement.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L'exemple chiffré du support, à dérouler pas à pas au tableau. C'est la cause B (chute des pressions partielles) rendue concrète.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Faire vivre la diapo : demander qui a déjà ressenti ces sensations — il y aura des mains. On ne construit pas une sécurité sur des symptômes : on la construit sur la surveillance.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min. Le point humain : un apnéiste qui vient de perdre connaissance n'en a souvent aucun souvenir — il va minimiser ou s'effondrer. Nommer ce qui s'est passé, calmement, sans dramatiser ni banaliser.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Une descente profonde isolée ne fait pas de taravana : c'est le cumul. Avoir la version à jour de la courbe de sécurité sous la main et vérifier les préconisations fédérales en vigueur avant d'avancer un chiffre précis.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Le froid abaisse la performance, augmente la consommation d'O₂, dégrade le jugement et gêne la compensation : un élève qui a froid est candidat à tous les autres accidents du module. Se fier à ce qu'on voit (lèvres bleues, gestes maladroits, silence inhabituel) plus qu'à ce qu'on entend.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 min. Ne pas dérouler la liste : en faire le moment où l'on rappelle que les accidents les plus probables ne sont pas les plus spectaculaires.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Tableau à faire reconstruire de mémoire en fin de formation : c'est un excellent exercice de restitution.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Deuxième moitié du récapitulatif. Le débit d'O₂ (15 L/min) revient partout : c'est LE chiffre de secourisme à connaître.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Fiche mémo à distribuer telle quelle. Chaque chiffre doit pouvoir être relié à la règle de sécurité qu'il justifie — c'est l'exercice inverse du bachotage.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Les 5 étapes valent pour tous les accidents du module — ce qui change d'une fiche à l'autre, c'est le détail de l'étape 2 et la position d'attente.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min. Boucler avec l'annonce de la diapo 2 : les trois questions du départ ont maintenant leurs réponses complètes.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Renvoyer vers les manuels de formation de la Commission Nationale d'Apnée FFESSM pour les contenus par niveau, et vers le RIFAA pour les gestes de secourisme détaillés.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slideLayout" Target="../slideLayouts/slideLayout1.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942"/>
        </a:solidFill>
      </p:bgPr>
    </p:bg>
    <p:spTree>
      <p:nvGrpSpPr>
        <p:cNvPr id="1" name=""/>
        <p:cNvGrpSpPr/>
        <p:nvPr/>
      </p:nvGrpSpPr>
      <p:grpSpPr>
        <a:xfrm>
          <a:off x="0" y="0"/>
          <a:ext cx="0" cy="0"/>
          <a:chOff x="0" y="0"/>
          <a:chExt cx="0" cy="0"/>
        </a:xfrm>
      </p:grpSpPr>
      <p:sp>
        <p:nvSpPr>
          <p:cNvPr id="2" name="Shape 0"/>
          <p:cNvSpPr/>
          <p:nvPr/>
        </p:nvSpPr>
        <p:spPr>
          <a:xfrm>
            <a:off x="9235440" y="-1463040"/>
            <a:ext cx="4937760" cy="4937760"/>
          </a:xfrm>
          <a:prstGeom prst="ellipse">
            <a:avLst/>
          </a:prstGeom>
          <a:solidFill>
            <a:srgbClr val="065A82">
              <a:alpha val="45000"/>
            </a:srgbClr>
          </a:solidFill>
          <a:ln/>
        </p:spPr>
      </p:sp>
      <p:sp>
        <p:nvSpPr>
          <p:cNvPr id="3" name="Shape 1"/>
          <p:cNvSpPr/>
          <p:nvPr/>
        </p:nvSpPr>
        <p:spPr>
          <a:xfrm>
            <a:off x="10607040" y="3108960"/>
            <a:ext cx="2834640" cy="2834640"/>
          </a:xfrm>
          <a:prstGeom prst="ellipse">
            <a:avLst/>
          </a:prstGeom>
          <a:solidFill>
            <a:srgbClr val="1C7293">
              <a:alpha val="38000"/>
            </a:srgbClr>
          </a:solidFill>
          <a:ln/>
        </p:spPr>
      </p:sp>
      <p:sp>
        <p:nvSpPr>
          <p:cNvPr id="4" name="Shape 2"/>
          <p:cNvSpPr/>
          <p:nvPr/>
        </p:nvSpPr>
        <p:spPr>
          <a:xfrm>
            <a:off x="-1280160" y="4663440"/>
            <a:ext cx="3840480" cy="3840480"/>
          </a:xfrm>
          <a:prstGeom prst="ellipse">
            <a:avLst/>
          </a:prstGeom>
          <a:solidFill>
            <a:srgbClr val="1C7293">
              <a:alpha val="30000"/>
            </a:srgbClr>
          </a:solidFill>
          <a:ln/>
        </p:spPr>
      </p:sp>
      <p:sp>
        <p:nvSpPr>
          <p:cNvPr id="5" name="Shape 3"/>
          <p:cNvSpPr/>
          <p:nvPr/>
        </p:nvSpPr>
        <p:spPr>
          <a:xfrm>
            <a:off x="685800" y="658368"/>
            <a:ext cx="2487168" cy="914400"/>
          </a:xfrm>
          <a:prstGeom prst="roundRect">
            <a:avLst>
              <a:gd name="adj" fmla="val 10000"/>
            </a:avLst>
          </a:prstGeom>
          <a:solidFill>
            <a:srgbClr val="FFFFFF"/>
          </a:solidFill>
          <a:ln/>
          <a:effectLst>
            <a:outerShdw sx="100000" sy="100000" kx="0" ky="0" algn="bl" rotWithShape="0" blurRad="88900" dist="25400" dir="5400000">
              <a:srgbClr val="0A2942">
                <a:alpha val="16000"/>
              </a:srgbClr>
            </a:outerShdw>
          </a:effectLst>
        </p:spPr>
      </p:sp>
      <p:pic>
        <p:nvPicPr>
          <p:cNvPr id="6" name="Image 0" descr="/home/claude/apnee/logo_ffessm_apnee.jpg">    </p:cNvPr>
          <p:cNvPicPr>
            <a:picLocks noChangeAspect="1"/>
          </p:cNvPicPr>
          <p:nvPr/>
        </p:nvPicPr>
        <p:blipFill>
          <a:blip r:embed="rId1"/>
          <a:stretch>
            <a:fillRect/>
          </a:stretch>
        </p:blipFill>
        <p:spPr>
          <a:xfrm>
            <a:off x="905256" y="845820"/>
            <a:ext cx="2048256" cy="548640"/>
          </a:xfrm>
          <a:prstGeom prst="rect">
            <a:avLst/>
          </a:prstGeom>
        </p:spPr>
      </p:pic>
      <p:sp>
        <p:nvSpPr>
          <p:cNvPr id="7" name="Text 4"/>
          <p:cNvSpPr/>
          <p:nvPr/>
        </p:nvSpPr>
        <p:spPr>
          <a:xfrm>
            <a:off x="685800" y="1828800"/>
            <a:ext cx="10058400" cy="320040"/>
          </a:xfrm>
          <a:prstGeom prst="rect">
            <a:avLst/>
          </a:prstGeom>
          <a:noFill/>
          <a:ln/>
        </p:spPr>
        <p:txBody>
          <a:bodyPr wrap="square" lIns="0" tIns="0" rIns="0" bIns="0" rtlCol="0" anchor="ctr"/>
          <a:lstStyle/>
          <a:p>
            <a:pPr indent="0" marL="0">
              <a:buNone/>
            </a:pPr>
            <a:r>
              <a:rPr lang="en-US" sz="1300" b="1" spc="300" kern="0" dirty="0">
                <a:solidFill>
                  <a:srgbClr val="8FC5E8"/>
                </a:solidFill>
                <a:latin typeface="Calibri" pitchFamily="34" charset="0"/>
                <a:ea typeface="Calibri" pitchFamily="34" charset="-122"/>
                <a:cs typeface="Calibri" pitchFamily="34" charset="-120"/>
              </a:rPr>
              <a:t>ASSOCIATION ASA · WËTRESIJ · FFESSM</a:t>
            </a:r>
            <a:endParaRPr lang="en-US" sz="1300" dirty="0"/>
          </a:p>
        </p:txBody>
      </p:sp>
      <p:sp>
        <p:nvSpPr>
          <p:cNvPr id="8" name="Text 5"/>
          <p:cNvSpPr/>
          <p:nvPr/>
        </p:nvSpPr>
        <p:spPr>
          <a:xfrm>
            <a:off x="685800" y="2157984"/>
            <a:ext cx="10058400" cy="274320"/>
          </a:xfrm>
          <a:prstGeom prst="rect">
            <a:avLst/>
          </a:prstGeom>
          <a:noFill/>
          <a:ln/>
        </p:spPr>
        <p:txBody>
          <a:bodyPr wrap="square" lIns="0" tIns="0" rIns="0" bIns="0" rtlCol="0" anchor="ctr"/>
          <a:lstStyle/>
          <a:p>
            <a:pPr indent="0" marL="0">
              <a:buNone/>
            </a:pPr>
            <a:r>
              <a:rPr lang="en-US" sz="1200" dirty="0">
                <a:solidFill>
                  <a:srgbClr val="7FA8C4"/>
                </a:solidFill>
                <a:latin typeface="Calibri" pitchFamily="34" charset="0"/>
                <a:ea typeface="Calibri" pitchFamily="34" charset="-122"/>
                <a:cs typeface="Calibri" pitchFamily="34" charset="-120"/>
              </a:rPr>
              <a:t>Formation cadres · module théorique complet</a:t>
            </a:r>
            <a:endParaRPr lang="en-US" sz="1200" dirty="0"/>
          </a:p>
        </p:txBody>
      </p:sp>
      <p:sp>
        <p:nvSpPr>
          <p:cNvPr id="9" name="Text 6"/>
          <p:cNvSpPr/>
          <p:nvPr/>
        </p:nvSpPr>
        <p:spPr>
          <a:xfrm>
            <a:off x="658368" y="2542032"/>
            <a:ext cx="10607040" cy="16002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Physiologie &amp; accidents</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de l'apnée</a:t>
            </a:r>
            <a:endParaRPr lang="en-US" sz="4600" dirty="0"/>
          </a:p>
        </p:txBody>
      </p:sp>
      <p:sp>
        <p:nvSpPr>
          <p:cNvPr id="10" name="Text 7"/>
          <p:cNvSpPr/>
          <p:nvPr/>
        </p:nvSpPr>
        <p:spPr>
          <a:xfrm>
            <a:off x="685800" y="4206240"/>
            <a:ext cx="8778240" cy="548640"/>
          </a:xfrm>
          <a:prstGeom prst="rect">
            <a:avLst/>
          </a:prstGeom>
          <a:noFill/>
          <a:ln/>
        </p:spPr>
        <p:txBody>
          <a:bodyPr wrap="square" lIns="0" tIns="0" rIns="0" bIns="0" rtlCol="0" anchor="ctr"/>
          <a:lstStyle/>
          <a:p>
            <a:pPr indent="0" marL="0">
              <a:lnSpc>
                <a:spcPct val="115000"/>
              </a:lnSpc>
              <a:buNone/>
            </a:pPr>
            <a:r>
              <a:rPr lang="en-US" sz="1700" dirty="0">
                <a:solidFill>
                  <a:srgbClr val="DCEBF5"/>
                </a:solidFill>
                <a:latin typeface="Calibri" pitchFamily="34" charset="0"/>
                <a:ea typeface="Calibri" pitchFamily="34" charset="-122"/>
                <a:cs typeface="Calibri" pitchFamily="34" charset="-120"/>
              </a:rPr>
              <a:t>Formation complète en 60 diapositives et deux parties — des lois physiques à la conduite à tenir</a:t>
            </a:r>
            <a:endParaRPr lang="en-US" sz="1700" dirty="0"/>
          </a:p>
        </p:txBody>
      </p:sp>
      <p:sp>
        <p:nvSpPr>
          <p:cNvPr id="11" name="Text 8"/>
          <p:cNvSpPr/>
          <p:nvPr/>
        </p:nvSpPr>
        <p:spPr>
          <a:xfrm>
            <a:off x="685800" y="4892040"/>
            <a:ext cx="8686800" cy="365760"/>
          </a:xfrm>
          <a:prstGeom prst="rect">
            <a:avLst/>
          </a:prstGeom>
          <a:noFill/>
          <a:ln/>
        </p:spPr>
        <p:txBody>
          <a:bodyPr wrap="square" lIns="0" tIns="0" rIns="0" bIns="0" rtlCol="0" anchor="ctr"/>
          <a:lstStyle/>
          <a:p>
            <a:pPr indent="0" marL="0">
              <a:buNone/>
            </a:pPr>
            <a:r>
              <a:rPr lang="en-US" sz="1400" i="1" dirty="0">
                <a:solidFill>
                  <a:srgbClr val="8FC5E8"/>
                </a:solidFill>
                <a:latin typeface="Calibri" pitchFamily="34" charset="0"/>
                <a:ea typeface="Calibri" pitchFamily="34" charset="-122"/>
                <a:cs typeface="Calibri" pitchFamily="34" charset="-120"/>
              </a:rPr>
              <a:t>Comprendre le pourquoi pour enseigner le comment</a:t>
            </a:r>
            <a:endParaRPr lang="en-US" sz="1400" dirty="0"/>
          </a:p>
        </p:txBody>
      </p:sp>
      <p:sp>
        <p:nvSpPr>
          <p:cNvPr id="12" name="Text 9"/>
          <p:cNvSpPr/>
          <p:nvPr/>
        </p:nvSpPr>
        <p:spPr>
          <a:xfrm>
            <a:off x="685800" y="6172200"/>
            <a:ext cx="9601200" cy="320040"/>
          </a:xfrm>
          <a:prstGeom prst="rect">
            <a:avLst/>
          </a:prstGeom>
          <a:noFill/>
          <a:ln/>
        </p:spPr>
        <p:txBody>
          <a:bodyPr wrap="square" lIns="0" tIns="0" rIns="0" bIns="0" rtlCol="0" anchor="ctr"/>
          <a:lstStyle/>
          <a:p>
            <a:pPr indent="0" marL="0">
              <a:buNone/>
            </a:pPr>
            <a:r>
              <a:rPr lang="en-US" sz="1100" i="1" dirty="0">
                <a:solidFill>
                  <a:srgbClr val="7FA8C4"/>
                </a:solidFill>
                <a:latin typeface="Calibri" pitchFamily="34" charset="0"/>
                <a:ea typeface="Calibri" pitchFamily="34" charset="-122"/>
                <a:cs typeface="Calibri" pitchFamily="34" charset="-120"/>
              </a:rPr>
              <a:t>Support de cours · synthèse des modules « Physiologie de l'apnée » et « Accidents » · édition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LE CONTRAT DE LA FORMATION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Trois questions auxquelles vous saurez répondre</a:t>
            </a:r>
            <a:endParaRPr lang="en-US" sz="2800" dirty="0"/>
          </a:p>
        </p:txBody>
      </p:sp>
      <p:sp>
        <p:nvSpPr>
          <p:cNvPr id="4" name="Shape 2"/>
          <p:cNvSpPr/>
          <p:nvPr/>
        </p:nvSpPr>
        <p:spPr>
          <a:xfrm>
            <a:off x="548640" y="1417320"/>
            <a:ext cx="11073384" cy="1371600"/>
          </a:xfrm>
          <a:prstGeom prst="roundRect">
            <a:avLst>
              <a:gd name="adj" fmla="val 6000"/>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804672" y="1783080"/>
            <a:ext cx="640080" cy="640080"/>
          </a:xfrm>
          <a:prstGeom prst="ellipse">
            <a:avLst/>
          </a:prstGeom>
          <a:solidFill>
            <a:srgbClr val="065A82"/>
          </a:solidFill>
          <a:ln/>
        </p:spPr>
      </p:sp>
      <p:sp>
        <p:nvSpPr>
          <p:cNvPr id="6" name="Text 4"/>
          <p:cNvSpPr/>
          <p:nvPr/>
        </p:nvSpPr>
        <p:spPr>
          <a:xfrm>
            <a:off x="804672" y="17830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91640" y="1581912"/>
            <a:ext cx="9692640" cy="548640"/>
          </a:xfrm>
          <a:prstGeom prst="rect">
            <a:avLst/>
          </a:prstGeom>
          <a:noFill/>
          <a:ln/>
        </p:spPr>
        <p:txBody>
          <a:bodyPr wrap="square" lIns="0" tIns="0" rIns="0" bIns="0" rtlCol="0" anchor="ctr"/>
          <a:lstStyle/>
          <a:p>
            <a:pPr indent="0" marL="0">
              <a:lnSpc>
                <a:spcPct val="100000"/>
              </a:lnSpc>
              <a:buNone/>
            </a:pPr>
            <a:r>
              <a:rPr lang="en-US" sz="1450" b="1" dirty="0">
                <a:solidFill>
                  <a:srgbClr val="1F3347"/>
                </a:solidFill>
                <a:latin typeface="Calibri" pitchFamily="34" charset="0"/>
                <a:ea typeface="Calibri" pitchFamily="34" charset="-122"/>
                <a:cs typeface="Calibri" pitchFamily="34" charset="-120"/>
              </a:rPr>
              <a:t>Pourquoi se sent-on si bien au fond… et pourquoi est-ce justement dangereux ?</a:t>
            </a:r>
            <a:endParaRPr lang="en-US" sz="1450" dirty="0"/>
          </a:p>
        </p:txBody>
      </p:sp>
      <p:sp>
        <p:nvSpPr>
          <p:cNvPr id="8" name="Text 6"/>
          <p:cNvSpPr/>
          <p:nvPr/>
        </p:nvSpPr>
        <p:spPr>
          <a:xfrm>
            <a:off x="1691640" y="2167128"/>
            <a:ext cx="9692640" cy="502920"/>
          </a:xfrm>
          <a:prstGeom prst="rect">
            <a:avLst/>
          </a:prstGeom>
          <a:noFill/>
          <a:ln/>
        </p:spPr>
        <p:txBody>
          <a:bodyPr wrap="square" lIns="0" tIns="0" rIns="0" bIns="0" rtlCol="0" anchor="t"/>
          <a:lstStyle/>
          <a:p>
            <a:pPr indent="0" marL="0">
              <a:lnSpc>
                <a:spcPct val="105000"/>
              </a:lnSpc>
              <a:buNone/>
            </a:pPr>
            <a:r>
              <a:rPr lang="en-US" sz="1150" dirty="0">
                <a:solidFill>
                  <a:srgbClr val="5B7288"/>
                </a:solidFill>
                <a:latin typeface="Calibri" pitchFamily="34" charset="0"/>
                <a:ea typeface="Calibri" pitchFamily="34" charset="-122"/>
                <a:cs typeface="Calibri" pitchFamily="34" charset="-120"/>
              </a:rPr>
              <a:t>Réponse dans les lois physiques : la pression concentre l'oxygène à la descente — et le dilue brutalement à la remontée.</a:t>
            </a:r>
            <a:endParaRPr lang="en-US" sz="1150" dirty="0"/>
          </a:p>
        </p:txBody>
      </p:sp>
      <p:sp>
        <p:nvSpPr>
          <p:cNvPr id="9" name="Shape 7"/>
          <p:cNvSpPr/>
          <p:nvPr/>
        </p:nvSpPr>
        <p:spPr>
          <a:xfrm>
            <a:off x="548640" y="2953512"/>
            <a:ext cx="11073384" cy="1371600"/>
          </a:xfrm>
          <a:prstGeom prst="roundRect">
            <a:avLst>
              <a:gd name="adj" fmla="val 6000"/>
            </a:avLst>
          </a:prstGeom>
          <a:solidFill>
            <a:srgbClr val="F2F7FB"/>
          </a:solidFill>
          <a:ln/>
          <a:effectLst>
            <a:outerShdw sx="100000" sy="100000" kx="0" ky="0" algn="bl" rotWithShape="0" blurRad="88900" dist="25400" dir="5400000">
              <a:srgbClr val="0A2942">
                <a:alpha val="16000"/>
              </a:srgbClr>
            </a:outerShdw>
          </a:effectLst>
        </p:spPr>
      </p:sp>
      <p:sp>
        <p:nvSpPr>
          <p:cNvPr id="10" name="Shape 8"/>
          <p:cNvSpPr/>
          <p:nvPr/>
        </p:nvSpPr>
        <p:spPr>
          <a:xfrm>
            <a:off x="804672" y="3319272"/>
            <a:ext cx="640080" cy="640080"/>
          </a:xfrm>
          <a:prstGeom prst="ellipse">
            <a:avLst/>
          </a:prstGeom>
          <a:solidFill>
            <a:srgbClr val="065A82"/>
          </a:solidFill>
          <a:ln/>
        </p:spPr>
      </p:sp>
      <p:sp>
        <p:nvSpPr>
          <p:cNvPr id="11" name="Text 9"/>
          <p:cNvSpPr/>
          <p:nvPr/>
        </p:nvSpPr>
        <p:spPr>
          <a:xfrm>
            <a:off x="804672" y="331927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91640" y="3118104"/>
            <a:ext cx="9692640" cy="548640"/>
          </a:xfrm>
          <a:prstGeom prst="rect">
            <a:avLst/>
          </a:prstGeom>
          <a:noFill/>
          <a:ln/>
        </p:spPr>
        <p:txBody>
          <a:bodyPr wrap="square" lIns="0" tIns="0" rIns="0" bIns="0" rtlCol="0" anchor="ctr"/>
          <a:lstStyle/>
          <a:p>
            <a:pPr indent="0" marL="0">
              <a:lnSpc>
                <a:spcPct val="100000"/>
              </a:lnSpc>
              <a:buNone/>
            </a:pPr>
            <a:r>
              <a:rPr lang="en-US" sz="1450" b="1" dirty="0">
                <a:solidFill>
                  <a:srgbClr val="1F3347"/>
                </a:solidFill>
                <a:latin typeface="Calibri" pitchFamily="34" charset="0"/>
                <a:ea typeface="Calibri" pitchFamily="34" charset="-122"/>
                <a:cs typeface="Calibri" pitchFamily="34" charset="-120"/>
              </a:rPr>
              <a:t>Pourquoi le CO₂ donne-t-il envie de respirer, alors que c'est le manque d'O₂ qui fait tomber ?</a:t>
            </a:r>
            <a:endParaRPr lang="en-US" sz="1450" dirty="0"/>
          </a:p>
        </p:txBody>
      </p:sp>
      <p:sp>
        <p:nvSpPr>
          <p:cNvPr id="13" name="Text 11"/>
          <p:cNvSpPr/>
          <p:nvPr/>
        </p:nvSpPr>
        <p:spPr>
          <a:xfrm>
            <a:off x="1691640" y="3703320"/>
            <a:ext cx="9692640" cy="502920"/>
          </a:xfrm>
          <a:prstGeom prst="rect">
            <a:avLst/>
          </a:prstGeom>
          <a:noFill/>
          <a:ln/>
        </p:spPr>
        <p:txBody>
          <a:bodyPr wrap="square" lIns="0" tIns="0" rIns="0" bIns="0" rtlCol="0" anchor="t"/>
          <a:lstStyle/>
          <a:p>
            <a:pPr indent="0" marL="0">
              <a:lnSpc>
                <a:spcPct val="105000"/>
              </a:lnSpc>
              <a:buNone/>
            </a:pPr>
            <a:r>
              <a:rPr lang="en-US" sz="1150" dirty="0">
                <a:solidFill>
                  <a:srgbClr val="5B7288"/>
                </a:solidFill>
                <a:latin typeface="Calibri" pitchFamily="34" charset="0"/>
                <a:ea typeface="Calibri" pitchFamily="34" charset="-122"/>
                <a:cs typeface="Calibri" pitchFamily="34" charset="-120"/>
              </a:rPr>
              <a:t>Réponse dans la commande de la respiration : l'alarme et le danger sont deux gaz différents.</a:t>
            </a:r>
            <a:endParaRPr lang="en-US" sz="1150" dirty="0"/>
          </a:p>
        </p:txBody>
      </p:sp>
      <p:sp>
        <p:nvSpPr>
          <p:cNvPr id="14" name="Shape 12"/>
          <p:cNvSpPr/>
          <p:nvPr/>
        </p:nvSpPr>
        <p:spPr>
          <a:xfrm>
            <a:off x="548640" y="4489704"/>
            <a:ext cx="11073384" cy="1371600"/>
          </a:xfrm>
          <a:prstGeom prst="roundRect">
            <a:avLst>
              <a:gd name="adj" fmla="val 6000"/>
            </a:avLst>
          </a:prstGeom>
          <a:solidFill>
            <a:srgbClr val="F2F7FB"/>
          </a:solidFill>
          <a:ln/>
          <a:effectLst>
            <a:outerShdw sx="100000" sy="100000" kx="0" ky="0" algn="bl" rotWithShape="0" blurRad="88900" dist="25400" dir="5400000">
              <a:srgbClr val="0A2942">
                <a:alpha val="16000"/>
              </a:srgbClr>
            </a:outerShdw>
          </a:effectLst>
        </p:spPr>
      </p:sp>
      <p:sp>
        <p:nvSpPr>
          <p:cNvPr id="15" name="Shape 13"/>
          <p:cNvSpPr/>
          <p:nvPr/>
        </p:nvSpPr>
        <p:spPr>
          <a:xfrm>
            <a:off x="804672" y="4855464"/>
            <a:ext cx="640080" cy="640080"/>
          </a:xfrm>
          <a:prstGeom prst="ellipse">
            <a:avLst/>
          </a:prstGeom>
          <a:solidFill>
            <a:srgbClr val="065A82"/>
          </a:solidFill>
          <a:ln/>
        </p:spPr>
      </p:sp>
      <p:sp>
        <p:nvSpPr>
          <p:cNvPr id="16" name="Text 14"/>
          <p:cNvSpPr/>
          <p:nvPr/>
        </p:nvSpPr>
        <p:spPr>
          <a:xfrm>
            <a:off x="804672" y="485546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91640" y="4654296"/>
            <a:ext cx="9692640" cy="548640"/>
          </a:xfrm>
          <a:prstGeom prst="rect">
            <a:avLst/>
          </a:prstGeom>
          <a:noFill/>
          <a:ln/>
        </p:spPr>
        <p:txBody>
          <a:bodyPr wrap="square" lIns="0" tIns="0" rIns="0" bIns="0" rtlCol="0" anchor="ctr"/>
          <a:lstStyle/>
          <a:p>
            <a:pPr indent="0" marL="0">
              <a:lnSpc>
                <a:spcPct val="100000"/>
              </a:lnSpc>
              <a:buNone/>
            </a:pPr>
            <a:r>
              <a:rPr lang="en-US" sz="1450" b="1" dirty="0">
                <a:solidFill>
                  <a:srgbClr val="1F3347"/>
                </a:solidFill>
                <a:latin typeface="Calibri" pitchFamily="34" charset="0"/>
                <a:ea typeface="Calibri" pitchFamily="34" charset="-122"/>
                <a:cs typeface="Calibri" pitchFamily="34" charset="-120"/>
              </a:rPr>
              <a:t>Pourquoi ne s'hyperventile-t-on pas, jamais ?</a:t>
            </a:r>
            <a:endParaRPr lang="en-US" sz="1450" dirty="0"/>
          </a:p>
        </p:txBody>
      </p:sp>
      <p:sp>
        <p:nvSpPr>
          <p:cNvPr id="18" name="Text 16"/>
          <p:cNvSpPr/>
          <p:nvPr/>
        </p:nvSpPr>
        <p:spPr>
          <a:xfrm>
            <a:off x="1691640" y="5239512"/>
            <a:ext cx="9692640" cy="502920"/>
          </a:xfrm>
          <a:prstGeom prst="rect">
            <a:avLst/>
          </a:prstGeom>
          <a:noFill/>
          <a:ln/>
        </p:spPr>
        <p:txBody>
          <a:bodyPr wrap="square" lIns="0" tIns="0" rIns="0" bIns="0" rtlCol="0" anchor="t"/>
          <a:lstStyle/>
          <a:p>
            <a:pPr indent="0" marL="0">
              <a:lnSpc>
                <a:spcPct val="105000"/>
              </a:lnSpc>
              <a:buNone/>
            </a:pPr>
            <a:r>
              <a:rPr lang="en-US" sz="1150" dirty="0">
                <a:solidFill>
                  <a:srgbClr val="5B7288"/>
                </a:solidFill>
                <a:latin typeface="Calibri" pitchFamily="34" charset="0"/>
                <a:ea typeface="Calibri" pitchFamily="34" charset="-122"/>
                <a:cs typeface="Calibri" pitchFamily="34" charset="-120"/>
              </a:rPr>
              <a:t>Réponse dans les deux graphiques finaux : l'hyperventilation coupe l'alarme sans remplir le réservoir.</a:t>
            </a:r>
            <a:endParaRPr lang="en-US" sz="1150" dirty="0"/>
          </a:p>
        </p:txBody>
      </p:sp>
      <p:sp>
        <p:nvSpPr>
          <p:cNvPr id="19" name="Text 17"/>
          <p:cNvSpPr/>
          <p:nvPr/>
        </p:nvSpPr>
        <p:spPr>
          <a:xfrm>
            <a:off x="548640" y="60350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Objectif cadre : savoir réexpliquer chacune de ces réponses à un débutant, en trois minutes, sans jargon.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ITINÉRAIRE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Deux grandes parties, une progression unique</a:t>
            </a:r>
            <a:endParaRPr lang="en-US" sz="2800" dirty="0"/>
          </a:p>
        </p:txBody>
      </p:sp>
      <p:sp>
        <p:nvSpPr>
          <p:cNvPr id="4" name="Shape 2"/>
          <p:cNvSpPr/>
          <p:nvPr/>
        </p:nvSpPr>
        <p:spPr>
          <a:xfrm>
            <a:off x="548640" y="1417320"/>
            <a:ext cx="5440680" cy="3977640"/>
          </a:xfrm>
          <a:prstGeom prst="roundRect">
            <a:avLst>
              <a:gd name="adj" fmla="val 2069"/>
            </a:avLst>
          </a:prstGeom>
          <a:solidFill>
            <a:srgbClr val="DCEBF5"/>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691640"/>
            <a:ext cx="2194560" cy="457200"/>
          </a:xfrm>
          <a:prstGeom prst="roundRect">
            <a:avLst>
              <a:gd name="adj" fmla="val 16000"/>
            </a:avLst>
          </a:prstGeom>
          <a:solidFill>
            <a:srgbClr val="065A82"/>
          </a:solidFill>
          <a:ln/>
        </p:spPr>
      </p:sp>
      <p:sp>
        <p:nvSpPr>
          <p:cNvPr id="6" name="Text 4"/>
          <p:cNvSpPr/>
          <p:nvPr/>
        </p:nvSpPr>
        <p:spPr>
          <a:xfrm>
            <a:off x="822960" y="1691640"/>
            <a:ext cx="21945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PARTIE 1</a:t>
            </a:r>
            <a:endParaRPr lang="en-US" sz="1400" dirty="0"/>
          </a:p>
        </p:txBody>
      </p:sp>
      <p:sp>
        <p:nvSpPr>
          <p:cNvPr id="7" name="Text 5"/>
          <p:cNvSpPr/>
          <p:nvPr/>
        </p:nvSpPr>
        <p:spPr>
          <a:xfrm>
            <a:off x="822960" y="2286000"/>
            <a:ext cx="4846320" cy="411480"/>
          </a:xfrm>
          <a:prstGeom prst="rect">
            <a:avLst/>
          </a:prstGeom>
          <a:noFill/>
          <a:ln/>
        </p:spPr>
        <p:txBody>
          <a:bodyPr wrap="square" lIns="0" tIns="0" rIns="0" bIns="0" rtlCol="0" anchor="ctr"/>
          <a:lstStyle/>
          <a:p>
            <a:pPr indent="0" marL="0">
              <a:buNone/>
            </a:pPr>
            <a:r>
              <a:rPr lang="en-US" sz="1900" b="1" dirty="0">
                <a:solidFill>
                  <a:srgbClr val="1F3347"/>
                </a:solidFill>
                <a:latin typeface="Cambria" pitchFamily="34" charset="0"/>
                <a:ea typeface="Cambria" pitchFamily="34" charset="-122"/>
                <a:cs typeface="Cambria" pitchFamily="34" charset="-120"/>
              </a:rPr>
              <a:t>Physiologie de l'apnée</a:t>
            </a:r>
            <a:endParaRPr lang="en-US" sz="1900" dirty="0"/>
          </a:p>
        </p:txBody>
      </p:sp>
      <p:sp>
        <p:nvSpPr>
          <p:cNvPr id="8" name="Text 6"/>
          <p:cNvSpPr/>
          <p:nvPr/>
        </p:nvSpPr>
        <p:spPr>
          <a:xfrm>
            <a:off x="868680" y="2788920"/>
            <a:ext cx="4846320" cy="219456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Les lois physiques : Mariotte, Dalton, Henry</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L'oreille : anatomie, compensation, équilibre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La respiration : volumes, espace mort, commande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La circulation : cœur, vaisseaux, sang</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L'organisme en apnée : réflexe d'immersion, courbes des gaz, hyperventilation</a:t>
            </a:r>
            <a:endParaRPr lang="en-US" sz="1150" dirty="0"/>
          </a:p>
        </p:txBody>
      </p:sp>
      <p:sp>
        <p:nvSpPr>
          <p:cNvPr id="9" name="Text 7"/>
          <p:cNvSpPr/>
          <p:nvPr/>
        </p:nvSpPr>
        <p:spPr>
          <a:xfrm>
            <a:off x="822960" y="5029200"/>
            <a:ext cx="484632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Diapos 4 à 35</a:t>
            </a:r>
            <a:endParaRPr lang="en-US" sz="1050" dirty="0"/>
          </a:p>
        </p:txBody>
      </p:sp>
      <p:sp>
        <p:nvSpPr>
          <p:cNvPr id="10" name="Shape 8"/>
          <p:cNvSpPr/>
          <p:nvPr/>
        </p:nvSpPr>
        <p:spPr>
          <a:xfrm>
            <a:off x="6181344" y="1417320"/>
            <a:ext cx="5440680" cy="3977640"/>
          </a:xfrm>
          <a:prstGeom prst="roundRect">
            <a:avLst>
              <a:gd name="adj" fmla="val 2069"/>
            </a:avLst>
          </a:prstGeom>
          <a:solidFill>
            <a:srgbClr val="FBE9E1"/>
          </a:solidFill>
          <a:ln/>
          <a:effectLst>
            <a:outerShdw sx="100000" sy="100000" kx="0" ky="0" algn="bl" rotWithShape="0" blurRad="88900" dist="25400" dir="5400000">
              <a:srgbClr val="0A2942">
                <a:alpha val="16000"/>
              </a:srgbClr>
            </a:outerShdw>
          </a:effectLst>
        </p:spPr>
      </p:sp>
      <p:sp>
        <p:nvSpPr>
          <p:cNvPr id="11" name="Shape 9"/>
          <p:cNvSpPr/>
          <p:nvPr/>
        </p:nvSpPr>
        <p:spPr>
          <a:xfrm>
            <a:off x="6455664" y="1691640"/>
            <a:ext cx="2194560" cy="457200"/>
          </a:xfrm>
          <a:prstGeom prst="roundRect">
            <a:avLst>
              <a:gd name="adj" fmla="val 16000"/>
            </a:avLst>
          </a:prstGeom>
          <a:solidFill>
            <a:srgbClr val="D9541E"/>
          </a:solidFill>
          <a:ln/>
        </p:spPr>
      </p:sp>
      <p:sp>
        <p:nvSpPr>
          <p:cNvPr id="12" name="Text 10"/>
          <p:cNvSpPr/>
          <p:nvPr/>
        </p:nvSpPr>
        <p:spPr>
          <a:xfrm>
            <a:off x="6455664" y="1691640"/>
            <a:ext cx="219456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PARTIE 2</a:t>
            </a:r>
            <a:endParaRPr lang="en-US" sz="1400" dirty="0"/>
          </a:p>
        </p:txBody>
      </p:sp>
      <p:sp>
        <p:nvSpPr>
          <p:cNvPr id="13" name="Text 11"/>
          <p:cNvSpPr/>
          <p:nvPr/>
        </p:nvSpPr>
        <p:spPr>
          <a:xfrm>
            <a:off x="6455664" y="2286000"/>
            <a:ext cx="4846320" cy="411480"/>
          </a:xfrm>
          <a:prstGeom prst="rect">
            <a:avLst/>
          </a:prstGeom>
          <a:noFill/>
          <a:ln/>
        </p:spPr>
        <p:txBody>
          <a:bodyPr wrap="square" lIns="0" tIns="0" rIns="0" bIns="0" rtlCol="0" anchor="ctr"/>
          <a:lstStyle/>
          <a:p>
            <a:pPr indent="0" marL="0">
              <a:buNone/>
            </a:pPr>
            <a:r>
              <a:rPr lang="en-US" sz="1900" b="1" dirty="0">
                <a:solidFill>
                  <a:srgbClr val="1F3347"/>
                </a:solidFill>
                <a:latin typeface="Cambria" pitchFamily="34" charset="0"/>
                <a:ea typeface="Cambria" pitchFamily="34" charset="-122"/>
                <a:cs typeface="Cambria" pitchFamily="34" charset="-120"/>
              </a:rPr>
              <a:t>Les accidents</a:t>
            </a:r>
            <a:endParaRPr lang="en-US" sz="1900" dirty="0"/>
          </a:p>
        </p:txBody>
      </p:sp>
      <p:sp>
        <p:nvSpPr>
          <p:cNvPr id="14" name="Text 12"/>
          <p:cNvSpPr/>
          <p:nvPr/>
        </p:nvSpPr>
        <p:spPr>
          <a:xfrm>
            <a:off x="6501384" y="2788920"/>
            <a:ext cx="4846320" cy="219456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Accidents mécaniques : les 5 barotraumatismes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Accidents biochimiques : la syncope hypoxique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Accidents biophysiques : le taravana</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Autres accidents : hypothermie, milieu, faune…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Chaque accident en fiche : mécanisme, causes, symptômes, conduite à tenir, prévention</a:t>
            </a:r>
            <a:endParaRPr lang="en-US" sz="1150" dirty="0"/>
          </a:p>
        </p:txBody>
      </p:sp>
      <p:sp>
        <p:nvSpPr>
          <p:cNvPr id="15" name="Text 13"/>
          <p:cNvSpPr/>
          <p:nvPr/>
        </p:nvSpPr>
        <p:spPr>
          <a:xfrm>
            <a:off x="6455664" y="5029200"/>
            <a:ext cx="4846320" cy="274320"/>
          </a:xfrm>
          <a:prstGeom prst="rect">
            <a:avLst/>
          </a:prstGeom>
          <a:noFill/>
          <a:ln/>
        </p:spPr>
        <p:txBody>
          <a:bodyPr wrap="square" lIns="0" tIns="0" rIns="0" bIns="0" rtlCol="0" anchor="ctr"/>
          <a:lstStyle/>
          <a:p>
            <a:pPr indent="0" marL="0">
              <a:buNone/>
            </a:pPr>
            <a:r>
              <a:rPr lang="en-US" sz="1050" b="1" dirty="0">
                <a:solidFill>
                  <a:srgbClr val="D9541E"/>
                </a:solidFill>
                <a:latin typeface="Calibri" pitchFamily="34" charset="0"/>
                <a:ea typeface="Calibri" pitchFamily="34" charset="-122"/>
                <a:cs typeface="Calibri" pitchFamily="34" charset="-120"/>
              </a:rPr>
              <a:t>Diapos 36 à 59</a:t>
            </a:r>
            <a:endParaRPr lang="en-US" sz="1050" dirty="0"/>
          </a:p>
        </p:txBody>
      </p:sp>
      <p:sp>
        <p:nvSpPr>
          <p:cNvPr id="16" name="Text 14"/>
          <p:cNvSpPr/>
          <p:nvPr/>
        </p:nvSpPr>
        <p:spPr>
          <a:xfrm>
            <a:off x="548640" y="576072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La partie 1 explique le pourquoi ; la partie 2 en déduit le quoi faire. Synthèse et messages clés en clôture (diapo 60).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942"/>
        </a:solidFill>
      </p:bgPr>
    </p:bg>
    <p:spTree>
      <p:nvGrpSpPr>
        <p:cNvPr id="1" name=""/>
        <p:cNvGrpSpPr/>
        <p:nvPr/>
      </p:nvGrpSpPr>
      <p:grpSpPr>
        <a:xfrm>
          <a:off x="0" y="0"/>
          <a:ext cx="0" cy="0"/>
          <a:chOff x="0" y="0"/>
          <a:chExt cx="0" cy="0"/>
        </a:xfrm>
      </p:grpSpPr>
      <p:sp>
        <p:nvSpPr>
          <p:cNvPr id="2" name="Shape 0"/>
          <p:cNvSpPr/>
          <p:nvPr/>
        </p:nvSpPr>
        <p:spPr>
          <a:xfrm>
            <a:off x="9692640" y="-1737360"/>
            <a:ext cx="5120640" cy="5120640"/>
          </a:xfrm>
          <a:prstGeom prst="ellipse">
            <a:avLst/>
          </a:prstGeom>
          <a:solidFill>
            <a:srgbClr val="065A82">
              <a:alpha val="45000"/>
            </a:srgbClr>
          </a:solidFill>
          <a:ln/>
        </p:spPr>
      </p:sp>
      <p:sp>
        <p:nvSpPr>
          <p:cNvPr id="3" name="Shape 1"/>
          <p:cNvSpPr/>
          <p:nvPr/>
        </p:nvSpPr>
        <p:spPr>
          <a:xfrm>
            <a:off x="-1554480" y="4297680"/>
            <a:ext cx="4389120" cy="4389120"/>
          </a:xfrm>
          <a:prstGeom prst="ellipse">
            <a:avLst/>
          </a:prstGeom>
          <a:solidFill>
            <a:srgbClr val="1C7293">
              <a:alpha val="35000"/>
            </a:srgbClr>
          </a:solidFill>
          <a:ln/>
        </p:spPr>
      </p:sp>
      <p:sp>
        <p:nvSpPr>
          <p:cNvPr id="4" name="Text 2"/>
          <p:cNvSpPr/>
          <p:nvPr/>
        </p:nvSpPr>
        <p:spPr>
          <a:xfrm>
            <a:off x="685800" y="1920240"/>
            <a:ext cx="10789920" cy="457200"/>
          </a:xfrm>
          <a:prstGeom prst="rect">
            <a:avLst/>
          </a:prstGeom>
          <a:noFill/>
          <a:ln/>
        </p:spPr>
        <p:txBody>
          <a:bodyPr wrap="square" lIns="0" tIns="0" rIns="0" bIns="0" rtlCol="0" anchor="ctr"/>
          <a:lstStyle/>
          <a:p>
            <a:pPr indent="0" marL="0">
              <a:buNone/>
            </a:pPr>
            <a:r>
              <a:rPr lang="en-US" sz="1800" b="1" spc="600" kern="0" dirty="0">
                <a:solidFill>
                  <a:srgbClr val="8FC5E8"/>
                </a:solidFill>
                <a:latin typeface="Calibri" pitchFamily="34" charset="0"/>
                <a:ea typeface="Calibri" pitchFamily="34" charset="-122"/>
                <a:cs typeface="Calibri" pitchFamily="34" charset="-120"/>
              </a:rPr>
              <a:t>PARTIE 1</a:t>
            </a:r>
            <a:endParaRPr lang="en-US" sz="1800" dirty="0"/>
          </a:p>
        </p:txBody>
      </p:sp>
      <p:sp>
        <p:nvSpPr>
          <p:cNvPr id="5" name="Text 3"/>
          <p:cNvSpPr/>
          <p:nvPr/>
        </p:nvSpPr>
        <p:spPr>
          <a:xfrm>
            <a:off x="658368" y="2423160"/>
            <a:ext cx="1078992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Physiologie de l'apnée</a:t>
            </a:r>
            <a:endParaRPr lang="en-US" sz="4400" dirty="0"/>
          </a:p>
        </p:txBody>
      </p:sp>
      <p:sp>
        <p:nvSpPr>
          <p:cNvPr id="6" name="Text 4"/>
          <p:cNvSpPr/>
          <p:nvPr/>
        </p:nvSpPr>
        <p:spPr>
          <a:xfrm>
            <a:off x="685800" y="3611880"/>
            <a:ext cx="10515600" cy="457200"/>
          </a:xfrm>
          <a:prstGeom prst="rect">
            <a:avLst/>
          </a:prstGeom>
          <a:noFill/>
          <a:ln/>
        </p:spPr>
        <p:txBody>
          <a:bodyPr wrap="square" lIns="0" tIns="0" rIns="0" bIns="0" rtlCol="0" anchor="ctr"/>
          <a:lstStyle/>
          <a:p>
            <a:pPr indent="0" marL="0">
              <a:buNone/>
            </a:pPr>
            <a:r>
              <a:rPr lang="en-US" sz="1600" dirty="0">
                <a:solidFill>
                  <a:srgbClr val="DCEBF5"/>
                </a:solidFill>
                <a:latin typeface="Calibri" pitchFamily="34" charset="0"/>
                <a:ea typeface="Calibri" pitchFamily="34" charset="-122"/>
                <a:cs typeface="Calibri" pitchFamily="34" charset="-120"/>
              </a:rPr>
              <a:t>Lois physiques · oreille · respiration · circulation · l'organisme en apnée</a:t>
            </a:r>
            <a:endParaRPr lang="en-US" sz="1600" dirty="0"/>
          </a:p>
        </p:txBody>
      </p:sp>
      <p:sp>
        <p:nvSpPr>
          <p:cNvPr id="7" name="Shape 5"/>
          <p:cNvSpPr/>
          <p:nvPr/>
        </p:nvSpPr>
        <p:spPr>
          <a:xfrm>
            <a:off x="685800" y="4434840"/>
            <a:ext cx="1483157" cy="384048"/>
          </a:xfrm>
          <a:prstGeom prst="roundRect">
            <a:avLst>
              <a:gd name="adj" fmla="val 35714"/>
            </a:avLst>
          </a:prstGeom>
          <a:solidFill>
            <a:srgbClr val="10395C"/>
          </a:solidFill>
          <a:ln w="12700">
            <a:solidFill>
              <a:srgbClr val="1C7293"/>
            </a:solidFill>
            <a:prstDash val="solid"/>
          </a:ln>
        </p:spPr>
      </p:sp>
      <p:sp>
        <p:nvSpPr>
          <p:cNvPr id="8" name="Text 6"/>
          <p:cNvSpPr/>
          <p:nvPr/>
        </p:nvSpPr>
        <p:spPr>
          <a:xfrm>
            <a:off x="685800" y="4434840"/>
            <a:ext cx="1483157"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Boyle-Mariotte</a:t>
            </a:r>
            <a:endParaRPr lang="en-US" sz="1050" dirty="0"/>
          </a:p>
        </p:txBody>
      </p:sp>
      <p:sp>
        <p:nvSpPr>
          <p:cNvPr id="9" name="Shape 7"/>
          <p:cNvSpPr/>
          <p:nvPr/>
        </p:nvSpPr>
        <p:spPr>
          <a:xfrm>
            <a:off x="2333549" y="4434840"/>
            <a:ext cx="802843" cy="384048"/>
          </a:xfrm>
          <a:prstGeom prst="roundRect">
            <a:avLst>
              <a:gd name="adj" fmla="val 35714"/>
            </a:avLst>
          </a:prstGeom>
          <a:solidFill>
            <a:srgbClr val="10395C"/>
          </a:solidFill>
          <a:ln w="12700">
            <a:solidFill>
              <a:srgbClr val="1C7293"/>
            </a:solidFill>
            <a:prstDash val="solid"/>
          </a:ln>
        </p:spPr>
      </p:sp>
      <p:sp>
        <p:nvSpPr>
          <p:cNvPr id="10" name="Text 8"/>
          <p:cNvSpPr/>
          <p:nvPr/>
        </p:nvSpPr>
        <p:spPr>
          <a:xfrm>
            <a:off x="2333549" y="4434840"/>
            <a:ext cx="802843"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Dalton</a:t>
            </a:r>
            <a:endParaRPr lang="en-US" sz="1050" dirty="0"/>
          </a:p>
        </p:txBody>
      </p:sp>
      <p:sp>
        <p:nvSpPr>
          <p:cNvPr id="11" name="Shape 9"/>
          <p:cNvSpPr/>
          <p:nvPr/>
        </p:nvSpPr>
        <p:spPr>
          <a:xfrm>
            <a:off x="3300984" y="4434840"/>
            <a:ext cx="717804" cy="384048"/>
          </a:xfrm>
          <a:prstGeom prst="roundRect">
            <a:avLst>
              <a:gd name="adj" fmla="val 35714"/>
            </a:avLst>
          </a:prstGeom>
          <a:solidFill>
            <a:srgbClr val="10395C"/>
          </a:solidFill>
          <a:ln w="12700">
            <a:solidFill>
              <a:srgbClr val="1C7293"/>
            </a:solidFill>
            <a:prstDash val="solid"/>
          </a:ln>
        </p:spPr>
      </p:sp>
      <p:sp>
        <p:nvSpPr>
          <p:cNvPr id="12" name="Text 10"/>
          <p:cNvSpPr/>
          <p:nvPr/>
        </p:nvSpPr>
        <p:spPr>
          <a:xfrm>
            <a:off x="3300984" y="4434840"/>
            <a:ext cx="717804"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Henry</a:t>
            </a:r>
            <a:endParaRPr lang="en-US" sz="1050" dirty="0"/>
          </a:p>
        </p:txBody>
      </p:sp>
      <p:sp>
        <p:nvSpPr>
          <p:cNvPr id="13" name="Shape 11"/>
          <p:cNvSpPr/>
          <p:nvPr/>
        </p:nvSpPr>
        <p:spPr>
          <a:xfrm>
            <a:off x="4183380" y="4434840"/>
            <a:ext cx="1738274" cy="384048"/>
          </a:xfrm>
          <a:prstGeom prst="roundRect">
            <a:avLst>
              <a:gd name="adj" fmla="val 35714"/>
            </a:avLst>
          </a:prstGeom>
          <a:solidFill>
            <a:srgbClr val="10395C"/>
          </a:solidFill>
          <a:ln w="12700">
            <a:solidFill>
              <a:srgbClr val="1C7293"/>
            </a:solidFill>
            <a:prstDash val="solid"/>
          </a:ln>
        </p:spPr>
      </p:sp>
      <p:sp>
        <p:nvSpPr>
          <p:cNvPr id="14" name="Text 12"/>
          <p:cNvSpPr/>
          <p:nvPr/>
        </p:nvSpPr>
        <p:spPr>
          <a:xfrm>
            <a:off x="4183380" y="4434840"/>
            <a:ext cx="1738274"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Trompe d'Eustache</a:t>
            </a:r>
            <a:endParaRPr lang="en-US" sz="1050" dirty="0"/>
          </a:p>
        </p:txBody>
      </p:sp>
      <p:sp>
        <p:nvSpPr>
          <p:cNvPr id="15" name="Shape 13"/>
          <p:cNvSpPr/>
          <p:nvPr/>
        </p:nvSpPr>
        <p:spPr>
          <a:xfrm>
            <a:off x="6086246" y="4434840"/>
            <a:ext cx="1908353" cy="384048"/>
          </a:xfrm>
          <a:prstGeom prst="roundRect">
            <a:avLst>
              <a:gd name="adj" fmla="val 35714"/>
            </a:avLst>
          </a:prstGeom>
          <a:solidFill>
            <a:srgbClr val="10395C"/>
          </a:solidFill>
          <a:ln w="12700">
            <a:solidFill>
              <a:srgbClr val="1C7293"/>
            </a:solidFill>
            <a:prstDash val="solid"/>
          </a:ln>
        </p:spPr>
      </p:sp>
      <p:sp>
        <p:nvSpPr>
          <p:cNvPr id="16" name="Text 14"/>
          <p:cNvSpPr/>
          <p:nvPr/>
        </p:nvSpPr>
        <p:spPr>
          <a:xfrm>
            <a:off x="6086246" y="4434840"/>
            <a:ext cx="1908353"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Volumes pulmonaires</a:t>
            </a:r>
            <a:endParaRPr lang="en-US" sz="1050" dirty="0"/>
          </a:p>
        </p:txBody>
      </p:sp>
      <p:sp>
        <p:nvSpPr>
          <p:cNvPr id="17" name="Shape 15"/>
          <p:cNvSpPr/>
          <p:nvPr/>
        </p:nvSpPr>
        <p:spPr>
          <a:xfrm>
            <a:off x="8159191" y="4434840"/>
            <a:ext cx="1228039" cy="384048"/>
          </a:xfrm>
          <a:prstGeom prst="roundRect">
            <a:avLst>
              <a:gd name="adj" fmla="val 35714"/>
            </a:avLst>
          </a:prstGeom>
          <a:solidFill>
            <a:srgbClr val="10395C"/>
          </a:solidFill>
          <a:ln w="12700">
            <a:solidFill>
              <a:srgbClr val="1C7293"/>
            </a:solidFill>
            <a:prstDash val="solid"/>
          </a:ln>
        </p:spPr>
      </p:sp>
      <p:sp>
        <p:nvSpPr>
          <p:cNvPr id="18" name="Text 16"/>
          <p:cNvSpPr/>
          <p:nvPr/>
        </p:nvSpPr>
        <p:spPr>
          <a:xfrm>
            <a:off x="8159191" y="4434840"/>
            <a:ext cx="1228039"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Espace mort</a:t>
            </a:r>
            <a:endParaRPr lang="en-US" sz="1050" dirty="0"/>
          </a:p>
        </p:txBody>
      </p:sp>
      <p:sp>
        <p:nvSpPr>
          <p:cNvPr id="19" name="Shape 17"/>
          <p:cNvSpPr/>
          <p:nvPr/>
        </p:nvSpPr>
        <p:spPr>
          <a:xfrm>
            <a:off x="9551822" y="4434840"/>
            <a:ext cx="1143000" cy="384048"/>
          </a:xfrm>
          <a:prstGeom prst="roundRect">
            <a:avLst>
              <a:gd name="adj" fmla="val 35714"/>
            </a:avLst>
          </a:prstGeom>
          <a:solidFill>
            <a:srgbClr val="10395C"/>
          </a:solidFill>
          <a:ln w="12700">
            <a:solidFill>
              <a:srgbClr val="1C7293"/>
            </a:solidFill>
            <a:prstDash val="solid"/>
          </a:ln>
        </p:spPr>
      </p:sp>
      <p:sp>
        <p:nvSpPr>
          <p:cNvPr id="20" name="Text 18"/>
          <p:cNvSpPr/>
          <p:nvPr/>
        </p:nvSpPr>
        <p:spPr>
          <a:xfrm>
            <a:off x="9551822" y="4434840"/>
            <a:ext cx="1143000"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CO₂ pilote</a:t>
            </a:r>
            <a:endParaRPr lang="en-US" sz="1050" dirty="0"/>
          </a:p>
        </p:txBody>
      </p:sp>
      <p:sp>
        <p:nvSpPr>
          <p:cNvPr id="21" name="Shape 19"/>
          <p:cNvSpPr/>
          <p:nvPr/>
        </p:nvSpPr>
        <p:spPr>
          <a:xfrm>
            <a:off x="685800" y="4937760"/>
            <a:ext cx="1908353" cy="384048"/>
          </a:xfrm>
          <a:prstGeom prst="roundRect">
            <a:avLst>
              <a:gd name="adj" fmla="val 35714"/>
            </a:avLst>
          </a:prstGeom>
          <a:solidFill>
            <a:srgbClr val="10395C"/>
          </a:solidFill>
          <a:ln w="12700">
            <a:solidFill>
              <a:srgbClr val="1C7293"/>
            </a:solidFill>
            <a:prstDash val="solid"/>
          </a:ln>
        </p:spPr>
      </p:sp>
      <p:sp>
        <p:nvSpPr>
          <p:cNvPr id="22" name="Text 20"/>
          <p:cNvSpPr/>
          <p:nvPr/>
        </p:nvSpPr>
        <p:spPr>
          <a:xfrm>
            <a:off x="685800" y="4937760"/>
            <a:ext cx="1908353"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Réflexe d'immersion</a:t>
            </a:r>
            <a:endParaRPr lang="en-US" sz="1050" dirty="0"/>
          </a:p>
        </p:txBody>
      </p:sp>
      <p:sp>
        <p:nvSpPr>
          <p:cNvPr id="23" name="Shape 21"/>
          <p:cNvSpPr/>
          <p:nvPr/>
        </p:nvSpPr>
        <p:spPr>
          <a:xfrm>
            <a:off x="2758745" y="4937760"/>
            <a:ext cx="1653235" cy="384048"/>
          </a:xfrm>
          <a:prstGeom prst="roundRect">
            <a:avLst>
              <a:gd name="adj" fmla="val 35714"/>
            </a:avLst>
          </a:prstGeom>
          <a:solidFill>
            <a:srgbClr val="10395C"/>
          </a:solidFill>
          <a:ln w="12700">
            <a:solidFill>
              <a:srgbClr val="1C7293"/>
            </a:solidFill>
            <a:prstDash val="solid"/>
          </a:ln>
        </p:spPr>
      </p:sp>
      <p:sp>
        <p:nvSpPr>
          <p:cNvPr id="24" name="Text 22"/>
          <p:cNvSpPr/>
          <p:nvPr/>
        </p:nvSpPr>
        <p:spPr>
          <a:xfrm>
            <a:off x="2758745" y="4937760"/>
            <a:ext cx="1653235"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Hyperventilation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1 · LOIS PHYSIQUES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pression écrase les volumes : Boyle-Mariotte</a:t>
            </a:r>
            <a:endParaRPr lang="en-US" sz="2800" dirty="0"/>
          </a:p>
        </p:txBody>
      </p:sp>
      <p:sp>
        <p:nvSpPr>
          <p:cNvPr id="4" name="Shape 2"/>
          <p:cNvSpPr/>
          <p:nvPr/>
        </p:nvSpPr>
        <p:spPr>
          <a:xfrm>
            <a:off x="548640" y="1371600"/>
            <a:ext cx="5120640" cy="3200400"/>
          </a:xfrm>
          <a:prstGeom prst="roundRect">
            <a:avLst>
              <a:gd name="adj" fmla="val 2571"/>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54480"/>
            <a:ext cx="4572000" cy="45720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P × V = constante</a:t>
            </a:r>
            <a:endParaRPr lang="en-US" sz="2400" dirty="0"/>
          </a:p>
        </p:txBody>
      </p:sp>
      <p:sp>
        <p:nvSpPr>
          <p:cNvPr id="6" name="Text 4"/>
          <p:cNvSpPr/>
          <p:nvPr/>
        </p:nvSpPr>
        <p:spPr>
          <a:xfrm>
            <a:off x="822960" y="2084832"/>
            <a:ext cx="4572000" cy="685800"/>
          </a:xfrm>
          <a:prstGeom prst="rect">
            <a:avLst/>
          </a:prstGeom>
          <a:noFill/>
          <a:ln/>
        </p:spPr>
        <p:txBody>
          <a:bodyPr wrap="square" lIns="0" tIns="0" rIns="0" bIns="0" rtlCol="0" anchor="ctr"/>
          <a:lstStyle/>
          <a:p>
            <a:pPr indent="0" marL="0">
              <a:lnSpc>
                <a:spcPct val="110000"/>
              </a:lnSpc>
              <a:buNone/>
            </a:pPr>
            <a:r>
              <a:rPr lang="en-US" sz="1200" i="1" dirty="0">
                <a:solidFill>
                  <a:srgbClr val="1F3347"/>
                </a:solidFill>
                <a:latin typeface="Calibri" pitchFamily="34" charset="0"/>
                <a:ea typeface="Calibri" pitchFamily="34" charset="-122"/>
                <a:cs typeface="Calibri" pitchFamily="34" charset="-120"/>
              </a:rPr>
              <a:t>« À température constante, le volume d'une masse gazeuse est inversement proportionnel à la pression. »</a:t>
            </a:r>
            <a:endParaRPr lang="en-US" sz="1200" dirty="0"/>
          </a:p>
        </p:txBody>
      </p:sp>
      <p:sp>
        <p:nvSpPr>
          <p:cNvPr id="7" name="Text 5"/>
          <p:cNvSpPr/>
          <p:nvPr/>
        </p:nvSpPr>
        <p:spPr>
          <a:xfrm>
            <a:off x="822960" y="2834640"/>
            <a:ext cx="4617720" cy="164592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1 bar en surface, + 1 bar tous les 10 m d'eau</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À 10 m (2 bars) : les volumes d'air sont divisés par 2</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Vrai pour : poumons, oreille moyenne, sinus, masque, dents</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C'est toute la mécanique des barotraumatismes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586984" cy="914400"/>
        </p:xfrm>
        <a:graphic>
          <a:graphicData uri="http://schemas.openxmlformats.org/drawingml/2006/table">
            <a:tbl>
              <a:tblPr/>
              <a:tblGrid>
                <a:gridCol w="1828800"/>
                <a:gridCol w="1828800"/>
                <a:gridCol w="1929384"/>
              </a:tblGrid>
              <a:tr h="5029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Profondeur</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Pression</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Volume relatif</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r>
              <a:tr h="502920">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Surface</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1 bar</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100 %</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−10 m</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2 bars</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50 %</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r>
              <a:tr h="502920">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−20 m</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3 bars</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33 %</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502920">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−30 m</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4 bars</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25 %</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r>
              <a:tr h="502920">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−70 m</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8 bars</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3347"/>
                          </a:solidFill>
                          <a:latin typeface="Calibri" pitchFamily="34" charset="0"/>
                          <a:ea typeface="Calibri" pitchFamily="34" charset="-122"/>
                          <a:cs typeface="Calibri" pitchFamily="34" charset="-120"/>
                        </a:rPr>
                        <a:t>12,5 %</a:t>
                      </a:r>
                      <a:endParaRPr lang="en-US" sz="11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bl>
          </a:graphicData>
        </a:graphic>
      </p:graphicFrame>
      <p:sp>
        <p:nvSpPr>
          <p:cNvPr id="9" name="Shape 6"/>
          <p:cNvSpPr/>
          <p:nvPr/>
        </p:nvSpPr>
        <p:spPr>
          <a:xfrm>
            <a:off x="548640" y="4892040"/>
            <a:ext cx="11073384" cy="1188720"/>
          </a:xfrm>
          <a:prstGeom prst="roundRect">
            <a:avLst>
              <a:gd name="adj" fmla="val 6923"/>
            </a:avLst>
          </a:prstGeom>
          <a:solidFill>
            <a:srgbClr val="FBE9E1"/>
          </a:solidFill>
          <a:ln/>
          <a:effectLst>
            <a:outerShdw sx="100000" sy="100000" kx="0" ky="0" algn="bl" rotWithShape="0" blurRad="88900" dist="25400" dir="5400000">
              <a:srgbClr val="0A2942">
                <a:alpha val="16000"/>
              </a:srgbClr>
            </a:outerShdw>
          </a:effectLst>
        </p:spPr>
      </p:sp>
      <p:sp>
        <p:nvSpPr>
          <p:cNvPr id="10" name="Text 7"/>
          <p:cNvSpPr/>
          <p:nvPr/>
        </p:nvSpPr>
        <p:spPr>
          <a:xfrm>
            <a:off x="822960" y="4983480"/>
            <a:ext cx="10515600" cy="1005840"/>
          </a:xfrm>
          <a:prstGeom prst="rect">
            <a:avLst/>
          </a:prstGeom>
          <a:noFill/>
          <a:ln/>
        </p:spPr>
        <p:txBody>
          <a:bodyPr wrap="square" lIns="0" tIns="0" rIns="0" bIns="0" rtlCol="0" anchor="ctr"/>
          <a:lstStyle/>
          <a:p>
            <a:pPr indent="0" marL="0">
              <a:lnSpc>
                <a:spcPct val="112000"/>
              </a:lnSpc>
              <a:buNone/>
            </a:pPr>
            <a:r>
              <a:rPr lang="en-US" sz="1250" b="1" dirty="0">
                <a:solidFill>
                  <a:srgbClr val="9C3A10"/>
                </a:solidFill>
                <a:latin typeface="Calibri" pitchFamily="34" charset="0"/>
                <a:ea typeface="Calibri" pitchFamily="34" charset="-122"/>
                <a:cs typeface="Calibri" pitchFamily="34" charset="-120"/>
              </a:rPr>
              <a:t>Le piège est près de la surface : </a:t>
            </a:r>
            <a:pPr indent="0" marL="0">
              <a:lnSpc>
                <a:spcPct val="112000"/>
              </a:lnSpc>
              <a:buNone/>
            </a:pPr>
            <a:r>
              <a:rPr lang="en-US" sz="1250" dirty="0">
                <a:solidFill>
                  <a:srgbClr val="1F3347"/>
                </a:solidFill>
                <a:latin typeface="Calibri" pitchFamily="34" charset="0"/>
                <a:ea typeface="Calibri" pitchFamily="34" charset="-122"/>
                <a:cs typeface="Calibri" pitchFamily="34" charset="-120"/>
              </a:rPr>
              <a:t>c'est entre 0 et 10 m que la variation relative de volume est maximale (du simple au double). Un barotraumatisme — et même une surpression pulmonaire — est possible dès 1 mètre de profondeur.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1 · LOIS PHYSIQUES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Dalton : chaque gaz compte pour sa part</a:t>
            </a:r>
            <a:endParaRPr lang="en-US" sz="2800" dirty="0"/>
          </a:p>
        </p:txBody>
      </p:sp>
      <p:sp>
        <p:nvSpPr>
          <p:cNvPr id="4" name="Shape 2"/>
          <p:cNvSpPr/>
          <p:nvPr/>
        </p:nvSpPr>
        <p:spPr>
          <a:xfrm>
            <a:off x="548640" y="1371600"/>
            <a:ext cx="5120640" cy="2377440"/>
          </a:xfrm>
          <a:prstGeom prst="roundRect">
            <a:avLst>
              <a:gd name="adj" fmla="val 3462"/>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36192"/>
            <a:ext cx="4572000" cy="411480"/>
          </a:xfrm>
          <a:prstGeom prst="rect">
            <a:avLst/>
          </a:prstGeom>
          <a:noFill/>
          <a:ln/>
        </p:spPr>
        <p:txBody>
          <a:bodyPr wrap="square" lIns="0" tIns="0" rIns="0" bIns="0" rtlCol="0" anchor="ctr"/>
          <a:lstStyle/>
          <a:p>
            <a:pPr indent="0" marL="0">
              <a:buNone/>
            </a:pPr>
            <a:r>
              <a:rPr lang="en-US" sz="2000" b="1" dirty="0">
                <a:solidFill>
                  <a:srgbClr val="065A82"/>
                </a:solidFill>
                <a:latin typeface="Cambria" pitchFamily="34" charset="0"/>
                <a:ea typeface="Cambria" pitchFamily="34" charset="-122"/>
                <a:cs typeface="Cambria" pitchFamily="34" charset="-120"/>
              </a:rPr>
              <a:t>Pp gaz = P totale × % du gaz</a:t>
            </a:r>
            <a:endParaRPr lang="en-US" sz="2000" dirty="0"/>
          </a:p>
        </p:txBody>
      </p:sp>
      <p:sp>
        <p:nvSpPr>
          <p:cNvPr id="6" name="Text 4"/>
          <p:cNvSpPr/>
          <p:nvPr/>
        </p:nvSpPr>
        <p:spPr>
          <a:xfrm>
            <a:off x="822960" y="2057400"/>
            <a:ext cx="4617720" cy="155448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Air = 21 % d'O₂  →  en surface : PpO₂ = 0,21 bar</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À −70 m (8 bars) : PpO₂ = 0,21 × 8 = 1,68 bar</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Comprimer l'air = concentrer l'oxygène (l'éponge)</a:t>
            </a:r>
            <a:endParaRPr lang="en-US" sz="1200" dirty="0"/>
          </a:p>
        </p:txBody>
      </p:sp>
      <p:sp>
        <p:nvSpPr>
          <p:cNvPr id="7" name="Shape 5"/>
          <p:cNvSpPr/>
          <p:nvPr/>
        </p:nvSpPr>
        <p:spPr>
          <a:xfrm>
            <a:off x="6035040" y="1371600"/>
            <a:ext cx="5586984" cy="2377440"/>
          </a:xfrm>
          <a:prstGeom prst="roundRect">
            <a:avLst>
              <a:gd name="adj" fmla="val 3462"/>
            </a:avLst>
          </a:prstGeom>
          <a:solidFill>
            <a:srgbClr val="F2F7FB"/>
          </a:solidFill>
          <a:ln/>
          <a:effectLst>
            <a:outerShdw sx="100000" sy="100000" kx="0" ky="0" algn="bl" rotWithShape="0" blurRad="88900" dist="25400" dir="5400000">
              <a:srgbClr val="0A2942">
                <a:alpha val="16000"/>
              </a:srgbClr>
            </a:outerShdw>
          </a:effectLst>
        </p:spPr>
      </p:sp>
      <p:sp>
        <p:nvSpPr>
          <p:cNvPr id="8" name="Shape 6"/>
          <p:cNvSpPr/>
          <p:nvPr/>
        </p:nvSpPr>
        <p:spPr>
          <a:xfrm>
            <a:off x="6309360" y="1627632"/>
            <a:ext cx="512064" cy="512064"/>
          </a:xfrm>
          <a:prstGeom prst="ellipse">
            <a:avLst/>
          </a:prstGeom>
          <a:solidFill>
            <a:srgbClr val="065A82"/>
          </a:solidFill>
          <a:ln/>
        </p:spPr>
      </p:sp>
      <p:pic>
        <p:nvPicPr>
          <p:cNvPr id="9" name="Image 0" descr="preencoded.png">    </p:cNvPr>
          <p:cNvPicPr>
            <a:picLocks noChangeAspect="1"/>
          </p:cNvPicPr>
          <p:nvPr/>
        </p:nvPicPr>
        <p:blipFill>
          <a:blip r:embed="rId1"/>
          <a:stretch>
            <a:fillRect/>
          </a:stretch>
        </p:blipFill>
        <p:spPr>
          <a:xfrm>
            <a:off x="6442497" y="1760769"/>
            <a:ext cx="245791" cy="245791"/>
          </a:xfrm>
          <a:prstGeom prst="rect">
            <a:avLst/>
          </a:prstGeom>
        </p:spPr>
      </p:pic>
      <p:sp>
        <p:nvSpPr>
          <p:cNvPr id="10" name="Text 7"/>
          <p:cNvSpPr/>
          <p:nvPr/>
        </p:nvSpPr>
        <p:spPr>
          <a:xfrm>
            <a:off x="7040880" y="1627632"/>
            <a:ext cx="4434840" cy="512064"/>
          </a:xfrm>
          <a:prstGeom prst="rect">
            <a:avLst/>
          </a:prstGeom>
          <a:noFill/>
          <a:ln/>
        </p:spPr>
        <p:txBody>
          <a:bodyPr wrap="square" lIns="0" tIns="0" rIns="0" bIns="0" rtlCol="0" anchor="ctr"/>
          <a:lstStyle/>
          <a:p>
            <a:pPr indent="0" marL="0">
              <a:buNone/>
            </a:pPr>
            <a:r>
              <a:rPr lang="en-US" sz="1400" b="1" dirty="0">
                <a:solidFill>
                  <a:srgbClr val="1F3347"/>
                </a:solidFill>
                <a:latin typeface="Calibri" pitchFamily="34" charset="0"/>
                <a:ea typeface="Calibri" pitchFamily="34" charset="-122"/>
                <a:cs typeface="Calibri" pitchFamily="34" charset="-120"/>
              </a:rPr>
              <a:t>Pourquoi on se sent bien au fond</a:t>
            </a:r>
            <a:endParaRPr lang="en-US" sz="1400" dirty="0"/>
          </a:p>
        </p:txBody>
      </p:sp>
      <p:sp>
        <p:nvSpPr>
          <p:cNvPr id="11" name="Text 8"/>
          <p:cNvSpPr/>
          <p:nvPr/>
        </p:nvSpPr>
        <p:spPr>
          <a:xfrm>
            <a:off x="6309360" y="2240280"/>
            <a:ext cx="5029200" cy="1371600"/>
          </a:xfrm>
          <a:prstGeom prst="rect">
            <a:avLst/>
          </a:prstGeom>
          <a:noFill/>
          <a:ln/>
        </p:spPr>
        <p:txBody>
          <a:bodyPr wrap="square" lIns="0" tIns="0" rIns="0" bIns="0" rtlCol="0" anchor="t"/>
          <a:lstStyle/>
          <a:p>
            <a:pPr indent="0" marL="0">
              <a:lnSpc>
                <a:spcPct val="112000"/>
              </a:lnSpc>
              <a:buNone/>
            </a:pPr>
            <a:r>
              <a:rPr lang="en-US" sz="1150" dirty="0">
                <a:solidFill>
                  <a:srgbClr val="5B7288"/>
                </a:solidFill>
                <a:latin typeface="Calibri" pitchFamily="34" charset="0"/>
                <a:ea typeface="Calibri" pitchFamily="34" charset="-122"/>
                <a:cs typeface="Calibri" pitchFamily="34" charset="-120"/>
              </a:rPr>
              <a:t>À la descente, la PpO₂ monte avec la pression : l'oxygène disponible augmente, la sensation est excellente, l'envie de rester est réelle. Ce n'est pas une impression — c'est de la physique. Le danger est différé : toute cette aisance disparaît à la remontée.</a:t>
            </a:r>
            <a:endParaRPr lang="en-US" sz="1150" dirty="0"/>
          </a:p>
        </p:txBody>
      </p:sp>
      <p:sp>
        <p:nvSpPr>
          <p:cNvPr id="12" name="Shape 9"/>
          <p:cNvSpPr/>
          <p:nvPr/>
        </p:nvSpPr>
        <p:spPr>
          <a:xfrm>
            <a:off x="548640" y="3977640"/>
            <a:ext cx="11073384" cy="2103120"/>
          </a:xfrm>
          <a:prstGeom prst="roundRect">
            <a:avLst>
              <a:gd name="adj" fmla="val 3913"/>
            </a:avLst>
          </a:prstGeom>
          <a:solidFill>
            <a:srgbClr val="FBE9E1"/>
          </a:solidFill>
          <a:ln/>
          <a:effectLst>
            <a:outerShdw sx="100000" sy="100000" kx="0" ky="0" algn="bl" rotWithShape="0" blurRad="88900" dist="25400" dir="5400000">
              <a:srgbClr val="0A2942">
                <a:alpha val="16000"/>
              </a:srgbClr>
            </a:outerShdw>
          </a:effectLst>
        </p:spPr>
      </p:sp>
      <p:sp>
        <p:nvSpPr>
          <p:cNvPr id="13" name="Shape 10"/>
          <p:cNvSpPr/>
          <p:nvPr/>
        </p:nvSpPr>
        <p:spPr>
          <a:xfrm>
            <a:off x="822960" y="4251960"/>
            <a:ext cx="566928" cy="566928"/>
          </a:xfrm>
          <a:prstGeom prst="ellipse">
            <a:avLst/>
          </a:prstGeom>
          <a:solidFill>
            <a:srgbClr val="D9541E"/>
          </a:solidFill>
          <a:ln/>
        </p:spPr>
      </p:sp>
      <p:pic>
        <p:nvPicPr>
          <p:cNvPr id="14" name="Image 1" descr="preencoded.png">    </p:cNvPr>
          <p:cNvPicPr>
            <a:picLocks noChangeAspect="1"/>
          </p:cNvPicPr>
          <p:nvPr/>
        </p:nvPicPr>
        <p:blipFill>
          <a:blip r:embed="rId2"/>
          <a:stretch>
            <a:fillRect/>
          </a:stretch>
        </p:blipFill>
        <p:spPr>
          <a:xfrm>
            <a:off x="970361" y="4399361"/>
            <a:ext cx="272125" cy="272125"/>
          </a:xfrm>
          <a:prstGeom prst="rect">
            <a:avLst/>
          </a:prstGeom>
        </p:spPr>
      </p:pic>
      <p:sp>
        <p:nvSpPr>
          <p:cNvPr id="15" name="Text 11"/>
          <p:cNvSpPr/>
          <p:nvPr/>
        </p:nvSpPr>
        <p:spPr>
          <a:xfrm>
            <a:off x="1600200" y="4206240"/>
            <a:ext cx="9784080" cy="365760"/>
          </a:xfrm>
          <a:prstGeom prst="rect">
            <a:avLst/>
          </a:prstGeom>
          <a:noFill/>
          <a:ln/>
        </p:spPr>
        <p:txBody>
          <a:bodyPr wrap="square" lIns="0" tIns="0" rIns="0" bIns="0" rtlCol="0" anchor="ctr"/>
          <a:lstStyle/>
          <a:p>
            <a:pPr indent="0" marL="0">
              <a:buNone/>
            </a:pPr>
            <a:r>
              <a:rPr lang="en-US" sz="1450" b="1" dirty="0">
                <a:solidFill>
                  <a:srgbClr val="9C3A10"/>
                </a:solidFill>
                <a:latin typeface="Calibri" pitchFamily="34" charset="0"/>
                <a:ea typeface="Calibri" pitchFamily="34" charset="-122"/>
                <a:cs typeface="Calibri" pitchFamily="34" charset="-120"/>
              </a:rPr>
              <a:t>La contrepartie : le rendez-vous syncopal des 7 mètres</a:t>
            </a:r>
            <a:endParaRPr lang="en-US" sz="1450" dirty="0"/>
          </a:p>
        </p:txBody>
      </p:sp>
      <p:sp>
        <p:nvSpPr>
          <p:cNvPr id="16" name="Text 12"/>
          <p:cNvSpPr/>
          <p:nvPr/>
        </p:nvSpPr>
        <p:spPr>
          <a:xfrm>
            <a:off x="1600200" y="4590288"/>
            <a:ext cx="9738360" cy="1371600"/>
          </a:xfrm>
          <a:prstGeom prst="rect">
            <a:avLst/>
          </a:prstGeom>
          <a:noFill/>
          <a:ln/>
        </p:spPr>
        <p:txBody>
          <a:bodyPr wrap="square" lIns="0" tIns="0" rIns="0" bIns="0" rtlCol="0" anchor="t"/>
          <a:lstStyle/>
          <a:p>
            <a:pPr indent="0" marL="0">
              <a:lnSpc>
                <a:spcPct val="115000"/>
              </a:lnSpc>
              <a:buNone/>
            </a:pPr>
            <a:r>
              <a:rPr lang="en-US" sz="1200" dirty="0">
                <a:solidFill>
                  <a:srgbClr val="1F3347"/>
                </a:solidFill>
                <a:latin typeface="Calibri" pitchFamily="34" charset="0"/>
                <a:ea typeface="Calibri" pitchFamily="34" charset="-122"/>
                <a:cs typeface="Calibri" pitchFamily="34" charset="-120"/>
              </a:rPr>
              <a:t>À la remontée, deux effets s'additionnent : l'organisme continue de consommer l'O₂, et la pression retombe — la PpO₂ s'effondre dans les tout derniers mètres. C'est là, à l'approche de la surface, que se produit la majorité des pertes de connaissance. Conséquence directe pour le cadre : la sécurité accueille l'apnéiste sur les dix derniers mètres et le surveille 30 secondes après la sortie — pas depuis le bateau.</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1 · LOIS PHYSIQUES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Six mots, six seuils : le vocabulaire des gaz</a:t>
            </a:r>
            <a:endParaRPr lang="en-US" sz="2800" dirty="0"/>
          </a:p>
        </p:txBody>
      </p:sp>
      <p:sp>
        <p:nvSpPr>
          <p:cNvPr id="4" name="Text 2"/>
          <p:cNvSpPr/>
          <p:nvPr/>
        </p:nvSpPr>
        <p:spPr>
          <a:xfrm>
            <a:off x="548640" y="1325880"/>
            <a:ext cx="539496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CÔTÉ OXYGÈNE</a:t>
            </a:r>
            <a:endParaRPr lang="en-US" sz="1200" dirty="0"/>
          </a:p>
        </p:txBody>
      </p:sp>
      <p:sp>
        <p:nvSpPr>
          <p:cNvPr id="5" name="Shape 3"/>
          <p:cNvSpPr/>
          <p:nvPr/>
        </p:nvSpPr>
        <p:spPr>
          <a:xfrm>
            <a:off x="548640" y="1664208"/>
            <a:ext cx="5394960" cy="1298448"/>
          </a:xfrm>
          <a:prstGeom prst="roundRect">
            <a:avLst>
              <a:gd name="adj" fmla="val 4930"/>
            </a:avLst>
          </a:prstGeom>
          <a:solidFill>
            <a:srgbClr val="E7F3EC"/>
          </a:solidFill>
          <a:ln/>
          <a:effectLst>
            <a:outerShdw sx="100000" sy="100000" kx="0" ky="0" algn="bl" rotWithShape="0" blurRad="88900" dist="25400" dir="5400000">
              <a:srgbClr val="0A2942">
                <a:alpha val="16000"/>
              </a:srgbClr>
            </a:outerShdw>
          </a:effectLst>
        </p:spPr>
      </p:sp>
      <p:sp>
        <p:nvSpPr>
          <p:cNvPr id="6" name="Text 4"/>
          <p:cNvSpPr/>
          <p:nvPr/>
        </p:nvSpPr>
        <p:spPr>
          <a:xfrm>
            <a:off x="804672" y="1773936"/>
            <a:ext cx="2194560" cy="320040"/>
          </a:xfrm>
          <a:prstGeom prst="rect">
            <a:avLst/>
          </a:prstGeom>
          <a:noFill/>
          <a:ln/>
        </p:spPr>
        <p:txBody>
          <a:bodyPr wrap="square" lIns="0" tIns="0" rIns="0" bIns="0" rtlCol="0" anchor="ctr"/>
          <a:lstStyle/>
          <a:p>
            <a:pPr indent="0" marL="0">
              <a:buNone/>
            </a:pPr>
            <a:r>
              <a:rPr lang="en-US" sz="1400" b="1" dirty="0">
                <a:solidFill>
                  <a:srgbClr val="2C8C5A"/>
                </a:solidFill>
                <a:latin typeface="Calibri" pitchFamily="34" charset="0"/>
                <a:ea typeface="Calibri" pitchFamily="34" charset="-122"/>
                <a:cs typeface="Calibri" pitchFamily="34" charset="-120"/>
              </a:rPr>
              <a:t>Normoxie</a:t>
            </a:r>
            <a:endParaRPr lang="en-US" sz="1400" dirty="0"/>
          </a:p>
        </p:txBody>
      </p:sp>
      <p:sp>
        <p:nvSpPr>
          <p:cNvPr id="7" name="Text 5"/>
          <p:cNvSpPr/>
          <p:nvPr/>
        </p:nvSpPr>
        <p:spPr>
          <a:xfrm>
            <a:off x="2743200" y="1773936"/>
            <a:ext cx="3017520" cy="320040"/>
          </a:xfrm>
          <a:prstGeom prst="rect">
            <a:avLst/>
          </a:prstGeom>
          <a:noFill/>
          <a:ln/>
        </p:spPr>
        <p:txBody>
          <a:bodyPr wrap="square" lIns="0" tIns="0" rIns="0" bIns="0" rtlCol="0" anchor="ctr"/>
          <a:lstStyle/>
          <a:p>
            <a:pPr algn="r" indent="0" marL="0">
              <a:buNone/>
            </a:pPr>
            <a:r>
              <a:rPr lang="en-US" sz="1150" b="1" dirty="0">
                <a:solidFill>
                  <a:srgbClr val="1F3347"/>
                </a:solidFill>
                <a:latin typeface="Calibri" pitchFamily="34" charset="0"/>
                <a:ea typeface="Calibri" pitchFamily="34" charset="-122"/>
                <a:cs typeface="Calibri" pitchFamily="34" charset="-120"/>
              </a:rPr>
              <a:t>PpO₂ ≈ 0,21 bar (160 mmHg)</a:t>
            </a:r>
            <a:endParaRPr lang="en-US" sz="1150" dirty="0"/>
          </a:p>
        </p:txBody>
      </p:sp>
      <p:sp>
        <p:nvSpPr>
          <p:cNvPr id="8" name="Text 6"/>
          <p:cNvSpPr/>
          <p:nvPr/>
        </p:nvSpPr>
        <p:spPr>
          <a:xfrm>
            <a:off x="804672" y="2121408"/>
            <a:ext cx="4892040" cy="749808"/>
          </a:xfrm>
          <a:prstGeom prst="rect">
            <a:avLst/>
          </a:prstGeom>
          <a:noFill/>
          <a:ln/>
        </p:spPr>
        <p:txBody>
          <a:bodyPr wrap="square" lIns="0" tIns="0" rIns="0" bIns="0" rtlCol="0" anchor="t"/>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État normal en surface.</a:t>
            </a:r>
            <a:endParaRPr lang="en-US" sz="1050" dirty="0"/>
          </a:p>
        </p:txBody>
      </p:sp>
      <p:sp>
        <p:nvSpPr>
          <p:cNvPr id="9" name="Shape 7"/>
          <p:cNvSpPr/>
          <p:nvPr/>
        </p:nvSpPr>
        <p:spPr>
          <a:xfrm>
            <a:off x="548640" y="3108960"/>
            <a:ext cx="5394960" cy="1298448"/>
          </a:xfrm>
          <a:prstGeom prst="roundRect">
            <a:avLst>
              <a:gd name="adj" fmla="val 4930"/>
            </a:avLst>
          </a:prstGeom>
          <a:solidFill>
            <a:srgbClr val="FCF3E2"/>
          </a:solidFill>
          <a:ln/>
          <a:effectLst>
            <a:outerShdw sx="100000" sy="100000" kx="0" ky="0" algn="bl" rotWithShape="0" blurRad="88900" dist="25400" dir="5400000">
              <a:srgbClr val="0A2942">
                <a:alpha val="16000"/>
              </a:srgbClr>
            </a:outerShdw>
          </a:effectLst>
        </p:spPr>
      </p:sp>
      <p:sp>
        <p:nvSpPr>
          <p:cNvPr id="10" name="Text 8"/>
          <p:cNvSpPr/>
          <p:nvPr/>
        </p:nvSpPr>
        <p:spPr>
          <a:xfrm>
            <a:off x="804672" y="3218688"/>
            <a:ext cx="2194560" cy="320040"/>
          </a:xfrm>
          <a:prstGeom prst="rect">
            <a:avLst/>
          </a:prstGeom>
          <a:noFill/>
          <a:ln/>
        </p:spPr>
        <p:txBody>
          <a:bodyPr wrap="square" lIns="0" tIns="0" rIns="0" bIns="0" rtlCol="0" anchor="ctr"/>
          <a:lstStyle/>
          <a:p>
            <a:pPr indent="0" marL="0">
              <a:buNone/>
            </a:pPr>
            <a:r>
              <a:rPr lang="en-US" sz="1400" b="1" dirty="0">
                <a:solidFill>
                  <a:srgbClr val="C77F0A"/>
                </a:solidFill>
                <a:latin typeface="Calibri" pitchFamily="34" charset="0"/>
                <a:ea typeface="Calibri" pitchFamily="34" charset="-122"/>
                <a:cs typeface="Calibri" pitchFamily="34" charset="-120"/>
              </a:rPr>
              <a:t>Hypoxie</a:t>
            </a:r>
            <a:endParaRPr lang="en-US" sz="1400" dirty="0"/>
          </a:p>
        </p:txBody>
      </p:sp>
      <p:sp>
        <p:nvSpPr>
          <p:cNvPr id="11" name="Text 9"/>
          <p:cNvSpPr/>
          <p:nvPr/>
        </p:nvSpPr>
        <p:spPr>
          <a:xfrm>
            <a:off x="2743200" y="3218688"/>
            <a:ext cx="3017520" cy="320040"/>
          </a:xfrm>
          <a:prstGeom prst="rect">
            <a:avLst/>
          </a:prstGeom>
          <a:noFill/>
          <a:ln/>
        </p:spPr>
        <p:txBody>
          <a:bodyPr wrap="square" lIns="0" tIns="0" rIns="0" bIns="0" rtlCol="0" anchor="ctr"/>
          <a:lstStyle/>
          <a:p>
            <a:pPr algn="r" indent="0" marL="0">
              <a:buNone/>
            </a:pPr>
            <a:r>
              <a:rPr lang="en-US" sz="1150" b="1" dirty="0">
                <a:solidFill>
                  <a:srgbClr val="1F3347"/>
                </a:solidFill>
                <a:latin typeface="Calibri" pitchFamily="34" charset="0"/>
                <a:ea typeface="Calibri" pitchFamily="34" charset="-122"/>
                <a:cs typeface="Calibri" pitchFamily="34" charset="-120"/>
              </a:rPr>
              <a:t>0,12 &lt; PpO₂ &lt; 0,17 bar</a:t>
            </a:r>
            <a:endParaRPr lang="en-US" sz="1150" dirty="0"/>
          </a:p>
        </p:txBody>
      </p:sp>
      <p:sp>
        <p:nvSpPr>
          <p:cNvPr id="12" name="Text 10"/>
          <p:cNvSpPr/>
          <p:nvPr/>
        </p:nvSpPr>
        <p:spPr>
          <a:xfrm>
            <a:off x="804672" y="3566160"/>
            <a:ext cx="4892040" cy="749808"/>
          </a:xfrm>
          <a:prstGeom prst="rect">
            <a:avLst/>
          </a:prstGeom>
          <a:noFill/>
          <a:ln/>
        </p:spPr>
        <p:txBody>
          <a:bodyPr wrap="square" lIns="0" tIns="0" rIns="0" bIns="0" rtlCol="0" anchor="t"/>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L'activité normale n'est plus possible : troubles, PCM, syncope.</a:t>
            </a:r>
            <a:endParaRPr lang="en-US" sz="1050" dirty="0"/>
          </a:p>
        </p:txBody>
      </p:sp>
      <p:sp>
        <p:nvSpPr>
          <p:cNvPr id="13" name="Shape 11"/>
          <p:cNvSpPr/>
          <p:nvPr/>
        </p:nvSpPr>
        <p:spPr>
          <a:xfrm>
            <a:off x="548640" y="4553712"/>
            <a:ext cx="5394960" cy="1298448"/>
          </a:xfrm>
          <a:prstGeom prst="roundRect">
            <a:avLst>
              <a:gd name="adj" fmla="val 4930"/>
            </a:avLst>
          </a:prstGeom>
          <a:solidFill>
            <a:srgbClr val="FBE9E1"/>
          </a:solidFill>
          <a:ln/>
          <a:effectLst>
            <a:outerShdw sx="100000" sy="100000" kx="0" ky="0" algn="bl" rotWithShape="0" blurRad="88900" dist="25400" dir="5400000">
              <a:srgbClr val="0A2942">
                <a:alpha val="16000"/>
              </a:srgbClr>
            </a:outerShdw>
          </a:effectLst>
        </p:spPr>
      </p:sp>
      <p:sp>
        <p:nvSpPr>
          <p:cNvPr id="14" name="Text 12"/>
          <p:cNvSpPr/>
          <p:nvPr/>
        </p:nvSpPr>
        <p:spPr>
          <a:xfrm>
            <a:off x="804672" y="4663440"/>
            <a:ext cx="2194560" cy="32004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Anoxie</a:t>
            </a:r>
            <a:endParaRPr lang="en-US" sz="1400" dirty="0"/>
          </a:p>
        </p:txBody>
      </p:sp>
      <p:sp>
        <p:nvSpPr>
          <p:cNvPr id="15" name="Text 13"/>
          <p:cNvSpPr/>
          <p:nvPr/>
        </p:nvSpPr>
        <p:spPr>
          <a:xfrm>
            <a:off x="2743200" y="4663440"/>
            <a:ext cx="3017520" cy="320040"/>
          </a:xfrm>
          <a:prstGeom prst="rect">
            <a:avLst/>
          </a:prstGeom>
          <a:noFill/>
          <a:ln/>
        </p:spPr>
        <p:txBody>
          <a:bodyPr wrap="square" lIns="0" tIns="0" rIns="0" bIns="0" rtlCol="0" anchor="ctr"/>
          <a:lstStyle/>
          <a:p>
            <a:pPr algn="r" indent="0" marL="0">
              <a:buNone/>
            </a:pPr>
            <a:r>
              <a:rPr lang="en-US" sz="1150" b="1" dirty="0">
                <a:solidFill>
                  <a:srgbClr val="1F3347"/>
                </a:solidFill>
                <a:latin typeface="Calibri" pitchFamily="34" charset="0"/>
                <a:ea typeface="Calibri" pitchFamily="34" charset="-122"/>
                <a:cs typeface="Calibri" pitchFamily="34" charset="-120"/>
              </a:rPr>
              <a:t>PpO₂ &lt; 0,12 bar</a:t>
            </a:r>
            <a:endParaRPr lang="en-US" sz="1150" dirty="0"/>
          </a:p>
        </p:txBody>
      </p:sp>
      <p:sp>
        <p:nvSpPr>
          <p:cNvPr id="16" name="Text 14"/>
          <p:cNvSpPr/>
          <p:nvPr/>
        </p:nvSpPr>
        <p:spPr>
          <a:xfrm>
            <a:off x="804672" y="5010912"/>
            <a:ext cx="4892040" cy="749808"/>
          </a:xfrm>
          <a:prstGeom prst="rect">
            <a:avLst/>
          </a:prstGeom>
          <a:noFill/>
          <a:ln/>
        </p:spPr>
        <p:txBody>
          <a:bodyPr wrap="square" lIns="0" tIns="0" rIns="0" bIns="0" rtlCol="0" anchor="t"/>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La survie n'est plus possible.</a:t>
            </a:r>
            <a:endParaRPr lang="en-US" sz="1050" dirty="0"/>
          </a:p>
        </p:txBody>
      </p:sp>
      <p:sp>
        <p:nvSpPr>
          <p:cNvPr id="17" name="Text 15"/>
          <p:cNvSpPr/>
          <p:nvPr/>
        </p:nvSpPr>
        <p:spPr>
          <a:xfrm>
            <a:off x="6217920" y="1325880"/>
            <a:ext cx="539496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CÔTÉ GAZ CARBONIQUE</a:t>
            </a:r>
            <a:endParaRPr lang="en-US" sz="1200" dirty="0"/>
          </a:p>
        </p:txBody>
      </p:sp>
      <p:sp>
        <p:nvSpPr>
          <p:cNvPr id="18" name="Shape 16"/>
          <p:cNvSpPr/>
          <p:nvPr/>
        </p:nvSpPr>
        <p:spPr>
          <a:xfrm>
            <a:off x="6217920" y="1664208"/>
            <a:ext cx="5394960" cy="1298448"/>
          </a:xfrm>
          <a:prstGeom prst="roundRect">
            <a:avLst>
              <a:gd name="adj" fmla="val 4930"/>
            </a:avLst>
          </a:prstGeom>
          <a:solidFill>
            <a:srgbClr val="E7F3EC"/>
          </a:solidFill>
          <a:ln/>
          <a:effectLst>
            <a:outerShdw sx="100000" sy="100000" kx="0" ky="0" algn="bl" rotWithShape="0" blurRad="88900" dist="25400" dir="5400000">
              <a:srgbClr val="0A2942">
                <a:alpha val="16000"/>
              </a:srgbClr>
            </a:outerShdw>
          </a:effectLst>
        </p:spPr>
      </p:sp>
      <p:sp>
        <p:nvSpPr>
          <p:cNvPr id="19" name="Text 17"/>
          <p:cNvSpPr/>
          <p:nvPr/>
        </p:nvSpPr>
        <p:spPr>
          <a:xfrm>
            <a:off x="6473952" y="1773936"/>
            <a:ext cx="2377440" cy="320040"/>
          </a:xfrm>
          <a:prstGeom prst="rect">
            <a:avLst/>
          </a:prstGeom>
          <a:noFill/>
          <a:ln/>
        </p:spPr>
        <p:txBody>
          <a:bodyPr wrap="square" lIns="0" tIns="0" rIns="0" bIns="0" rtlCol="0" anchor="ctr"/>
          <a:lstStyle/>
          <a:p>
            <a:pPr indent="0" marL="0">
              <a:buNone/>
            </a:pPr>
            <a:r>
              <a:rPr lang="en-US" sz="1400" b="1" dirty="0">
                <a:solidFill>
                  <a:srgbClr val="2C8C5A"/>
                </a:solidFill>
                <a:latin typeface="Calibri" pitchFamily="34" charset="0"/>
                <a:ea typeface="Calibri" pitchFamily="34" charset="-122"/>
                <a:cs typeface="Calibri" pitchFamily="34" charset="-120"/>
              </a:rPr>
              <a:t>Normocapnie</a:t>
            </a:r>
            <a:endParaRPr lang="en-US" sz="1400" dirty="0"/>
          </a:p>
        </p:txBody>
      </p:sp>
      <p:sp>
        <p:nvSpPr>
          <p:cNvPr id="20" name="Text 18"/>
          <p:cNvSpPr/>
          <p:nvPr/>
        </p:nvSpPr>
        <p:spPr>
          <a:xfrm>
            <a:off x="8595360" y="1773936"/>
            <a:ext cx="2834640" cy="320040"/>
          </a:xfrm>
          <a:prstGeom prst="rect">
            <a:avLst/>
          </a:prstGeom>
          <a:noFill/>
          <a:ln/>
        </p:spPr>
        <p:txBody>
          <a:bodyPr wrap="square" lIns="0" tIns="0" rIns="0" bIns="0" rtlCol="0" anchor="ctr"/>
          <a:lstStyle/>
          <a:p>
            <a:pPr algn="r" indent="0" marL="0">
              <a:buNone/>
            </a:pPr>
            <a:r>
              <a:rPr lang="en-US" sz="1150" b="1" dirty="0">
                <a:solidFill>
                  <a:srgbClr val="1F3347"/>
                </a:solidFill>
                <a:latin typeface="Calibri" pitchFamily="34" charset="0"/>
                <a:ea typeface="Calibri" pitchFamily="34" charset="-122"/>
                <a:cs typeface="Calibri" pitchFamily="34" charset="-120"/>
              </a:rPr>
              <a:t>PpCO₂ ≈ 0,05 bar</a:t>
            </a:r>
            <a:endParaRPr lang="en-US" sz="1150" dirty="0"/>
          </a:p>
        </p:txBody>
      </p:sp>
      <p:sp>
        <p:nvSpPr>
          <p:cNvPr id="21" name="Text 19"/>
          <p:cNvSpPr/>
          <p:nvPr/>
        </p:nvSpPr>
        <p:spPr>
          <a:xfrm>
            <a:off x="6473952" y="2121408"/>
            <a:ext cx="4892040" cy="749808"/>
          </a:xfrm>
          <a:prstGeom prst="rect">
            <a:avLst/>
          </a:prstGeom>
          <a:noFill/>
          <a:ln/>
        </p:spPr>
        <p:txBody>
          <a:bodyPr wrap="square" lIns="0" tIns="0" rIns="0" bIns="0" rtlCol="0" anchor="t"/>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État normal : l'alarme est correctement réglée.</a:t>
            </a:r>
            <a:endParaRPr lang="en-US" sz="1050" dirty="0"/>
          </a:p>
        </p:txBody>
      </p:sp>
      <p:sp>
        <p:nvSpPr>
          <p:cNvPr id="22" name="Shape 20"/>
          <p:cNvSpPr/>
          <p:nvPr/>
        </p:nvSpPr>
        <p:spPr>
          <a:xfrm>
            <a:off x="6217920" y="3108960"/>
            <a:ext cx="5394960" cy="1298448"/>
          </a:xfrm>
          <a:prstGeom prst="roundRect">
            <a:avLst>
              <a:gd name="adj" fmla="val 4930"/>
            </a:avLst>
          </a:prstGeom>
          <a:solidFill>
            <a:srgbClr val="FCF3E2"/>
          </a:solidFill>
          <a:ln/>
          <a:effectLst>
            <a:outerShdw sx="100000" sy="100000" kx="0" ky="0" algn="bl" rotWithShape="0" blurRad="88900" dist="25400" dir="5400000">
              <a:srgbClr val="0A2942">
                <a:alpha val="16000"/>
              </a:srgbClr>
            </a:outerShdw>
          </a:effectLst>
        </p:spPr>
      </p:sp>
      <p:sp>
        <p:nvSpPr>
          <p:cNvPr id="23" name="Text 21"/>
          <p:cNvSpPr/>
          <p:nvPr/>
        </p:nvSpPr>
        <p:spPr>
          <a:xfrm>
            <a:off x="6473952" y="3218688"/>
            <a:ext cx="2377440" cy="320040"/>
          </a:xfrm>
          <a:prstGeom prst="rect">
            <a:avLst/>
          </a:prstGeom>
          <a:noFill/>
          <a:ln/>
        </p:spPr>
        <p:txBody>
          <a:bodyPr wrap="square" lIns="0" tIns="0" rIns="0" bIns="0" rtlCol="0" anchor="ctr"/>
          <a:lstStyle/>
          <a:p>
            <a:pPr indent="0" marL="0">
              <a:buNone/>
            </a:pPr>
            <a:r>
              <a:rPr lang="en-US" sz="1400" b="1" dirty="0">
                <a:solidFill>
                  <a:srgbClr val="C77F0A"/>
                </a:solidFill>
                <a:latin typeface="Calibri" pitchFamily="34" charset="0"/>
                <a:ea typeface="Calibri" pitchFamily="34" charset="-122"/>
                <a:cs typeface="Calibri" pitchFamily="34" charset="-120"/>
              </a:rPr>
              <a:t>Hypocapnie</a:t>
            </a:r>
            <a:endParaRPr lang="en-US" sz="1400" dirty="0"/>
          </a:p>
        </p:txBody>
      </p:sp>
      <p:sp>
        <p:nvSpPr>
          <p:cNvPr id="24" name="Text 22"/>
          <p:cNvSpPr/>
          <p:nvPr/>
        </p:nvSpPr>
        <p:spPr>
          <a:xfrm>
            <a:off x="8595360" y="3218688"/>
            <a:ext cx="2834640" cy="320040"/>
          </a:xfrm>
          <a:prstGeom prst="rect">
            <a:avLst/>
          </a:prstGeom>
          <a:noFill/>
          <a:ln/>
        </p:spPr>
        <p:txBody>
          <a:bodyPr wrap="square" lIns="0" tIns="0" rIns="0" bIns="0" rtlCol="0" anchor="ctr"/>
          <a:lstStyle/>
          <a:p>
            <a:pPr algn="r" indent="0" marL="0">
              <a:buNone/>
            </a:pPr>
            <a:r>
              <a:rPr lang="en-US" sz="1150" b="1" dirty="0">
                <a:solidFill>
                  <a:srgbClr val="1F3347"/>
                </a:solidFill>
                <a:latin typeface="Calibri" pitchFamily="34" charset="0"/>
                <a:ea typeface="Calibri" pitchFamily="34" charset="-122"/>
                <a:cs typeface="Calibri" pitchFamily="34" charset="-120"/>
              </a:rPr>
              <a:t>PpCO₂ abaissée</a:t>
            </a:r>
            <a:endParaRPr lang="en-US" sz="1150" dirty="0"/>
          </a:p>
        </p:txBody>
      </p:sp>
      <p:sp>
        <p:nvSpPr>
          <p:cNvPr id="25" name="Text 23"/>
          <p:cNvSpPr/>
          <p:nvPr/>
        </p:nvSpPr>
        <p:spPr>
          <a:xfrm>
            <a:off x="6473952" y="3566160"/>
            <a:ext cx="4892040" cy="749808"/>
          </a:xfrm>
          <a:prstGeom prst="rect">
            <a:avLst/>
          </a:prstGeom>
          <a:noFill/>
          <a:ln/>
        </p:spPr>
        <p:txBody>
          <a:bodyPr wrap="square" lIns="0" tIns="0" rIns="0" bIns="0" rtlCol="0" anchor="t"/>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Produite par l'hyperventilation : l'alarme est débranchée.</a:t>
            </a:r>
            <a:endParaRPr lang="en-US" sz="1050" dirty="0"/>
          </a:p>
        </p:txBody>
      </p:sp>
      <p:sp>
        <p:nvSpPr>
          <p:cNvPr id="26" name="Shape 24"/>
          <p:cNvSpPr/>
          <p:nvPr/>
        </p:nvSpPr>
        <p:spPr>
          <a:xfrm>
            <a:off x="6217920" y="4553712"/>
            <a:ext cx="5394960" cy="1298448"/>
          </a:xfrm>
          <a:prstGeom prst="roundRect">
            <a:avLst>
              <a:gd name="adj" fmla="val 4930"/>
            </a:avLst>
          </a:prstGeom>
          <a:solidFill>
            <a:srgbClr val="FBE9E1"/>
          </a:solidFill>
          <a:ln/>
          <a:effectLst>
            <a:outerShdw sx="100000" sy="100000" kx="0" ky="0" algn="bl" rotWithShape="0" blurRad="88900" dist="25400" dir="5400000">
              <a:srgbClr val="0A2942">
                <a:alpha val="16000"/>
              </a:srgbClr>
            </a:outerShdw>
          </a:effectLst>
        </p:spPr>
      </p:sp>
      <p:sp>
        <p:nvSpPr>
          <p:cNvPr id="27" name="Text 25"/>
          <p:cNvSpPr/>
          <p:nvPr/>
        </p:nvSpPr>
        <p:spPr>
          <a:xfrm>
            <a:off x="6473952" y="4663440"/>
            <a:ext cx="2377440" cy="32004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Hypercapnie</a:t>
            </a:r>
            <a:endParaRPr lang="en-US" sz="1400" dirty="0"/>
          </a:p>
        </p:txBody>
      </p:sp>
      <p:sp>
        <p:nvSpPr>
          <p:cNvPr id="28" name="Text 26"/>
          <p:cNvSpPr/>
          <p:nvPr/>
        </p:nvSpPr>
        <p:spPr>
          <a:xfrm>
            <a:off x="8595360" y="4663440"/>
            <a:ext cx="2834640" cy="320040"/>
          </a:xfrm>
          <a:prstGeom prst="rect">
            <a:avLst/>
          </a:prstGeom>
          <a:noFill/>
          <a:ln/>
        </p:spPr>
        <p:txBody>
          <a:bodyPr wrap="square" lIns="0" tIns="0" rIns="0" bIns="0" rtlCol="0" anchor="ctr"/>
          <a:lstStyle/>
          <a:p>
            <a:pPr algn="r" indent="0" marL="0">
              <a:buNone/>
            </a:pPr>
            <a:r>
              <a:rPr lang="en-US" sz="1150" b="1" dirty="0">
                <a:solidFill>
                  <a:srgbClr val="1F3347"/>
                </a:solidFill>
                <a:latin typeface="Calibri" pitchFamily="34" charset="0"/>
                <a:ea typeface="Calibri" pitchFamily="34" charset="-122"/>
                <a:cs typeface="Calibri" pitchFamily="34" charset="-120"/>
              </a:rPr>
              <a:t>PpCO₂ &gt; 0,06 bar</a:t>
            </a:r>
            <a:endParaRPr lang="en-US" sz="1150" dirty="0"/>
          </a:p>
        </p:txBody>
      </p:sp>
      <p:sp>
        <p:nvSpPr>
          <p:cNvPr id="29" name="Text 27"/>
          <p:cNvSpPr/>
          <p:nvPr/>
        </p:nvSpPr>
        <p:spPr>
          <a:xfrm>
            <a:off x="6473952" y="5010912"/>
            <a:ext cx="4892040" cy="749808"/>
          </a:xfrm>
          <a:prstGeom prst="rect">
            <a:avLst/>
          </a:prstGeom>
          <a:noFill/>
          <a:ln/>
        </p:spPr>
        <p:txBody>
          <a:bodyPr wrap="square" lIns="0" tIns="0" rIns="0" bIns="0" rtlCol="0" anchor="t"/>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Essoufflement, envie de respirer irrépressible.</a:t>
            </a:r>
            <a:endParaRPr lang="en-US" sz="1050" dirty="0"/>
          </a:p>
        </p:txBody>
      </p:sp>
      <p:sp>
        <p:nvSpPr>
          <p:cNvPr id="30" name="Text 28"/>
          <p:cNvSpPr/>
          <p:nvPr/>
        </p:nvSpPr>
        <p:spPr>
          <a:xfrm>
            <a:off x="548640" y="598932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9C3A10"/>
                </a:solidFill>
                <a:latin typeface="Calibri" pitchFamily="34" charset="0"/>
                <a:ea typeface="Calibri" pitchFamily="34" charset="-122"/>
                <a:cs typeface="Calibri" pitchFamily="34" charset="-120"/>
              </a:rPr>
              <a:t>Précision de vocabulaire : le terme exact est « perte de connaissance anoxique » — dans la syncope vraie le cœur s'arrête ; ici il bat encore plusieurs minutes. C'est ce qui rend la récupération possible.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1 · LOIS PHYSIQUES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Henry : les gaz se dissolvent sous pression</a:t>
            </a:r>
            <a:endParaRPr lang="en-US" sz="2800" dirty="0"/>
          </a:p>
        </p:txBody>
      </p:sp>
      <p:sp>
        <p:nvSpPr>
          <p:cNvPr id="4" name="Shape 2"/>
          <p:cNvSpPr/>
          <p:nvPr/>
        </p:nvSpPr>
        <p:spPr>
          <a:xfrm>
            <a:off x="548640" y="1371600"/>
            <a:ext cx="5120640" cy="2194560"/>
          </a:xfrm>
          <a:prstGeom prst="roundRect">
            <a:avLst>
              <a:gd name="adj" fmla="val 3750"/>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54480"/>
            <a:ext cx="4572000" cy="777240"/>
          </a:xfrm>
          <a:prstGeom prst="rect">
            <a:avLst/>
          </a:prstGeom>
          <a:noFill/>
          <a:ln/>
        </p:spPr>
        <p:txBody>
          <a:bodyPr wrap="square" lIns="0" tIns="0" rIns="0" bIns="0" rtlCol="0" anchor="ctr"/>
          <a:lstStyle/>
          <a:p>
            <a:pPr indent="0" marL="0">
              <a:lnSpc>
                <a:spcPct val="105000"/>
              </a:lnSpc>
              <a:buNone/>
            </a:pPr>
            <a:r>
              <a:rPr lang="en-US" sz="1700" b="1" dirty="0">
                <a:solidFill>
                  <a:srgbClr val="065A82"/>
                </a:solidFill>
                <a:latin typeface="Cambria" pitchFamily="34" charset="0"/>
                <a:ea typeface="Cambria" pitchFamily="34" charset="-122"/>
                <a:cs typeface="Cambria" pitchFamily="34" charset="-120"/>
              </a:rPr>
              <a:t>Plus la pression est forte,</a:t>
            </a:r>
            <a:endParaRPr lang="en-US" sz="1700" dirty="0"/>
          </a:p>
          <a:p>
            <a:pPr indent="0" marL="0">
              <a:lnSpc>
                <a:spcPct val="105000"/>
              </a:lnSpc>
              <a:buNone/>
            </a:pPr>
            <a:r>
              <a:rPr lang="en-US" sz="1700" b="1" dirty="0">
                <a:solidFill>
                  <a:srgbClr val="065A82"/>
                </a:solidFill>
                <a:latin typeface="Cambria" pitchFamily="34" charset="0"/>
                <a:ea typeface="Cambria" pitchFamily="34" charset="-122"/>
                <a:cs typeface="Cambria" pitchFamily="34" charset="-120"/>
              </a:rPr>
              <a:t>plus le gaz se dissout dans le liquide</a:t>
            </a:r>
            <a:endParaRPr lang="en-US" sz="1700" dirty="0"/>
          </a:p>
        </p:txBody>
      </p:sp>
      <p:sp>
        <p:nvSpPr>
          <p:cNvPr id="6" name="Text 4"/>
          <p:cNvSpPr/>
          <p:nvPr/>
        </p:nvSpPr>
        <p:spPr>
          <a:xfrm>
            <a:off x="822960" y="2423160"/>
            <a:ext cx="4572000" cy="1005840"/>
          </a:xfrm>
          <a:prstGeom prst="rect">
            <a:avLst/>
          </a:prstGeom>
          <a:noFill/>
          <a:ln/>
        </p:spPr>
        <p:txBody>
          <a:bodyPr wrap="square" lIns="0" tIns="0" rIns="0" bIns="0" rtlCol="0" anchor="ctr"/>
          <a:lstStyle/>
          <a:p>
            <a:pPr indent="0" marL="0">
              <a:lnSpc>
                <a:spcPct val="112000"/>
              </a:lnSpc>
              <a:buNone/>
            </a:pPr>
            <a:r>
              <a:rPr lang="en-US" sz="1200" i="1" dirty="0">
                <a:solidFill>
                  <a:srgbClr val="1F3347"/>
                </a:solidFill>
                <a:latin typeface="Calibri" pitchFamily="34" charset="0"/>
                <a:ea typeface="Calibri" pitchFamily="34" charset="-122"/>
                <a:cs typeface="Calibri" pitchFamily="34" charset="-120"/>
              </a:rPr>
              <a:t>L'image : la bouteille de soda. Sous pression, le gaz est invisible, dissous. On ouvre brutalement : il repasse en bulles.</a:t>
            </a:r>
            <a:endParaRPr lang="en-US" sz="1200" dirty="0"/>
          </a:p>
        </p:txBody>
      </p:sp>
      <p:sp>
        <p:nvSpPr>
          <p:cNvPr id="7" name="Shape 5"/>
          <p:cNvSpPr/>
          <p:nvPr/>
        </p:nvSpPr>
        <p:spPr>
          <a:xfrm>
            <a:off x="548640" y="3794760"/>
            <a:ext cx="2672334" cy="1600200"/>
          </a:xfrm>
          <a:prstGeom prst="roundRect">
            <a:avLst>
              <a:gd name="adj" fmla="val 4571"/>
            </a:avLst>
          </a:prstGeom>
          <a:solidFill>
            <a:srgbClr val="1C7293"/>
          </a:solidFill>
          <a:ln/>
          <a:effectLst>
            <a:outerShdw sx="100000" sy="100000" kx="0" ky="0" algn="bl" rotWithShape="0" blurRad="88900" dist="25400" dir="5400000">
              <a:srgbClr val="0A2942">
                <a:alpha val="16000"/>
              </a:srgbClr>
            </a:outerShdw>
          </a:effectLst>
        </p:spPr>
      </p:sp>
      <p:sp>
        <p:nvSpPr>
          <p:cNvPr id="8" name="Text 6"/>
          <p:cNvSpPr/>
          <p:nvPr/>
        </p:nvSpPr>
        <p:spPr>
          <a:xfrm>
            <a:off x="731520" y="3941064"/>
            <a:ext cx="230657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Descente</a:t>
            </a:r>
            <a:endParaRPr lang="en-US" sz="1200" dirty="0"/>
          </a:p>
        </p:txBody>
      </p:sp>
      <p:sp>
        <p:nvSpPr>
          <p:cNvPr id="9" name="Text 7"/>
          <p:cNvSpPr/>
          <p:nvPr/>
        </p:nvSpPr>
        <p:spPr>
          <a:xfrm>
            <a:off x="731520" y="4507992"/>
            <a:ext cx="2306574" cy="74066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Pression ↑ : l'azote des poumons se dissout dans le sang et les tissus</a:t>
            </a:r>
            <a:endParaRPr lang="en-US" sz="1000" dirty="0"/>
          </a:p>
        </p:txBody>
      </p:sp>
      <p:sp>
        <p:nvSpPr>
          <p:cNvPr id="10" name="Text 8"/>
          <p:cNvSpPr/>
          <p:nvPr/>
        </p:nvSpPr>
        <p:spPr>
          <a:xfrm>
            <a:off x="3193542" y="43662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3348990" y="3794760"/>
            <a:ext cx="2672334" cy="1600200"/>
          </a:xfrm>
          <a:prstGeom prst="roundRect">
            <a:avLst>
              <a:gd name="adj" fmla="val 4571"/>
            </a:avLst>
          </a:prstGeom>
          <a:solidFill>
            <a:srgbClr val="065A82"/>
          </a:solidFill>
          <a:ln/>
          <a:effectLst>
            <a:outerShdw sx="100000" sy="100000" kx="0" ky="0" algn="bl" rotWithShape="0" blurRad="88900" dist="25400" dir="5400000">
              <a:srgbClr val="0A2942">
                <a:alpha val="16000"/>
              </a:srgbClr>
            </a:outerShdw>
          </a:effectLst>
        </p:spPr>
      </p:sp>
      <p:sp>
        <p:nvSpPr>
          <p:cNvPr id="12" name="Text 10"/>
          <p:cNvSpPr/>
          <p:nvPr/>
        </p:nvSpPr>
        <p:spPr>
          <a:xfrm>
            <a:off x="3531870" y="3941064"/>
            <a:ext cx="230657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Séjour au fond</a:t>
            </a:r>
            <a:endParaRPr lang="en-US" sz="1200" dirty="0"/>
          </a:p>
        </p:txBody>
      </p:sp>
      <p:sp>
        <p:nvSpPr>
          <p:cNvPr id="13" name="Text 11"/>
          <p:cNvSpPr/>
          <p:nvPr/>
        </p:nvSpPr>
        <p:spPr>
          <a:xfrm>
            <a:off x="3531870" y="4507992"/>
            <a:ext cx="2306574" cy="74066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L'O₂ est consommé ; l'azote, inerte, s'accumule</a:t>
            </a:r>
            <a:endParaRPr lang="en-US" sz="1000" dirty="0"/>
          </a:p>
        </p:txBody>
      </p:sp>
      <p:sp>
        <p:nvSpPr>
          <p:cNvPr id="14" name="Text 12"/>
          <p:cNvSpPr/>
          <p:nvPr/>
        </p:nvSpPr>
        <p:spPr>
          <a:xfrm>
            <a:off x="5993892" y="43662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6149340" y="3794760"/>
            <a:ext cx="2672334" cy="1600200"/>
          </a:xfrm>
          <a:prstGeom prst="roundRect">
            <a:avLst>
              <a:gd name="adj" fmla="val 4571"/>
            </a:avLst>
          </a:prstGeom>
          <a:solidFill>
            <a:srgbClr val="065A82"/>
          </a:solidFill>
          <a:ln/>
          <a:effectLst>
            <a:outerShdw sx="100000" sy="100000" kx="0" ky="0" algn="bl" rotWithShape="0" blurRad="88900" dist="25400" dir="5400000">
              <a:srgbClr val="0A2942">
                <a:alpha val="16000"/>
              </a:srgbClr>
            </a:outerShdw>
          </a:effectLst>
        </p:spPr>
      </p:sp>
      <p:sp>
        <p:nvSpPr>
          <p:cNvPr id="16" name="Text 14"/>
          <p:cNvSpPr/>
          <p:nvPr/>
        </p:nvSpPr>
        <p:spPr>
          <a:xfrm>
            <a:off x="6332220" y="3941064"/>
            <a:ext cx="230657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Remontée</a:t>
            </a:r>
            <a:endParaRPr lang="en-US" sz="1200" dirty="0"/>
          </a:p>
        </p:txBody>
      </p:sp>
      <p:sp>
        <p:nvSpPr>
          <p:cNvPr id="17" name="Text 15"/>
          <p:cNvSpPr/>
          <p:nvPr/>
        </p:nvSpPr>
        <p:spPr>
          <a:xfrm>
            <a:off x="6332220" y="4507992"/>
            <a:ext cx="2306574" cy="74066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Pression ↓ : sursaturation, l'azote repasse en micro-bulles</a:t>
            </a:r>
            <a:endParaRPr lang="en-US" sz="1000" dirty="0"/>
          </a:p>
        </p:txBody>
      </p:sp>
      <p:sp>
        <p:nvSpPr>
          <p:cNvPr id="18" name="Text 16"/>
          <p:cNvSpPr/>
          <p:nvPr/>
        </p:nvSpPr>
        <p:spPr>
          <a:xfrm>
            <a:off x="8794242" y="43662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8949690" y="3794760"/>
            <a:ext cx="2672334" cy="1600200"/>
          </a:xfrm>
          <a:prstGeom prst="roundRect">
            <a:avLst>
              <a:gd name="adj" fmla="val 4571"/>
            </a:avLst>
          </a:prstGeom>
          <a:solidFill>
            <a:srgbClr val="2C8C5A"/>
          </a:solidFill>
          <a:ln/>
          <a:effectLst>
            <a:outerShdw sx="100000" sy="100000" kx="0" ky="0" algn="bl" rotWithShape="0" blurRad="88900" dist="25400" dir="5400000">
              <a:srgbClr val="0A2942">
                <a:alpha val="16000"/>
              </a:srgbClr>
            </a:outerShdw>
          </a:effectLst>
        </p:spPr>
      </p:sp>
      <p:sp>
        <p:nvSpPr>
          <p:cNvPr id="20" name="Text 18"/>
          <p:cNvSpPr/>
          <p:nvPr/>
        </p:nvSpPr>
        <p:spPr>
          <a:xfrm>
            <a:off x="9132570" y="3941064"/>
            <a:ext cx="230657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Élimination</a:t>
            </a:r>
            <a:endParaRPr lang="en-US" sz="1200" dirty="0"/>
          </a:p>
        </p:txBody>
      </p:sp>
      <p:sp>
        <p:nvSpPr>
          <p:cNvPr id="21" name="Text 19"/>
          <p:cNvSpPr/>
          <p:nvPr/>
        </p:nvSpPr>
        <p:spPr>
          <a:xfrm>
            <a:off x="9132570" y="4507992"/>
            <a:ext cx="2306574" cy="74066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Les poumons filtrent les micro-bulles… si on leur en laisse le temps</a:t>
            </a:r>
            <a:endParaRPr lang="en-US" sz="1000" dirty="0"/>
          </a:p>
        </p:txBody>
      </p:sp>
      <p:sp>
        <p:nvSpPr>
          <p:cNvPr id="22" name="Shape 20"/>
          <p:cNvSpPr/>
          <p:nvPr/>
        </p:nvSpPr>
        <p:spPr>
          <a:xfrm>
            <a:off x="6035040" y="1371600"/>
            <a:ext cx="5586984" cy="2194560"/>
          </a:xfrm>
          <a:prstGeom prst="roundRect">
            <a:avLst>
              <a:gd name="adj" fmla="val 3750"/>
            </a:avLst>
          </a:prstGeom>
          <a:solidFill>
            <a:srgbClr val="FBE9E1"/>
          </a:solidFill>
          <a:ln/>
          <a:effectLst>
            <a:outerShdw sx="100000" sy="100000" kx="0" ky="0" algn="bl" rotWithShape="0" blurRad="88900" dist="25400" dir="5400000">
              <a:srgbClr val="0A2942">
                <a:alpha val="16000"/>
              </a:srgbClr>
            </a:outerShdw>
          </a:effectLst>
        </p:spPr>
      </p:sp>
      <p:sp>
        <p:nvSpPr>
          <p:cNvPr id="23" name="Shape 21"/>
          <p:cNvSpPr/>
          <p:nvPr/>
        </p:nvSpPr>
        <p:spPr>
          <a:xfrm>
            <a:off x="6309360" y="1627632"/>
            <a:ext cx="512064" cy="512064"/>
          </a:xfrm>
          <a:prstGeom prst="ellipse">
            <a:avLst/>
          </a:prstGeom>
          <a:solidFill>
            <a:srgbClr val="D9541E"/>
          </a:solidFill>
          <a:ln/>
        </p:spPr>
      </p:sp>
      <p:pic>
        <p:nvPicPr>
          <p:cNvPr id="24" name="Image 0" descr="preencoded.png">    </p:cNvPr>
          <p:cNvPicPr>
            <a:picLocks noChangeAspect="1"/>
          </p:cNvPicPr>
          <p:nvPr/>
        </p:nvPicPr>
        <p:blipFill>
          <a:blip r:embed="rId1"/>
          <a:stretch>
            <a:fillRect/>
          </a:stretch>
        </p:blipFill>
        <p:spPr>
          <a:xfrm>
            <a:off x="6442497" y="1760769"/>
            <a:ext cx="245791" cy="245791"/>
          </a:xfrm>
          <a:prstGeom prst="rect">
            <a:avLst/>
          </a:prstGeom>
        </p:spPr>
      </p:pic>
      <p:sp>
        <p:nvSpPr>
          <p:cNvPr id="25" name="Text 22"/>
          <p:cNvSpPr/>
          <p:nvPr/>
        </p:nvSpPr>
        <p:spPr>
          <a:xfrm>
            <a:off x="7040880" y="1627632"/>
            <a:ext cx="4389120" cy="512064"/>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Le cumul fait l'accident</a:t>
            </a:r>
            <a:endParaRPr lang="en-US" sz="1400" dirty="0"/>
          </a:p>
        </p:txBody>
      </p:sp>
      <p:sp>
        <p:nvSpPr>
          <p:cNvPr id="26" name="Text 23"/>
          <p:cNvSpPr/>
          <p:nvPr/>
        </p:nvSpPr>
        <p:spPr>
          <a:xfrm>
            <a:off x="6309360" y="2212848"/>
            <a:ext cx="5029200" cy="123444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Des descentes profondes répétées avec des récupérations courtes accumulent l'azote sans laisser le temps de l'évacuer : les micro-bulles fusionnent et bouchent un vaisseau. C'est l'accident de décompression de l'apnéiste : le taravana (fiche complète diapo 45).</a:t>
            </a:r>
            <a:endParaRPr lang="en-US" sz="1150" dirty="0"/>
          </a:p>
        </p:txBody>
      </p:sp>
      <p:sp>
        <p:nvSpPr>
          <p:cNvPr id="27" name="Text 24"/>
          <p:cNvSpPr/>
          <p:nvPr/>
        </p:nvSpPr>
        <p:spPr>
          <a:xfrm>
            <a:off x="548640" y="5715000"/>
            <a:ext cx="11064240" cy="365760"/>
          </a:xfrm>
          <a:prstGeom prst="rect">
            <a:avLst/>
          </a:prstGeom>
          <a:noFill/>
          <a:ln/>
        </p:spPr>
        <p:txBody>
          <a:bodyPr wrap="square" lIns="0" tIns="0" rIns="0" bIns="0" rtlCol="0" anchor="ctr"/>
          <a:lstStyle/>
          <a:p>
            <a:pPr algn="ctr" indent="0" marL="0">
              <a:buNone/>
            </a:pPr>
            <a:r>
              <a:rPr lang="en-US" sz="1200" i="1" dirty="0">
                <a:solidFill>
                  <a:srgbClr val="5B7288"/>
                </a:solidFill>
                <a:latin typeface="Calibri" pitchFamily="34" charset="0"/>
                <a:ea typeface="Calibri" pitchFamily="34" charset="-122"/>
                <a:cs typeface="Calibri" pitchFamily="34" charset="-120"/>
              </a:rPr>
              <a:t>Concernés au premier chef : chasseurs sous-marins et utilisateurs de scooter — beaucoup de descentes, récupérations courtes.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2 · L'OREILLE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Trois parties, deux fonctions, un seul problème</a:t>
            </a:r>
            <a:endParaRPr lang="en-US" sz="2800" dirty="0"/>
          </a:p>
        </p:txBody>
      </p:sp>
      <p:sp>
        <p:nvSpPr>
          <p:cNvPr id="4" name="Shape 2"/>
          <p:cNvSpPr/>
          <p:nvPr/>
        </p:nvSpPr>
        <p:spPr>
          <a:xfrm>
            <a:off x="548640" y="1417320"/>
            <a:ext cx="3602736" cy="3017520"/>
          </a:xfrm>
          <a:prstGeom prst="roundRect">
            <a:avLst>
              <a:gd name="adj" fmla="val 2727"/>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2057400" y="1673352"/>
            <a:ext cx="585216" cy="585216"/>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2209556" y="1825508"/>
            <a:ext cx="280904" cy="280904"/>
          </a:xfrm>
          <a:prstGeom prst="rect">
            <a:avLst/>
          </a:prstGeom>
        </p:spPr>
      </p:pic>
      <p:sp>
        <p:nvSpPr>
          <p:cNvPr id="7" name="Text 4"/>
          <p:cNvSpPr/>
          <p:nvPr/>
        </p:nvSpPr>
        <p:spPr>
          <a:xfrm>
            <a:off x="731520" y="2377440"/>
            <a:ext cx="3236976" cy="347472"/>
          </a:xfrm>
          <a:prstGeom prst="rect">
            <a:avLst/>
          </a:prstGeom>
          <a:noFill/>
          <a:ln/>
        </p:spPr>
        <p:txBody>
          <a:bodyPr wrap="square" lIns="0" tIns="0" rIns="0" bIns="0" rtlCol="0" anchor="ctr"/>
          <a:lstStyle/>
          <a:p>
            <a:pPr algn="ctr" indent="0" marL="0">
              <a:buNone/>
            </a:pPr>
            <a:r>
              <a:rPr lang="en-US" sz="1450" b="1" dirty="0">
                <a:solidFill>
                  <a:srgbClr val="1F3347"/>
                </a:solidFill>
                <a:latin typeface="Calibri" pitchFamily="34" charset="0"/>
                <a:ea typeface="Calibri" pitchFamily="34" charset="-122"/>
                <a:cs typeface="Calibri" pitchFamily="34" charset="-120"/>
              </a:rPr>
              <a:t>Oreille externe</a:t>
            </a:r>
            <a:endParaRPr lang="en-US" sz="1450" dirty="0"/>
          </a:p>
        </p:txBody>
      </p:sp>
      <p:sp>
        <p:nvSpPr>
          <p:cNvPr id="8" name="Text 5"/>
          <p:cNvSpPr/>
          <p:nvPr/>
        </p:nvSpPr>
        <p:spPr>
          <a:xfrm>
            <a:off x="822960" y="2788920"/>
            <a:ext cx="3054096" cy="1143000"/>
          </a:xfrm>
          <a:prstGeom prst="rect">
            <a:avLst/>
          </a:prstGeom>
          <a:noFill/>
          <a:ln/>
        </p:spPr>
        <p:txBody>
          <a:bodyPr wrap="square" lIns="0" tIns="0" rIns="0" bIns="0" rtlCol="0" anchor="t"/>
          <a:lstStyle/>
          <a:p>
            <a:pPr indent="0" marL="0">
              <a:lnSpc>
                <a:spcPct val="110000"/>
              </a:lnSpc>
              <a:buNone/>
            </a:pPr>
            <a:r>
              <a:rPr lang="en-US" sz="1100" dirty="0">
                <a:solidFill>
                  <a:srgbClr val="5B7288"/>
                </a:solidFill>
                <a:latin typeface="Calibri" pitchFamily="34" charset="0"/>
                <a:ea typeface="Calibri" pitchFamily="34" charset="-122"/>
                <a:cs typeface="Calibri" pitchFamily="34" charset="-120"/>
              </a:rPr>
              <a:t>Pavillon + conduit auditif, jusqu'au tympan. De l'air, ouvert sur l'extérieur.</a:t>
            </a:r>
            <a:endParaRPr lang="en-US" sz="1100" dirty="0"/>
          </a:p>
        </p:txBody>
      </p:sp>
      <p:sp>
        <p:nvSpPr>
          <p:cNvPr id="9" name="Shape 6"/>
          <p:cNvSpPr/>
          <p:nvPr/>
        </p:nvSpPr>
        <p:spPr>
          <a:xfrm>
            <a:off x="1051560" y="3931920"/>
            <a:ext cx="2596896" cy="365760"/>
          </a:xfrm>
          <a:prstGeom prst="roundRect">
            <a:avLst>
              <a:gd name="adj" fmla="val 17500"/>
            </a:avLst>
          </a:prstGeom>
          <a:solidFill>
            <a:srgbClr val="E7F3EC"/>
          </a:solidFill>
          <a:ln/>
        </p:spPr>
      </p:sp>
      <p:sp>
        <p:nvSpPr>
          <p:cNvPr id="10" name="Text 7"/>
          <p:cNvSpPr/>
          <p:nvPr/>
        </p:nvSpPr>
        <p:spPr>
          <a:xfrm>
            <a:off x="1051560" y="3931920"/>
            <a:ext cx="2596896" cy="365760"/>
          </a:xfrm>
          <a:prstGeom prst="rect">
            <a:avLst/>
          </a:prstGeom>
          <a:noFill/>
          <a:ln/>
        </p:spPr>
        <p:txBody>
          <a:bodyPr wrap="square" lIns="0" tIns="0" rIns="0" bIns="0" rtlCol="0" anchor="ctr"/>
          <a:lstStyle/>
          <a:p>
            <a:pPr algn="ctr" indent="0" marL="0">
              <a:buNone/>
            </a:pPr>
            <a:r>
              <a:rPr lang="en-US" sz="1050" b="1" dirty="0">
                <a:solidFill>
                  <a:srgbClr val="2C8C5A"/>
                </a:solidFill>
                <a:latin typeface="Calibri" pitchFamily="34" charset="0"/>
                <a:ea typeface="Calibri" pitchFamily="34" charset="-122"/>
                <a:cs typeface="Calibri" pitchFamily="34" charset="-120"/>
              </a:rPr>
              <a:t>Air libre</a:t>
            </a:r>
            <a:endParaRPr lang="en-US" sz="1050" dirty="0"/>
          </a:p>
        </p:txBody>
      </p:sp>
      <p:sp>
        <p:nvSpPr>
          <p:cNvPr id="11" name="Shape 8"/>
          <p:cNvSpPr/>
          <p:nvPr/>
        </p:nvSpPr>
        <p:spPr>
          <a:xfrm>
            <a:off x="4343400" y="1417320"/>
            <a:ext cx="3602736" cy="3017520"/>
          </a:xfrm>
          <a:prstGeom prst="roundRect">
            <a:avLst>
              <a:gd name="adj" fmla="val 2727"/>
            </a:avLst>
          </a:prstGeom>
          <a:solidFill>
            <a:srgbClr val="F2F7FB"/>
          </a:solidFill>
          <a:ln/>
          <a:effectLst>
            <a:outerShdw sx="100000" sy="100000" kx="0" ky="0" algn="bl" rotWithShape="0" blurRad="88900" dist="25400" dir="5400000">
              <a:srgbClr val="0A2942">
                <a:alpha val="16000"/>
              </a:srgbClr>
            </a:outerShdw>
          </a:effectLst>
        </p:spPr>
      </p:sp>
      <p:sp>
        <p:nvSpPr>
          <p:cNvPr id="12" name="Shape 9"/>
          <p:cNvSpPr/>
          <p:nvPr/>
        </p:nvSpPr>
        <p:spPr>
          <a:xfrm>
            <a:off x="5852160" y="1673352"/>
            <a:ext cx="585216" cy="585216"/>
          </a:xfrm>
          <a:prstGeom prst="ellipse">
            <a:avLst/>
          </a:prstGeom>
          <a:solidFill>
            <a:srgbClr val="D9541E"/>
          </a:solidFill>
          <a:ln/>
        </p:spPr>
      </p:sp>
      <p:pic>
        <p:nvPicPr>
          <p:cNvPr id="13" name="Image 1" descr="preencoded.png">    </p:cNvPr>
          <p:cNvPicPr>
            <a:picLocks noChangeAspect="1"/>
          </p:cNvPicPr>
          <p:nvPr/>
        </p:nvPicPr>
        <p:blipFill>
          <a:blip r:embed="rId2"/>
          <a:stretch>
            <a:fillRect/>
          </a:stretch>
        </p:blipFill>
        <p:spPr>
          <a:xfrm>
            <a:off x="6004316" y="1825508"/>
            <a:ext cx="280904" cy="280904"/>
          </a:xfrm>
          <a:prstGeom prst="rect">
            <a:avLst/>
          </a:prstGeom>
        </p:spPr>
      </p:pic>
      <p:sp>
        <p:nvSpPr>
          <p:cNvPr id="14" name="Text 10"/>
          <p:cNvSpPr/>
          <p:nvPr/>
        </p:nvSpPr>
        <p:spPr>
          <a:xfrm>
            <a:off x="4526280" y="2377440"/>
            <a:ext cx="3236976" cy="347472"/>
          </a:xfrm>
          <a:prstGeom prst="rect">
            <a:avLst/>
          </a:prstGeom>
          <a:noFill/>
          <a:ln/>
        </p:spPr>
        <p:txBody>
          <a:bodyPr wrap="square" lIns="0" tIns="0" rIns="0" bIns="0" rtlCol="0" anchor="ctr"/>
          <a:lstStyle/>
          <a:p>
            <a:pPr algn="ctr" indent="0" marL="0">
              <a:buNone/>
            </a:pPr>
            <a:r>
              <a:rPr lang="en-US" sz="1450" b="1" dirty="0">
                <a:solidFill>
                  <a:srgbClr val="1F3347"/>
                </a:solidFill>
                <a:latin typeface="Calibri" pitchFamily="34" charset="0"/>
                <a:ea typeface="Calibri" pitchFamily="34" charset="-122"/>
                <a:cs typeface="Calibri" pitchFamily="34" charset="-120"/>
              </a:rPr>
              <a:t>Oreille moyenne</a:t>
            </a:r>
            <a:endParaRPr lang="en-US" sz="1450" dirty="0"/>
          </a:p>
        </p:txBody>
      </p:sp>
      <p:sp>
        <p:nvSpPr>
          <p:cNvPr id="15" name="Text 11"/>
          <p:cNvSpPr/>
          <p:nvPr/>
        </p:nvSpPr>
        <p:spPr>
          <a:xfrm>
            <a:off x="4617720" y="2788920"/>
            <a:ext cx="3054096" cy="1143000"/>
          </a:xfrm>
          <a:prstGeom prst="rect">
            <a:avLst/>
          </a:prstGeom>
          <a:noFill/>
          <a:ln/>
        </p:spPr>
        <p:txBody>
          <a:bodyPr wrap="square" lIns="0" tIns="0" rIns="0" bIns="0" rtlCol="0" anchor="t"/>
          <a:lstStyle/>
          <a:p>
            <a:pPr indent="0" marL="0">
              <a:lnSpc>
                <a:spcPct val="110000"/>
              </a:lnSpc>
              <a:buNone/>
            </a:pPr>
            <a:r>
              <a:rPr lang="en-US" sz="1100" dirty="0">
                <a:solidFill>
                  <a:srgbClr val="5B7288"/>
                </a:solidFill>
                <a:latin typeface="Calibri" pitchFamily="34" charset="0"/>
                <a:ea typeface="Calibri" pitchFamily="34" charset="-122"/>
                <a:cs typeface="Calibri" pitchFamily="34" charset="-120"/>
              </a:rPr>
              <a:t>Cavité derrière le tympan, avec les 3 osselets (marteau, enclume, étrier). De l'air ENFERMÉ : seule sortie, la trompe d'Eustache vers le pharynx.</a:t>
            </a:r>
            <a:endParaRPr lang="en-US" sz="1100" dirty="0"/>
          </a:p>
        </p:txBody>
      </p:sp>
      <p:sp>
        <p:nvSpPr>
          <p:cNvPr id="16" name="Shape 12"/>
          <p:cNvSpPr/>
          <p:nvPr/>
        </p:nvSpPr>
        <p:spPr>
          <a:xfrm>
            <a:off x="4846320" y="3931920"/>
            <a:ext cx="2596896" cy="365760"/>
          </a:xfrm>
          <a:prstGeom prst="roundRect">
            <a:avLst>
              <a:gd name="adj" fmla="val 17500"/>
            </a:avLst>
          </a:prstGeom>
          <a:solidFill>
            <a:srgbClr val="FBE9E1"/>
          </a:solidFill>
          <a:ln/>
        </p:spPr>
      </p:sp>
      <p:sp>
        <p:nvSpPr>
          <p:cNvPr id="17" name="Text 13"/>
          <p:cNvSpPr/>
          <p:nvPr/>
        </p:nvSpPr>
        <p:spPr>
          <a:xfrm>
            <a:off x="4846320" y="3931920"/>
            <a:ext cx="2596896" cy="365760"/>
          </a:xfrm>
          <a:prstGeom prst="rect">
            <a:avLst/>
          </a:prstGeom>
          <a:noFill/>
          <a:ln/>
        </p:spPr>
        <p:txBody>
          <a:bodyPr wrap="square" lIns="0" tIns="0" rIns="0" bIns="0" rtlCol="0" anchor="ctr"/>
          <a:lstStyle/>
          <a:p>
            <a:pPr algn="ctr" indent="0" marL="0">
              <a:buNone/>
            </a:pPr>
            <a:r>
              <a:rPr lang="en-US" sz="1050" b="1" dirty="0">
                <a:solidFill>
                  <a:srgbClr val="9C3A10"/>
                </a:solidFill>
                <a:latin typeface="Calibri" pitchFamily="34" charset="0"/>
                <a:ea typeface="Calibri" pitchFamily="34" charset="-122"/>
                <a:cs typeface="Calibri" pitchFamily="34" charset="-120"/>
              </a:rPr>
              <a:t>Air enfermé = problème</a:t>
            </a:r>
            <a:endParaRPr lang="en-US" sz="1050" dirty="0"/>
          </a:p>
        </p:txBody>
      </p:sp>
      <p:sp>
        <p:nvSpPr>
          <p:cNvPr id="18" name="Shape 14"/>
          <p:cNvSpPr/>
          <p:nvPr/>
        </p:nvSpPr>
        <p:spPr>
          <a:xfrm>
            <a:off x="8138160" y="1417320"/>
            <a:ext cx="3602736" cy="3017520"/>
          </a:xfrm>
          <a:prstGeom prst="roundRect">
            <a:avLst>
              <a:gd name="adj" fmla="val 2727"/>
            </a:avLst>
          </a:prstGeom>
          <a:solidFill>
            <a:srgbClr val="F2F7FB"/>
          </a:solidFill>
          <a:ln/>
          <a:effectLst>
            <a:outerShdw sx="100000" sy="100000" kx="0" ky="0" algn="bl" rotWithShape="0" blurRad="88900" dist="25400" dir="5400000">
              <a:srgbClr val="0A2942">
                <a:alpha val="16000"/>
              </a:srgbClr>
            </a:outerShdw>
          </a:effectLst>
        </p:spPr>
      </p:sp>
      <p:sp>
        <p:nvSpPr>
          <p:cNvPr id="19" name="Shape 15"/>
          <p:cNvSpPr/>
          <p:nvPr/>
        </p:nvSpPr>
        <p:spPr>
          <a:xfrm>
            <a:off x="9646920" y="1673352"/>
            <a:ext cx="585216" cy="585216"/>
          </a:xfrm>
          <a:prstGeom prst="ellipse">
            <a:avLst/>
          </a:prstGeom>
          <a:solidFill>
            <a:srgbClr val="065A82"/>
          </a:solidFill>
          <a:ln/>
        </p:spPr>
      </p:sp>
      <p:pic>
        <p:nvPicPr>
          <p:cNvPr id="20" name="Image 2" descr="preencoded.png">    </p:cNvPr>
          <p:cNvPicPr>
            <a:picLocks noChangeAspect="1"/>
          </p:cNvPicPr>
          <p:nvPr/>
        </p:nvPicPr>
        <p:blipFill>
          <a:blip r:embed="rId3"/>
          <a:stretch>
            <a:fillRect/>
          </a:stretch>
        </p:blipFill>
        <p:spPr>
          <a:xfrm>
            <a:off x="9799076" y="1825508"/>
            <a:ext cx="280904" cy="280904"/>
          </a:xfrm>
          <a:prstGeom prst="rect">
            <a:avLst/>
          </a:prstGeom>
        </p:spPr>
      </p:pic>
      <p:sp>
        <p:nvSpPr>
          <p:cNvPr id="21" name="Text 16"/>
          <p:cNvSpPr/>
          <p:nvPr/>
        </p:nvSpPr>
        <p:spPr>
          <a:xfrm>
            <a:off x="8321040" y="2377440"/>
            <a:ext cx="3236976" cy="347472"/>
          </a:xfrm>
          <a:prstGeom prst="rect">
            <a:avLst/>
          </a:prstGeom>
          <a:noFill/>
          <a:ln/>
        </p:spPr>
        <p:txBody>
          <a:bodyPr wrap="square" lIns="0" tIns="0" rIns="0" bIns="0" rtlCol="0" anchor="ctr"/>
          <a:lstStyle/>
          <a:p>
            <a:pPr algn="ctr" indent="0" marL="0">
              <a:buNone/>
            </a:pPr>
            <a:r>
              <a:rPr lang="en-US" sz="1450" b="1" dirty="0">
                <a:solidFill>
                  <a:srgbClr val="1F3347"/>
                </a:solidFill>
                <a:latin typeface="Calibri" pitchFamily="34" charset="0"/>
                <a:ea typeface="Calibri" pitchFamily="34" charset="-122"/>
                <a:cs typeface="Calibri" pitchFamily="34" charset="-120"/>
              </a:rPr>
              <a:t>Oreille interne</a:t>
            </a:r>
            <a:endParaRPr lang="en-US" sz="1450" dirty="0"/>
          </a:p>
        </p:txBody>
      </p:sp>
      <p:sp>
        <p:nvSpPr>
          <p:cNvPr id="22" name="Text 17"/>
          <p:cNvSpPr/>
          <p:nvPr/>
        </p:nvSpPr>
        <p:spPr>
          <a:xfrm>
            <a:off x="8412480" y="2788920"/>
            <a:ext cx="3054096" cy="1143000"/>
          </a:xfrm>
          <a:prstGeom prst="rect">
            <a:avLst/>
          </a:prstGeom>
          <a:noFill/>
          <a:ln/>
        </p:spPr>
        <p:txBody>
          <a:bodyPr wrap="square" lIns="0" tIns="0" rIns="0" bIns="0" rtlCol="0" anchor="t"/>
          <a:lstStyle/>
          <a:p>
            <a:pPr indent="0" marL="0">
              <a:lnSpc>
                <a:spcPct val="110000"/>
              </a:lnSpc>
              <a:buNone/>
            </a:pPr>
            <a:r>
              <a:rPr lang="en-US" sz="1100" dirty="0">
                <a:solidFill>
                  <a:srgbClr val="5B7288"/>
                </a:solidFill>
                <a:latin typeface="Calibri" pitchFamily="34" charset="0"/>
                <a:ea typeface="Calibri" pitchFamily="34" charset="-122"/>
                <a:cs typeface="Calibri" pitchFamily="34" charset="-120"/>
              </a:rPr>
              <a:t>Canaux semi-circulaires (équilibre) + limaçon (audition). Du liquide — incompressible.</a:t>
            </a:r>
            <a:endParaRPr lang="en-US" sz="1100" dirty="0"/>
          </a:p>
        </p:txBody>
      </p:sp>
      <p:sp>
        <p:nvSpPr>
          <p:cNvPr id="23" name="Shape 18"/>
          <p:cNvSpPr/>
          <p:nvPr/>
        </p:nvSpPr>
        <p:spPr>
          <a:xfrm>
            <a:off x="8641080" y="3931920"/>
            <a:ext cx="2596896" cy="365760"/>
          </a:xfrm>
          <a:prstGeom prst="roundRect">
            <a:avLst>
              <a:gd name="adj" fmla="val 17500"/>
            </a:avLst>
          </a:prstGeom>
          <a:solidFill>
            <a:srgbClr val="E7F3EC"/>
          </a:solidFill>
          <a:ln/>
        </p:spPr>
      </p:sp>
      <p:sp>
        <p:nvSpPr>
          <p:cNvPr id="24" name="Text 19"/>
          <p:cNvSpPr/>
          <p:nvPr/>
        </p:nvSpPr>
        <p:spPr>
          <a:xfrm>
            <a:off x="8641080" y="3931920"/>
            <a:ext cx="2596896" cy="365760"/>
          </a:xfrm>
          <a:prstGeom prst="rect">
            <a:avLst/>
          </a:prstGeom>
          <a:noFill/>
          <a:ln/>
        </p:spPr>
        <p:txBody>
          <a:bodyPr wrap="square" lIns="0" tIns="0" rIns="0" bIns="0" rtlCol="0" anchor="ctr"/>
          <a:lstStyle/>
          <a:p>
            <a:pPr algn="ctr" indent="0" marL="0">
              <a:buNone/>
            </a:pPr>
            <a:r>
              <a:rPr lang="en-US" sz="1050" b="1" dirty="0">
                <a:solidFill>
                  <a:srgbClr val="2C8C5A"/>
                </a:solidFill>
                <a:latin typeface="Calibri" pitchFamily="34" charset="0"/>
                <a:ea typeface="Calibri" pitchFamily="34" charset="-122"/>
                <a:cs typeface="Calibri" pitchFamily="34" charset="-120"/>
              </a:rPr>
              <a:t>Liquide</a:t>
            </a:r>
            <a:endParaRPr lang="en-US" sz="1050" dirty="0"/>
          </a:p>
        </p:txBody>
      </p:sp>
      <p:sp>
        <p:nvSpPr>
          <p:cNvPr id="25" name="Shape 20"/>
          <p:cNvSpPr/>
          <p:nvPr/>
        </p:nvSpPr>
        <p:spPr>
          <a:xfrm>
            <a:off x="548640" y="4754880"/>
            <a:ext cx="11073384" cy="1325880"/>
          </a:xfrm>
          <a:prstGeom prst="roundRect">
            <a:avLst>
              <a:gd name="adj" fmla="val 6207"/>
            </a:avLst>
          </a:prstGeom>
          <a:solidFill>
            <a:srgbClr val="DCEBF5"/>
          </a:solidFill>
          <a:ln/>
          <a:effectLst>
            <a:outerShdw sx="100000" sy="100000" kx="0" ky="0" algn="bl" rotWithShape="0" blurRad="88900" dist="25400" dir="5400000">
              <a:srgbClr val="0A2942">
                <a:alpha val="16000"/>
              </a:srgbClr>
            </a:outerShdw>
          </a:effectLst>
        </p:spPr>
      </p:sp>
      <p:sp>
        <p:nvSpPr>
          <p:cNvPr id="26" name="Text 21"/>
          <p:cNvSpPr/>
          <p:nvPr/>
        </p:nvSpPr>
        <p:spPr>
          <a:xfrm>
            <a:off x="822960" y="4846320"/>
            <a:ext cx="10515600" cy="1143000"/>
          </a:xfrm>
          <a:prstGeom prst="rect">
            <a:avLst/>
          </a:prstGeom>
          <a:noFill/>
          <a:ln/>
        </p:spPr>
        <p:txBody>
          <a:bodyPr wrap="square" lIns="0" tIns="0" rIns="0" bIns="0" rtlCol="0" anchor="ctr"/>
          <a:lstStyle/>
          <a:p>
            <a:pPr indent="0" marL="0">
              <a:lnSpc>
                <a:spcPct val="115000"/>
              </a:lnSpc>
              <a:buNone/>
            </a:pPr>
            <a:r>
              <a:rPr lang="en-US" sz="1250" b="1" dirty="0">
                <a:solidFill>
                  <a:srgbClr val="065A82"/>
                </a:solidFill>
                <a:latin typeface="Calibri" pitchFamily="34" charset="0"/>
                <a:ea typeface="Calibri" pitchFamily="34" charset="-122"/>
                <a:cs typeface="Calibri" pitchFamily="34" charset="-120"/>
              </a:rPr>
              <a:t>Le raisonnement à faire faire : </a:t>
            </a:r>
            <a:pPr indent="0" marL="0">
              <a:lnSpc>
                <a:spcPct val="115000"/>
              </a:lnSpc>
              <a:buNone/>
            </a:pPr>
            <a:r>
              <a:rPr lang="en-US" sz="1250" dirty="0">
                <a:solidFill>
                  <a:srgbClr val="1F3347"/>
                </a:solidFill>
                <a:latin typeface="Calibri" pitchFamily="34" charset="0"/>
                <a:ea typeface="Calibri" pitchFamily="34" charset="-122"/>
                <a:cs typeface="Calibri" pitchFamily="34" charset="-120"/>
              </a:rPr>
              <a:t>la seule cavité d'air fermée, c'est l'oreille moyenne. Or Mariotte écrase les cavités fermées. Donc si je n'envoie pas d'air par la trompe d'Eustache pendant la descente, c'est le tympan qui encaisse. Toute la compensation est là.</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2 · L'OREILLE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trompe d'Eustache : le geste de compensation</a:t>
            </a:r>
            <a:endParaRPr lang="en-US" sz="2800" dirty="0"/>
          </a:p>
        </p:txBody>
      </p:sp>
      <p:sp>
        <p:nvSpPr>
          <p:cNvPr id="4" name="Shape 2"/>
          <p:cNvSpPr/>
          <p:nvPr/>
        </p:nvSpPr>
        <p:spPr>
          <a:xfrm>
            <a:off x="548640" y="1371600"/>
            <a:ext cx="5943600" cy="2743200"/>
          </a:xfrm>
          <a:prstGeom prst="roundRect">
            <a:avLst>
              <a:gd name="adj" fmla="val 3000"/>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627632"/>
            <a:ext cx="512064" cy="512064"/>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956097" y="1760769"/>
            <a:ext cx="245791" cy="245791"/>
          </a:xfrm>
          <a:prstGeom prst="rect">
            <a:avLst/>
          </a:prstGeom>
        </p:spPr>
      </p:pic>
      <p:sp>
        <p:nvSpPr>
          <p:cNvPr id="7" name="Text 4"/>
          <p:cNvSpPr/>
          <p:nvPr/>
        </p:nvSpPr>
        <p:spPr>
          <a:xfrm>
            <a:off x="1554480" y="1627632"/>
            <a:ext cx="4754880" cy="512064"/>
          </a:xfrm>
          <a:prstGeom prst="rect">
            <a:avLst/>
          </a:prstGeom>
          <a:noFill/>
          <a:ln/>
        </p:spPr>
        <p:txBody>
          <a:bodyPr wrap="square" lIns="0" tIns="0" rIns="0" bIns="0" rtlCol="0" anchor="ctr"/>
          <a:lstStyle/>
          <a:p>
            <a:pPr indent="0" marL="0">
              <a:buNone/>
            </a:pPr>
            <a:r>
              <a:rPr lang="en-US" sz="1400" b="1" dirty="0">
                <a:solidFill>
                  <a:srgbClr val="1F3347"/>
                </a:solidFill>
                <a:latin typeface="Calibri" pitchFamily="34" charset="0"/>
                <a:ea typeface="Calibri" pitchFamily="34" charset="-122"/>
                <a:cs typeface="Calibri" pitchFamily="34" charset="-120"/>
              </a:rPr>
              <a:t>Un tuyau souple, fermé au repos</a:t>
            </a:r>
            <a:endParaRPr lang="en-US" sz="1400" dirty="0"/>
          </a:p>
        </p:txBody>
      </p:sp>
      <p:sp>
        <p:nvSpPr>
          <p:cNvPr id="8" name="Text 5"/>
          <p:cNvSpPr/>
          <p:nvPr/>
        </p:nvSpPr>
        <p:spPr>
          <a:xfrm>
            <a:off x="868680" y="2267712"/>
            <a:ext cx="5394960" cy="173736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Relie l'oreille moyenne au pharynx ; parois collées au repos → cavité étanche</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S'ouvre à la déglutition, au bâillement… ou quand on la force</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Compenser = décoller ces parois pour laisser passer un peu d'air et rééquilibrer les pressions autour du tympan</a:t>
            </a:r>
            <a:endParaRPr lang="en-US" sz="1200" dirty="0"/>
          </a:p>
        </p:txBody>
      </p:sp>
      <p:sp>
        <p:nvSpPr>
          <p:cNvPr id="9" name="Shape 6"/>
          <p:cNvSpPr/>
          <p:nvPr/>
        </p:nvSpPr>
        <p:spPr>
          <a:xfrm>
            <a:off x="6675120" y="1371600"/>
            <a:ext cx="4946904" cy="2743200"/>
          </a:xfrm>
          <a:prstGeom prst="roundRect">
            <a:avLst>
              <a:gd name="adj" fmla="val 3000"/>
            </a:avLst>
          </a:prstGeom>
          <a:solidFill>
            <a:srgbClr val="FBE9E1"/>
          </a:solidFill>
          <a:ln/>
          <a:effectLst>
            <a:outerShdw sx="100000" sy="100000" kx="0" ky="0" algn="bl" rotWithShape="0" blurRad="88900" dist="25400" dir="5400000">
              <a:srgbClr val="0A2942">
                <a:alpha val="16000"/>
              </a:srgbClr>
            </a:outerShdw>
          </a:effectLst>
        </p:spPr>
      </p:sp>
      <p:sp>
        <p:nvSpPr>
          <p:cNvPr id="10" name="Text 7"/>
          <p:cNvSpPr/>
          <p:nvPr/>
        </p:nvSpPr>
        <p:spPr>
          <a:xfrm>
            <a:off x="6949440" y="1536192"/>
            <a:ext cx="4434840" cy="36576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Pourquoi un élève « ne passe pas »</a:t>
            </a:r>
            <a:endParaRPr lang="en-US" sz="1400" dirty="0"/>
          </a:p>
        </p:txBody>
      </p:sp>
      <p:sp>
        <p:nvSpPr>
          <p:cNvPr id="11" name="Text 8"/>
          <p:cNvSpPr/>
          <p:nvPr/>
        </p:nvSpPr>
        <p:spPr>
          <a:xfrm>
            <a:off x="6995160" y="1965960"/>
            <a:ext cx="4434840" cy="205740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Rhume, sinusite : la trompe est encombrée de mucus — on ne force pas, on remonte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Crispation : la trompe est un tuyau musculaire. Un élève tendu ne compense pas — le problème est dans le relâchement, pas dans l'oreille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Anatomie : trompes étroites, coudes, polypes</a:t>
            </a:r>
            <a:endParaRPr lang="en-US" sz="1150" dirty="0"/>
          </a:p>
        </p:txBody>
      </p:sp>
      <p:sp>
        <p:nvSpPr>
          <p:cNvPr id="12" name="Shape 9"/>
          <p:cNvSpPr/>
          <p:nvPr/>
        </p:nvSpPr>
        <p:spPr>
          <a:xfrm>
            <a:off x="548640" y="4389120"/>
            <a:ext cx="11073384" cy="1600200"/>
          </a:xfrm>
          <a:prstGeom prst="roundRect">
            <a:avLst>
              <a:gd name="adj" fmla="val 5143"/>
            </a:avLst>
          </a:prstGeom>
          <a:solidFill>
            <a:srgbClr val="E7F3EC"/>
          </a:solidFill>
          <a:ln/>
          <a:effectLst>
            <a:outerShdw sx="100000" sy="100000" kx="0" ky="0" algn="bl" rotWithShape="0" blurRad="88900" dist="25400" dir="5400000">
              <a:srgbClr val="0A2942">
                <a:alpha val="16000"/>
              </a:srgbClr>
            </a:outerShdw>
          </a:effectLst>
        </p:spPr>
      </p:sp>
      <p:sp>
        <p:nvSpPr>
          <p:cNvPr id="13" name="Shape 10"/>
          <p:cNvSpPr/>
          <p:nvPr/>
        </p:nvSpPr>
        <p:spPr>
          <a:xfrm>
            <a:off x="822960" y="4663440"/>
            <a:ext cx="566928" cy="566928"/>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970361" y="4810841"/>
            <a:ext cx="272125" cy="272125"/>
          </a:xfrm>
          <a:prstGeom prst="rect">
            <a:avLst/>
          </a:prstGeom>
        </p:spPr>
      </p:pic>
      <p:sp>
        <p:nvSpPr>
          <p:cNvPr id="15" name="Text 11"/>
          <p:cNvSpPr/>
          <p:nvPr/>
        </p:nvSpPr>
        <p:spPr>
          <a:xfrm>
            <a:off x="1600200" y="4572000"/>
            <a:ext cx="9784080" cy="365760"/>
          </a:xfrm>
          <a:prstGeom prst="rect">
            <a:avLst/>
          </a:prstGeom>
          <a:noFill/>
          <a:ln/>
        </p:spPr>
        <p:txBody>
          <a:bodyPr wrap="square" lIns="0" tIns="0" rIns="0" bIns="0" rtlCol="0" anchor="ctr"/>
          <a:lstStyle/>
          <a:p>
            <a:pPr indent="0" marL="0">
              <a:buNone/>
            </a:pPr>
            <a:r>
              <a:rPr lang="en-US" sz="1400" b="1" dirty="0">
                <a:solidFill>
                  <a:srgbClr val="2C8C5A"/>
                </a:solidFill>
                <a:latin typeface="Calibri" pitchFamily="34" charset="0"/>
                <a:ea typeface="Calibri" pitchFamily="34" charset="-122"/>
                <a:cs typeface="Calibri" pitchFamily="34" charset="-120"/>
              </a:rPr>
              <a:t>La formule à donner mot pour mot à un élève</a:t>
            </a:r>
            <a:endParaRPr lang="en-US" sz="1400" dirty="0"/>
          </a:p>
        </p:txBody>
      </p:sp>
      <p:sp>
        <p:nvSpPr>
          <p:cNvPr id="16" name="Text 12"/>
          <p:cNvSpPr/>
          <p:nvPr/>
        </p:nvSpPr>
        <p:spPr>
          <a:xfrm>
            <a:off x="1600200" y="4983480"/>
            <a:ext cx="9738360" cy="868680"/>
          </a:xfrm>
          <a:prstGeom prst="rect">
            <a:avLst/>
          </a:prstGeom>
          <a:noFill/>
          <a:ln/>
        </p:spPr>
        <p:txBody>
          <a:bodyPr wrap="square" lIns="0" tIns="0" rIns="0" bIns="0" rtlCol="0" anchor="t"/>
          <a:lstStyle/>
          <a:p>
            <a:pPr indent="0" marL="0">
              <a:lnSpc>
                <a:spcPct val="115000"/>
              </a:lnSpc>
              <a:buNone/>
            </a:pPr>
            <a:r>
              <a:rPr lang="en-US" sz="1400" b="1" i="1" dirty="0">
                <a:solidFill>
                  <a:srgbClr val="1F3347"/>
                </a:solidFill>
                <a:latin typeface="Calibri" pitchFamily="34" charset="0"/>
                <a:ea typeface="Calibri" pitchFamily="34" charset="-122"/>
                <a:cs typeface="Calibri" pitchFamily="34" charset="-120"/>
              </a:rPr>
              <a:t>« On compense en douceur, avant d'avoir mal, et tout le long de la descente. »  </a:t>
            </a:r>
            <a:pPr indent="0" marL="0">
              <a:lnSpc>
                <a:spcPct val="115000"/>
              </a:lnSpc>
              <a:buNone/>
            </a:pPr>
            <a:r>
              <a:rPr lang="en-US" sz="1200" dirty="0">
                <a:solidFill>
                  <a:srgbClr val="1F3347"/>
                </a:solidFill>
                <a:latin typeface="Calibri" pitchFamily="34" charset="0"/>
                <a:ea typeface="Calibri" pitchFamily="34" charset="-122"/>
                <a:cs typeface="Calibri" pitchFamily="34" charset="-120"/>
              </a:rPr>
              <a:t>Trois idées en une phrase : la douceur, l'anticipation, la continuité. Quand la douleur est là, il est déjà tard.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2 · L'OREILLE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L'équilibre — et le vertige alterno-barique</a:t>
            </a:r>
            <a:endParaRPr lang="en-US" sz="2800" dirty="0"/>
          </a:p>
        </p:txBody>
      </p:sp>
      <p:sp>
        <p:nvSpPr>
          <p:cNvPr id="4" name="Shape 2"/>
          <p:cNvSpPr/>
          <p:nvPr/>
        </p:nvSpPr>
        <p:spPr>
          <a:xfrm>
            <a:off x="548640" y="1371600"/>
            <a:ext cx="5394960" cy="2651760"/>
          </a:xfrm>
          <a:prstGeom prst="roundRect">
            <a:avLst>
              <a:gd name="adj" fmla="val 3103"/>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627632"/>
            <a:ext cx="512064" cy="512064"/>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956097" y="1760769"/>
            <a:ext cx="245791" cy="245791"/>
          </a:xfrm>
          <a:prstGeom prst="rect">
            <a:avLst/>
          </a:prstGeom>
        </p:spPr>
      </p:pic>
      <p:sp>
        <p:nvSpPr>
          <p:cNvPr id="7" name="Text 4"/>
          <p:cNvSpPr/>
          <p:nvPr/>
        </p:nvSpPr>
        <p:spPr>
          <a:xfrm>
            <a:off x="1554480" y="1627632"/>
            <a:ext cx="4206240" cy="512064"/>
          </a:xfrm>
          <a:prstGeom prst="rect">
            <a:avLst/>
          </a:prstGeom>
          <a:noFill/>
          <a:ln/>
        </p:spPr>
        <p:txBody>
          <a:bodyPr wrap="square" lIns="0" tIns="0" rIns="0" bIns="0" rtlCol="0" anchor="ctr"/>
          <a:lstStyle/>
          <a:p>
            <a:pPr indent="0" marL="0">
              <a:buNone/>
            </a:pPr>
            <a:r>
              <a:rPr lang="en-US" sz="1400" b="1" dirty="0">
                <a:solidFill>
                  <a:srgbClr val="1F3347"/>
                </a:solidFill>
                <a:latin typeface="Calibri" pitchFamily="34" charset="0"/>
                <a:ea typeface="Calibri" pitchFamily="34" charset="-122"/>
                <a:cs typeface="Calibri" pitchFamily="34" charset="-120"/>
              </a:rPr>
              <a:t>La centrale d'équilibre</a:t>
            </a:r>
            <a:endParaRPr lang="en-US" sz="1400" dirty="0"/>
          </a:p>
        </p:txBody>
      </p:sp>
      <p:sp>
        <p:nvSpPr>
          <p:cNvPr id="8" name="Text 5"/>
          <p:cNvSpPr/>
          <p:nvPr/>
        </p:nvSpPr>
        <p:spPr>
          <a:xfrm>
            <a:off x="868680" y="2240280"/>
            <a:ext cx="4846320" cy="169164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3 canaux semi-circulaires remplis de liquide, orientés dans les 3 plans de l'espace</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Le mouvement du liquide couche des cils sensitifs → information au cerveau</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C'est ce qui permet de savoir où est le haut, yeux fermés, tête en bas</a:t>
            </a:r>
            <a:endParaRPr lang="en-US" sz="1200" dirty="0"/>
          </a:p>
        </p:txBody>
      </p:sp>
      <p:sp>
        <p:nvSpPr>
          <p:cNvPr id="9" name="Shape 6"/>
          <p:cNvSpPr/>
          <p:nvPr/>
        </p:nvSpPr>
        <p:spPr>
          <a:xfrm>
            <a:off x="6135624" y="1371600"/>
            <a:ext cx="5486400" cy="2651760"/>
          </a:xfrm>
          <a:prstGeom prst="roundRect">
            <a:avLst>
              <a:gd name="adj" fmla="val 3103"/>
            </a:avLst>
          </a:prstGeom>
          <a:solidFill>
            <a:srgbClr val="FBE9E1"/>
          </a:solidFill>
          <a:ln/>
          <a:effectLst>
            <a:outerShdw sx="100000" sy="100000" kx="0" ky="0" algn="bl" rotWithShape="0" blurRad="88900" dist="25400" dir="5400000">
              <a:srgbClr val="0A2942">
                <a:alpha val="16000"/>
              </a:srgbClr>
            </a:outerShdw>
          </a:effectLst>
        </p:spPr>
      </p:sp>
      <p:sp>
        <p:nvSpPr>
          <p:cNvPr id="10" name="Shape 7"/>
          <p:cNvSpPr/>
          <p:nvPr/>
        </p:nvSpPr>
        <p:spPr>
          <a:xfrm>
            <a:off x="6409944" y="1627632"/>
            <a:ext cx="512064" cy="512064"/>
          </a:xfrm>
          <a:prstGeom prst="ellipse">
            <a:avLst/>
          </a:prstGeom>
          <a:solidFill>
            <a:srgbClr val="D9541E"/>
          </a:solidFill>
          <a:ln/>
        </p:spPr>
      </p:sp>
      <p:pic>
        <p:nvPicPr>
          <p:cNvPr id="11" name="Image 1" descr="preencoded.png">    </p:cNvPr>
          <p:cNvPicPr>
            <a:picLocks noChangeAspect="1"/>
          </p:cNvPicPr>
          <p:nvPr/>
        </p:nvPicPr>
        <p:blipFill>
          <a:blip r:embed="rId2"/>
          <a:stretch>
            <a:fillRect/>
          </a:stretch>
        </p:blipFill>
        <p:spPr>
          <a:xfrm>
            <a:off x="6543081" y="1760769"/>
            <a:ext cx="245791" cy="245791"/>
          </a:xfrm>
          <a:prstGeom prst="rect">
            <a:avLst/>
          </a:prstGeom>
        </p:spPr>
      </p:pic>
      <p:sp>
        <p:nvSpPr>
          <p:cNvPr id="12" name="Text 8"/>
          <p:cNvSpPr/>
          <p:nvPr/>
        </p:nvSpPr>
        <p:spPr>
          <a:xfrm>
            <a:off x="7141464" y="1627632"/>
            <a:ext cx="4297680" cy="512064"/>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Le vertige alterno-barique</a:t>
            </a:r>
            <a:endParaRPr lang="en-US" sz="1400" dirty="0"/>
          </a:p>
        </p:txBody>
      </p:sp>
      <p:sp>
        <p:nvSpPr>
          <p:cNvPr id="13" name="Text 9"/>
          <p:cNvSpPr/>
          <p:nvPr/>
        </p:nvSpPr>
        <p:spPr>
          <a:xfrm>
            <a:off x="6409944" y="2240280"/>
            <a:ext cx="4937760" cy="960120"/>
          </a:xfrm>
          <a:prstGeom prst="rect">
            <a:avLst/>
          </a:prstGeom>
          <a:noFill/>
          <a:ln/>
        </p:spPr>
        <p:txBody>
          <a:bodyPr wrap="square" lIns="0" tIns="0" rIns="0" bIns="0" rtlCol="0" anchor="t"/>
          <a:lstStyle/>
          <a:p>
            <a:pPr indent="0" marL="0">
              <a:lnSpc>
                <a:spcPct val="110000"/>
              </a:lnSpc>
              <a:buNone/>
            </a:pPr>
            <a:r>
              <a:rPr lang="en-US" sz="1150" dirty="0">
                <a:solidFill>
                  <a:srgbClr val="1F3347"/>
                </a:solidFill>
                <a:latin typeface="Calibri" pitchFamily="34" charset="0"/>
                <a:ea typeface="Calibri" pitchFamily="34" charset="-122"/>
                <a:cs typeface="Calibri" pitchFamily="34" charset="-120"/>
              </a:rPr>
              <a:t>À la remontée, une oreille s'équilibre et pas l'autre : le cerveau reçoit deux messages contradictoires. La personne ne sait plus où est la surface — à quelques mètres du bateau, c'est un vrai danger.</a:t>
            </a:r>
            <a:endParaRPr lang="en-US" sz="1150" dirty="0"/>
          </a:p>
        </p:txBody>
      </p:sp>
      <p:sp>
        <p:nvSpPr>
          <p:cNvPr id="14" name="Text 10"/>
          <p:cNvSpPr/>
          <p:nvPr/>
        </p:nvSpPr>
        <p:spPr>
          <a:xfrm>
            <a:off x="6409944" y="3246120"/>
            <a:ext cx="4937760" cy="685800"/>
          </a:xfrm>
          <a:prstGeom prst="rect">
            <a:avLst/>
          </a:prstGeom>
          <a:noFill/>
          <a:ln/>
        </p:spPr>
        <p:txBody>
          <a:bodyPr wrap="square" lIns="0" tIns="0" rIns="0" bIns="0" rtlCol="0" anchor="t"/>
          <a:lstStyle/>
          <a:p>
            <a:pPr indent="0" marL="0">
              <a:lnSpc>
                <a:spcPct val="110000"/>
              </a:lnSpc>
              <a:buNone/>
            </a:pPr>
            <a:r>
              <a:rPr lang="en-US" sz="1150" b="1" dirty="0">
                <a:solidFill>
                  <a:srgbClr val="9C3A10"/>
                </a:solidFill>
                <a:latin typeface="Calibri" pitchFamily="34" charset="0"/>
                <a:ea typeface="Calibri" pitchFamily="34" charset="-122"/>
                <a:cs typeface="Calibri" pitchFamily="34" charset="-120"/>
              </a:rPr>
              <a:t>Consigne élève : </a:t>
            </a:r>
            <a:pPr indent="0" marL="0">
              <a:lnSpc>
                <a:spcPct val="110000"/>
              </a:lnSpc>
              <a:buNone/>
            </a:pPr>
            <a:r>
              <a:rPr lang="en-US" sz="1150" dirty="0">
                <a:solidFill>
                  <a:srgbClr val="1F3347"/>
                </a:solidFill>
                <a:latin typeface="Calibri" pitchFamily="34" charset="0"/>
                <a:ea typeface="Calibri" pitchFamily="34" charset="-122"/>
                <a:cs typeface="Calibri" pitchFamily="34" charset="-120"/>
              </a:rPr>
              <a:t>ne pas paniquer (ça passe), redescendre légèrement pour rééquilibrer, remonter lentement.</a:t>
            </a:r>
            <a:endParaRPr lang="en-US" sz="1150" dirty="0"/>
          </a:p>
        </p:txBody>
      </p:sp>
      <p:sp>
        <p:nvSpPr>
          <p:cNvPr id="15" name="Shape 11"/>
          <p:cNvSpPr/>
          <p:nvPr/>
        </p:nvSpPr>
        <p:spPr>
          <a:xfrm>
            <a:off x="548640" y="4297680"/>
            <a:ext cx="11073384" cy="1691640"/>
          </a:xfrm>
          <a:prstGeom prst="roundRect">
            <a:avLst>
              <a:gd name="adj" fmla="val 4865"/>
            </a:avLst>
          </a:prstGeom>
          <a:solidFill>
            <a:srgbClr val="DCEBF5"/>
          </a:solidFill>
          <a:ln/>
          <a:effectLst>
            <a:outerShdw sx="100000" sy="100000" kx="0" ky="0" algn="bl" rotWithShape="0" blurRad="88900" dist="25400" dir="5400000">
              <a:srgbClr val="0A2942">
                <a:alpha val="16000"/>
              </a:srgbClr>
            </a:outerShdw>
          </a:effectLst>
        </p:spPr>
      </p:sp>
      <p:sp>
        <p:nvSpPr>
          <p:cNvPr id="16" name="Shape 12"/>
          <p:cNvSpPr/>
          <p:nvPr/>
        </p:nvSpPr>
        <p:spPr>
          <a:xfrm>
            <a:off x="822960" y="4572000"/>
            <a:ext cx="566928" cy="566928"/>
          </a:xfrm>
          <a:prstGeom prst="ellipse">
            <a:avLst/>
          </a:prstGeom>
          <a:solidFill>
            <a:srgbClr val="065A82"/>
          </a:solidFill>
          <a:ln/>
        </p:spPr>
      </p:sp>
      <p:pic>
        <p:nvPicPr>
          <p:cNvPr id="17" name="Image 2" descr="preencoded.png">    </p:cNvPr>
          <p:cNvPicPr>
            <a:picLocks noChangeAspect="1"/>
          </p:cNvPicPr>
          <p:nvPr/>
        </p:nvPicPr>
        <p:blipFill>
          <a:blip r:embed="rId3"/>
          <a:stretch>
            <a:fillRect/>
          </a:stretch>
        </p:blipFill>
        <p:spPr>
          <a:xfrm>
            <a:off x="970361" y="4719401"/>
            <a:ext cx="272125" cy="272125"/>
          </a:xfrm>
          <a:prstGeom prst="rect">
            <a:avLst/>
          </a:prstGeom>
        </p:spPr>
      </p:pic>
      <p:sp>
        <p:nvSpPr>
          <p:cNvPr id="18" name="Text 13"/>
          <p:cNvSpPr/>
          <p:nvPr/>
        </p:nvSpPr>
        <p:spPr>
          <a:xfrm>
            <a:off x="1600200" y="4480560"/>
            <a:ext cx="978408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Le signal qui n'est jamais banal</a:t>
            </a:r>
            <a:endParaRPr lang="en-US" sz="1400" dirty="0"/>
          </a:p>
        </p:txBody>
      </p:sp>
      <p:sp>
        <p:nvSpPr>
          <p:cNvPr id="19" name="Text 14"/>
          <p:cNvSpPr/>
          <p:nvPr/>
        </p:nvSpPr>
        <p:spPr>
          <a:xfrm>
            <a:off x="1600200" y="4864608"/>
            <a:ext cx="9738360" cy="1005840"/>
          </a:xfrm>
          <a:prstGeom prst="rect">
            <a:avLst/>
          </a:prstGeom>
          <a:noFill/>
          <a:ln/>
        </p:spPr>
        <p:txBody>
          <a:bodyPr wrap="square" lIns="0" tIns="0" rIns="0" bIns="0" rtlCol="0" anchor="t"/>
          <a:lstStyle/>
          <a:p>
            <a:pPr indent="0" marL="0">
              <a:lnSpc>
                <a:spcPct val="115000"/>
              </a:lnSpc>
              <a:buNone/>
            </a:pPr>
            <a:r>
              <a:rPr lang="en-US" sz="1200" dirty="0">
                <a:solidFill>
                  <a:srgbClr val="1F3347"/>
                </a:solidFill>
                <a:latin typeface="Calibri" pitchFamily="34" charset="0"/>
                <a:ea typeface="Calibri" pitchFamily="34" charset="-122"/>
                <a:cs typeface="Calibri" pitchFamily="34" charset="-120"/>
              </a:rPr>
              <a:t>Toute l'audition repose sur un tympan mobile. Un élève qui signale après la séance une baisse d'audition, un bourdonnement, une sensation d'oreille bouchée ou pleine : consultation ORL, et pas de plongée avant l'avis médical. Une lésion de l'oreille interne se joue là.</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trajet de l'air : ce que le nez fait — et que le tuba supprime</a:t>
            </a:r>
            <a:endParaRPr lang="en-US" sz="2800" dirty="0"/>
          </a:p>
        </p:txBody>
      </p:sp>
      <p:sp>
        <p:nvSpPr>
          <p:cNvPr id="4" name="Shape 2"/>
          <p:cNvSpPr/>
          <p:nvPr/>
        </p:nvSpPr>
        <p:spPr>
          <a:xfrm>
            <a:off x="548640" y="1463040"/>
            <a:ext cx="2112264" cy="1737360"/>
          </a:xfrm>
          <a:prstGeom prst="roundRect">
            <a:avLst>
              <a:gd name="adj" fmla="val 4211"/>
            </a:avLst>
          </a:prstGeom>
          <a:solidFill>
            <a:srgbClr val="1C7293"/>
          </a:solidFill>
          <a:ln/>
          <a:effectLst>
            <a:outerShdw sx="100000" sy="100000" kx="0" ky="0" algn="bl" rotWithShape="0" blurRad="88900" dist="25400" dir="5400000">
              <a:srgbClr val="0A2942">
                <a:alpha val="16000"/>
              </a:srgbClr>
            </a:outerShdw>
          </a:effectLst>
        </p:spPr>
      </p:sp>
      <p:sp>
        <p:nvSpPr>
          <p:cNvPr id="5" name="Text 3"/>
          <p:cNvSpPr/>
          <p:nvPr/>
        </p:nvSpPr>
        <p:spPr>
          <a:xfrm>
            <a:off x="731520" y="160934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Nez</a:t>
            </a:r>
            <a:endParaRPr lang="en-US" sz="1200" dirty="0"/>
          </a:p>
        </p:txBody>
      </p:sp>
      <p:sp>
        <p:nvSpPr>
          <p:cNvPr id="6" name="Text 4"/>
          <p:cNvSpPr/>
          <p:nvPr/>
        </p:nvSpPr>
        <p:spPr>
          <a:xfrm>
            <a:off x="731520" y="2176272"/>
            <a:ext cx="1746504" cy="87782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Réchauffe, humidifie, filtre (poils + mucus)</a:t>
            </a:r>
            <a:endParaRPr lang="en-US" sz="1000" dirty="0"/>
          </a:p>
        </p:txBody>
      </p:sp>
      <p:sp>
        <p:nvSpPr>
          <p:cNvPr id="7" name="Text 5"/>
          <p:cNvSpPr/>
          <p:nvPr/>
        </p:nvSpPr>
        <p:spPr>
          <a:xfrm>
            <a:off x="2633472" y="210312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2788920" y="1463040"/>
            <a:ext cx="2112264" cy="1737360"/>
          </a:xfrm>
          <a:prstGeom prst="roundRect">
            <a:avLst>
              <a:gd name="adj" fmla="val 4211"/>
            </a:avLst>
          </a:prstGeom>
          <a:solidFill>
            <a:srgbClr val="065A82"/>
          </a:solidFill>
          <a:ln/>
          <a:effectLst>
            <a:outerShdw sx="100000" sy="100000" kx="0" ky="0" algn="bl" rotWithShape="0" blurRad="88900" dist="25400" dir="5400000">
              <a:srgbClr val="0A2942">
                <a:alpha val="16000"/>
              </a:srgbClr>
            </a:outerShdw>
          </a:effectLst>
        </p:spPr>
      </p:sp>
      <p:sp>
        <p:nvSpPr>
          <p:cNvPr id="9" name="Text 7"/>
          <p:cNvSpPr/>
          <p:nvPr/>
        </p:nvSpPr>
        <p:spPr>
          <a:xfrm>
            <a:off x="2971800" y="160934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Pharynx</a:t>
            </a:r>
            <a:endParaRPr lang="en-US" sz="1200" dirty="0"/>
          </a:p>
        </p:txBody>
      </p:sp>
      <p:sp>
        <p:nvSpPr>
          <p:cNvPr id="10" name="Text 8"/>
          <p:cNvSpPr/>
          <p:nvPr/>
        </p:nvSpPr>
        <p:spPr>
          <a:xfrm>
            <a:off x="2971800" y="2176272"/>
            <a:ext cx="1746504" cy="87782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Carrefour air / aliments — les trompes d'Eustache y débouchent</a:t>
            </a:r>
            <a:endParaRPr lang="en-US" sz="1000" dirty="0"/>
          </a:p>
        </p:txBody>
      </p:sp>
      <p:sp>
        <p:nvSpPr>
          <p:cNvPr id="11" name="Text 9"/>
          <p:cNvSpPr/>
          <p:nvPr/>
        </p:nvSpPr>
        <p:spPr>
          <a:xfrm>
            <a:off x="4873752" y="210312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5029200" y="1463040"/>
            <a:ext cx="2112264" cy="1737360"/>
          </a:xfrm>
          <a:prstGeom prst="roundRect">
            <a:avLst>
              <a:gd name="adj" fmla="val 4211"/>
            </a:avLst>
          </a:prstGeom>
          <a:solidFill>
            <a:srgbClr val="065A82"/>
          </a:solidFill>
          <a:ln/>
          <a:effectLst>
            <a:outerShdw sx="100000" sy="100000" kx="0" ky="0" algn="bl" rotWithShape="0" blurRad="88900" dist="25400" dir="5400000">
              <a:srgbClr val="0A2942">
                <a:alpha val="16000"/>
              </a:srgbClr>
            </a:outerShdw>
          </a:effectLst>
        </p:spPr>
      </p:sp>
      <p:sp>
        <p:nvSpPr>
          <p:cNvPr id="13" name="Text 11"/>
          <p:cNvSpPr/>
          <p:nvPr/>
        </p:nvSpPr>
        <p:spPr>
          <a:xfrm>
            <a:off x="5212080" y="160934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Larynx</a:t>
            </a:r>
            <a:endParaRPr lang="en-US" sz="1200" dirty="0"/>
          </a:p>
        </p:txBody>
      </p:sp>
      <p:sp>
        <p:nvSpPr>
          <p:cNvPr id="14" name="Text 12"/>
          <p:cNvSpPr/>
          <p:nvPr/>
        </p:nvSpPr>
        <p:spPr>
          <a:xfrm>
            <a:off x="5212080" y="2176272"/>
            <a:ext cx="1746504" cy="87782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Cordes vocales, épiglotte — c'est ici qu'on bloque sa respiration (glotte)</a:t>
            </a:r>
            <a:endParaRPr lang="en-US" sz="1000" dirty="0"/>
          </a:p>
        </p:txBody>
      </p:sp>
      <p:sp>
        <p:nvSpPr>
          <p:cNvPr id="15" name="Text 13"/>
          <p:cNvSpPr/>
          <p:nvPr/>
        </p:nvSpPr>
        <p:spPr>
          <a:xfrm>
            <a:off x="7114032" y="210312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7269480" y="1463040"/>
            <a:ext cx="2112264" cy="1737360"/>
          </a:xfrm>
          <a:prstGeom prst="roundRect">
            <a:avLst>
              <a:gd name="adj" fmla="val 4211"/>
            </a:avLst>
          </a:prstGeom>
          <a:solidFill>
            <a:srgbClr val="065A82"/>
          </a:solidFill>
          <a:ln/>
          <a:effectLst>
            <a:outerShdw sx="100000" sy="100000" kx="0" ky="0" algn="bl" rotWithShape="0" blurRad="88900" dist="25400" dir="5400000">
              <a:srgbClr val="0A2942">
                <a:alpha val="16000"/>
              </a:srgbClr>
            </a:outerShdw>
          </a:effectLst>
        </p:spPr>
      </p:sp>
      <p:sp>
        <p:nvSpPr>
          <p:cNvPr id="17" name="Text 15"/>
          <p:cNvSpPr/>
          <p:nvPr/>
        </p:nvSpPr>
        <p:spPr>
          <a:xfrm>
            <a:off x="7452360" y="160934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Trachée &amp; bronches</a:t>
            </a:r>
            <a:endParaRPr lang="en-US" sz="1200" dirty="0"/>
          </a:p>
        </p:txBody>
      </p:sp>
      <p:sp>
        <p:nvSpPr>
          <p:cNvPr id="18" name="Text 16"/>
          <p:cNvSpPr/>
          <p:nvPr/>
        </p:nvSpPr>
        <p:spPr>
          <a:xfrm>
            <a:off x="7452360" y="2176272"/>
            <a:ext cx="1746504" cy="87782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 20 anneaux de cartilage, puis divisions successives</a:t>
            </a:r>
            <a:endParaRPr lang="en-US" sz="1000" dirty="0"/>
          </a:p>
        </p:txBody>
      </p:sp>
      <p:sp>
        <p:nvSpPr>
          <p:cNvPr id="19" name="Text 17"/>
          <p:cNvSpPr/>
          <p:nvPr/>
        </p:nvSpPr>
        <p:spPr>
          <a:xfrm>
            <a:off x="9354312" y="210312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9509760" y="1463040"/>
            <a:ext cx="2112264" cy="1737360"/>
          </a:xfrm>
          <a:prstGeom prst="roundRect">
            <a:avLst>
              <a:gd name="adj" fmla="val 4211"/>
            </a:avLst>
          </a:prstGeom>
          <a:solidFill>
            <a:srgbClr val="2C8C5A"/>
          </a:solidFill>
          <a:ln/>
          <a:effectLst>
            <a:outerShdw sx="100000" sy="100000" kx="0" ky="0" algn="bl" rotWithShape="0" blurRad="88900" dist="25400" dir="5400000">
              <a:srgbClr val="0A2942">
                <a:alpha val="16000"/>
              </a:srgbClr>
            </a:outerShdw>
          </a:effectLst>
        </p:spPr>
      </p:sp>
      <p:sp>
        <p:nvSpPr>
          <p:cNvPr id="21" name="Text 19"/>
          <p:cNvSpPr/>
          <p:nvPr/>
        </p:nvSpPr>
        <p:spPr>
          <a:xfrm>
            <a:off x="9692640" y="160934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Alvéoles</a:t>
            </a:r>
            <a:endParaRPr lang="en-US" sz="1200" dirty="0"/>
          </a:p>
        </p:txBody>
      </p:sp>
      <p:sp>
        <p:nvSpPr>
          <p:cNvPr id="22" name="Text 20"/>
          <p:cNvSpPr/>
          <p:nvPr/>
        </p:nvSpPr>
        <p:spPr>
          <a:xfrm>
            <a:off x="9692640" y="2176272"/>
            <a:ext cx="1746504" cy="87782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Le lieu de l'échange gazeux</a:t>
            </a:r>
            <a:endParaRPr lang="en-US" sz="1000" dirty="0"/>
          </a:p>
        </p:txBody>
      </p:sp>
      <p:sp>
        <p:nvSpPr>
          <p:cNvPr id="23" name="Shape 21"/>
          <p:cNvSpPr/>
          <p:nvPr/>
        </p:nvSpPr>
        <p:spPr>
          <a:xfrm>
            <a:off x="548640" y="3520440"/>
            <a:ext cx="5440680" cy="2468880"/>
          </a:xfrm>
          <a:prstGeom prst="roundRect">
            <a:avLst>
              <a:gd name="adj" fmla="val 3333"/>
            </a:avLst>
          </a:prstGeom>
          <a:solidFill>
            <a:srgbClr val="DCEBF5"/>
          </a:solidFill>
          <a:ln/>
          <a:effectLst>
            <a:outerShdw sx="100000" sy="100000" kx="0" ky="0" algn="bl" rotWithShape="0" blurRad="88900" dist="25400" dir="5400000">
              <a:srgbClr val="0A2942">
                <a:alpha val="16000"/>
              </a:srgbClr>
            </a:outerShdw>
          </a:effectLst>
        </p:spPr>
      </p:sp>
      <p:sp>
        <p:nvSpPr>
          <p:cNvPr id="24" name="Shape 22"/>
          <p:cNvSpPr/>
          <p:nvPr/>
        </p:nvSpPr>
        <p:spPr>
          <a:xfrm>
            <a:off x="822960" y="3776472"/>
            <a:ext cx="512064" cy="512064"/>
          </a:xfrm>
          <a:prstGeom prst="ellipse">
            <a:avLst/>
          </a:prstGeom>
          <a:solidFill>
            <a:srgbClr val="065A82"/>
          </a:solidFill>
          <a:ln/>
        </p:spPr>
      </p:sp>
      <p:pic>
        <p:nvPicPr>
          <p:cNvPr id="25" name="Image 0" descr="preencoded.png">    </p:cNvPr>
          <p:cNvPicPr>
            <a:picLocks noChangeAspect="1"/>
          </p:cNvPicPr>
          <p:nvPr/>
        </p:nvPicPr>
        <p:blipFill>
          <a:blip r:embed="rId1"/>
          <a:stretch>
            <a:fillRect/>
          </a:stretch>
        </p:blipFill>
        <p:spPr>
          <a:xfrm>
            <a:off x="956097" y="3909609"/>
            <a:ext cx="245791" cy="245791"/>
          </a:xfrm>
          <a:prstGeom prst="rect">
            <a:avLst/>
          </a:prstGeom>
        </p:spPr>
      </p:pic>
      <p:sp>
        <p:nvSpPr>
          <p:cNvPr id="26" name="Text 23"/>
          <p:cNvSpPr/>
          <p:nvPr/>
        </p:nvSpPr>
        <p:spPr>
          <a:xfrm>
            <a:off x="1554480" y="3776472"/>
            <a:ext cx="4297680" cy="512064"/>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En apnée, on respire par la bouche</a:t>
            </a:r>
            <a:endParaRPr lang="en-US" sz="1350" dirty="0"/>
          </a:p>
        </p:txBody>
      </p:sp>
      <p:sp>
        <p:nvSpPr>
          <p:cNvPr id="27" name="Text 24"/>
          <p:cNvSpPr/>
          <p:nvPr/>
        </p:nvSpPr>
        <p:spPr>
          <a:xfrm>
            <a:off x="822960" y="4389120"/>
            <a:ext cx="4892040" cy="146304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Le tuba court-circuite le nez : plus de réchauffement, plus de filtration, plus d'humidification. L'air arrive brut dans les poumons — d'où gorge sèche, toux et irritation après une longue séance en eau froide.</a:t>
            </a:r>
            <a:endParaRPr lang="en-US" sz="1150" dirty="0"/>
          </a:p>
        </p:txBody>
      </p:sp>
      <p:sp>
        <p:nvSpPr>
          <p:cNvPr id="28" name="Shape 25"/>
          <p:cNvSpPr/>
          <p:nvPr/>
        </p:nvSpPr>
        <p:spPr>
          <a:xfrm>
            <a:off x="6181344" y="3520440"/>
            <a:ext cx="5440680" cy="2468880"/>
          </a:xfrm>
          <a:prstGeom prst="roundRect">
            <a:avLst>
              <a:gd name="adj" fmla="val 3333"/>
            </a:avLst>
          </a:prstGeom>
          <a:solidFill>
            <a:srgbClr val="FBE9E1"/>
          </a:solidFill>
          <a:ln/>
          <a:effectLst>
            <a:outerShdw sx="100000" sy="100000" kx="0" ky="0" algn="bl" rotWithShape="0" blurRad="88900" dist="25400" dir="5400000">
              <a:srgbClr val="0A2942">
                <a:alpha val="16000"/>
              </a:srgbClr>
            </a:outerShdw>
          </a:effectLst>
        </p:spPr>
      </p:sp>
      <p:sp>
        <p:nvSpPr>
          <p:cNvPr id="29" name="Shape 26"/>
          <p:cNvSpPr/>
          <p:nvPr/>
        </p:nvSpPr>
        <p:spPr>
          <a:xfrm>
            <a:off x="6455664" y="3776472"/>
            <a:ext cx="512064" cy="512064"/>
          </a:xfrm>
          <a:prstGeom prst="ellipse">
            <a:avLst/>
          </a:prstGeom>
          <a:solidFill>
            <a:srgbClr val="D9541E"/>
          </a:solidFill>
          <a:ln/>
        </p:spPr>
      </p:sp>
      <p:pic>
        <p:nvPicPr>
          <p:cNvPr id="30" name="Image 1" descr="preencoded.png">    </p:cNvPr>
          <p:cNvPicPr>
            <a:picLocks noChangeAspect="1"/>
          </p:cNvPicPr>
          <p:nvPr/>
        </p:nvPicPr>
        <p:blipFill>
          <a:blip r:embed="rId2"/>
          <a:stretch>
            <a:fillRect/>
          </a:stretch>
        </p:blipFill>
        <p:spPr>
          <a:xfrm>
            <a:off x="6588801" y="3909609"/>
            <a:ext cx="245791" cy="245791"/>
          </a:xfrm>
          <a:prstGeom prst="rect">
            <a:avLst/>
          </a:prstGeom>
        </p:spPr>
      </p:pic>
      <p:sp>
        <p:nvSpPr>
          <p:cNvPr id="31" name="Text 27"/>
          <p:cNvSpPr/>
          <p:nvPr/>
        </p:nvSpPr>
        <p:spPr>
          <a:xfrm>
            <a:off x="7187184" y="3776472"/>
            <a:ext cx="4297680" cy="512064"/>
          </a:xfrm>
          <a:prstGeom prst="rect">
            <a:avLst/>
          </a:prstGeom>
          <a:noFill/>
          <a:ln/>
        </p:spPr>
        <p:txBody>
          <a:bodyPr wrap="square" lIns="0" tIns="0" rIns="0" bIns="0" rtlCol="0" anchor="ctr"/>
          <a:lstStyle/>
          <a:p>
            <a:pPr indent="0" marL="0">
              <a:buNone/>
            </a:pPr>
            <a:r>
              <a:rPr lang="en-US" sz="1350" b="1" dirty="0">
                <a:solidFill>
                  <a:srgbClr val="9C3A10"/>
                </a:solidFill>
                <a:latin typeface="Calibri" pitchFamily="34" charset="0"/>
                <a:ea typeface="Calibri" pitchFamily="34" charset="-122"/>
                <a:cs typeface="Calibri" pitchFamily="34" charset="-120"/>
              </a:rPr>
              <a:t>Conséquence pour le cadre</a:t>
            </a:r>
            <a:endParaRPr lang="en-US" sz="1350" dirty="0"/>
          </a:p>
        </p:txBody>
      </p:sp>
      <p:sp>
        <p:nvSpPr>
          <p:cNvPr id="32" name="Text 28"/>
          <p:cNvSpPr/>
          <p:nvPr/>
        </p:nvSpPr>
        <p:spPr>
          <a:xfrm>
            <a:off x="6455664" y="4389120"/>
            <a:ext cx="4892040" cy="146304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Une gêne respiratoire signalée après une séance ne se banalise jamais : les voies aériennes ont travaillé sans leurs protections naturelles, et le réchauffement de l'air compte dès qu'une lésion pulmonaire est possible.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L'alvéole : un échangeur immense et fragile</a:t>
            </a:r>
            <a:endParaRPr lang="en-US" sz="2800" dirty="0"/>
          </a:p>
        </p:txBody>
      </p:sp>
      <p:sp>
        <p:nvSpPr>
          <p:cNvPr id="4" name="Shape 2"/>
          <p:cNvSpPr/>
          <p:nvPr/>
        </p:nvSpPr>
        <p:spPr>
          <a:xfrm>
            <a:off x="548640" y="1417320"/>
            <a:ext cx="3602736" cy="2926080"/>
          </a:xfrm>
          <a:prstGeom prst="roundRect">
            <a:avLst>
              <a:gd name="adj" fmla="val 2813"/>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822960" y="1600200"/>
            <a:ext cx="3054096" cy="777240"/>
          </a:xfrm>
          <a:prstGeom prst="rect">
            <a:avLst/>
          </a:prstGeom>
          <a:noFill/>
          <a:ln/>
        </p:spPr>
        <p:txBody>
          <a:bodyPr wrap="square" lIns="0" tIns="0" rIns="0" bIns="0" rtlCol="0" anchor="ctr"/>
          <a:lstStyle/>
          <a:p>
            <a:pPr indent="0" marL="0">
              <a:buNone/>
            </a:pPr>
            <a:r>
              <a:rPr lang="en-US" sz="3800" b="1" dirty="0">
                <a:solidFill>
                  <a:srgbClr val="065A82"/>
                </a:solidFill>
                <a:latin typeface="Cambria" pitchFamily="34" charset="0"/>
                <a:ea typeface="Cambria" pitchFamily="34" charset="-122"/>
                <a:cs typeface="Cambria" pitchFamily="34" charset="-120"/>
              </a:rPr>
              <a:t>150 m²</a:t>
            </a:r>
            <a:endParaRPr lang="en-US" sz="3800" dirty="0"/>
          </a:p>
        </p:txBody>
      </p:sp>
      <p:sp>
        <p:nvSpPr>
          <p:cNvPr id="6" name="Text 4"/>
          <p:cNvSpPr/>
          <p:nvPr/>
        </p:nvSpPr>
        <p:spPr>
          <a:xfrm>
            <a:off x="822960" y="2423160"/>
            <a:ext cx="3054096" cy="36576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de surface d'échange</a:t>
            </a:r>
            <a:endParaRPr lang="en-US" sz="1350" dirty="0"/>
          </a:p>
        </p:txBody>
      </p:sp>
      <p:sp>
        <p:nvSpPr>
          <p:cNvPr id="7" name="Text 5"/>
          <p:cNvSpPr/>
          <p:nvPr/>
        </p:nvSpPr>
        <p:spPr>
          <a:xfrm>
            <a:off x="822960" y="2834640"/>
            <a:ext cx="3054096" cy="1371600"/>
          </a:xfrm>
          <a:prstGeom prst="rect">
            <a:avLst/>
          </a:prstGeom>
          <a:noFill/>
          <a:ln/>
        </p:spPr>
        <p:txBody>
          <a:bodyPr wrap="square" lIns="0" tIns="0" rIns="0" bIns="0" rtlCol="0" anchor="t"/>
          <a:lstStyle/>
          <a:p>
            <a:pPr indent="0" marL="0">
              <a:lnSpc>
                <a:spcPct val="112000"/>
              </a:lnSpc>
              <a:buNone/>
            </a:pPr>
            <a:r>
              <a:rPr lang="en-US" sz="1100" dirty="0">
                <a:solidFill>
                  <a:srgbClr val="5B7288"/>
                </a:solidFill>
                <a:latin typeface="Calibri" pitchFamily="34" charset="0"/>
                <a:ea typeface="Calibri" pitchFamily="34" charset="-122"/>
                <a:cs typeface="Calibri" pitchFamily="34" charset="-120"/>
              </a:rPr>
              <a:t>L'équivalent d'un court de tennis, replié dans le thorax. C'est ce qui rend l'oxygénation du sang quasi instantanée.</a:t>
            </a:r>
            <a:endParaRPr lang="en-US" sz="1100" dirty="0"/>
          </a:p>
        </p:txBody>
      </p:sp>
      <p:sp>
        <p:nvSpPr>
          <p:cNvPr id="8" name="Shape 6"/>
          <p:cNvSpPr/>
          <p:nvPr/>
        </p:nvSpPr>
        <p:spPr>
          <a:xfrm>
            <a:off x="4343400" y="1417320"/>
            <a:ext cx="3602736" cy="2926080"/>
          </a:xfrm>
          <a:prstGeom prst="roundRect">
            <a:avLst>
              <a:gd name="adj" fmla="val 2813"/>
            </a:avLst>
          </a:prstGeom>
          <a:solidFill>
            <a:srgbClr val="F2F7FB"/>
          </a:solidFill>
          <a:ln/>
          <a:effectLst>
            <a:outerShdw sx="100000" sy="100000" kx="0" ky="0" algn="bl" rotWithShape="0" blurRad="88900" dist="25400" dir="5400000">
              <a:srgbClr val="0A2942">
                <a:alpha val="16000"/>
              </a:srgbClr>
            </a:outerShdw>
          </a:effectLst>
        </p:spPr>
      </p:sp>
      <p:sp>
        <p:nvSpPr>
          <p:cNvPr id="9" name="Text 7"/>
          <p:cNvSpPr/>
          <p:nvPr/>
        </p:nvSpPr>
        <p:spPr>
          <a:xfrm>
            <a:off x="4617720" y="1600200"/>
            <a:ext cx="3054096" cy="777240"/>
          </a:xfrm>
          <a:prstGeom prst="rect">
            <a:avLst/>
          </a:prstGeom>
          <a:noFill/>
          <a:ln/>
        </p:spPr>
        <p:txBody>
          <a:bodyPr wrap="square" lIns="0" tIns="0" rIns="0" bIns="0" rtlCol="0" anchor="ctr"/>
          <a:lstStyle/>
          <a:p>
            <a:pPr indent="0" marL="0">
              <a:buNone/>
            </a:pPr>
            <a:r>
              <a:rPr lang="en-US" sz="3800" b="1" dirty="0">
                <a:solidFill>
                  <a:srgbClr val="065A82"/>
                </a:solidFill>
                <a:latin typeface="Cambria" pitchFamily="34" charset="0"/>
                <a:ea typeface="Cambria" pitchFamily="34" charset="-122"/>
                <a:cs typeface="Cambria" pitchFamily="34" charset="-120"/>
              </a:rPr>
              <a:t>2 µm</a:t>
            </a:r>
            <a:endParaRPr lang="en-US" sz="3800" dirty="0"/>
          </a:p>
        </p:txBody>
      </p:sp>
      <p:sp>
        <p:nvSpPr>
          <p:cNvPr id="10" name="Text 8"/>
          <p:cNvSpPr/>
          <p:nvPr/>
        </p:nvSpPr>
        <p:spPr>
          <a:xfrm>
            <a:off x="4617720" y="2423160"/>
            <a:ext cx="3054096" cy="36576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d'épaisseur de paroi</a:t>
            </a:r>
            <a:endParaRPr lang="en-US" sz="1350" dirty="0"/>
          </a:p>
        </p:txBody>
      </p:sp>
      <p:sp>
        <p:nvSpPr>
          <p:cNvPr id="11" name="Text 9"/>
          <p:cNvSpPr/>
          <p:nvPr/>
        </p:nvSpPr>
        <p:spPr>
          <a:xfrm>
            <a:off x="4617720" y="2834640"/>
            <a:ext cx="3054096" cy="1371600"/>
          </a:xfrm>
          <a:prstGeom prst="rect">
            <a:avLst/>
          </a:prstGeom>
          <a:noFill/>
          <a:ln/>
        </p:spPr>
        <p:txBody>
          <a:bodyPr wrap="square" lIns="0" tIns="0" rIns="0" bIns="0" rtlCol="0" anchor="t"/>
          <a:lstStyle/>
          <a:p>
            <a:pPr indent="0" marL="0">
              <a:lnSpc>
                <a:spcPct val="112000"/>
              </a:lnSpc>
              <a:buNone/>
            </a:pPr>
            <a:r>
              <a:rPr lang="en-US" sz="1100" dirty="0">
                <a:solidFill>
                  <a:srgbClr val="5B7288"/>
                </a:solidFill>
                <a:latin typeface="Calibri" pitchFamily="34" charset="0"/>
                <a:ea typeface="Calibri" pitchFamily="34" charset="-122"/>
                <a:cs typeface="Calibri" pitchFamily="34" charset="-120"/>
              </a:rPr>
              <a:t>Deux millièmes de millimètre — plus fin qu'une feuille de papier à cigarette. Redoutablement efficace… et redoutablement fragile.</a:t>
            </a:r>
            <a:endParaRPr lang="en-US" sz="1100" dirty="0"/>
          </a:p>
        </p:txBody>
      </p:sp>
      <p:sp>
        <p:nvSpPr>
          <p:cNvPr id="12" name="Shape 10"/>
          <p:cNvSpPr/>
          <p:nvPr/>
        </p:nvSpPr>
        <p:spPr>
          <a:xfrm>
            <a:off x="8138160" y="1417320"/>
            <a:ext cx="3602736" cy="2926080"/>
          </a:xfrm>
          <a:prstGeom prst="roundRect">
            <a:avLst>
              <a:gd name="adj" fmla="val 2813"/>
            </a:avLst>
          </a:prstGeom>
          <a:solidFill>
            <a:srgbClr val="F2F7FB"/>
          </a:solidFill>
          <a:ln/>
          <a:effectLst>
            <a:outerShdw sx="100000" sy="100000" kx="0" ky="0" algn="bl" rotWithShape="0" blurRad="88900" dist="25400" dir="5400000">
              <a:srgbClr val="0A2942">
                <a:alpha val="16000"/>
              </a:srgbClr>
            </a:outerShdw>
          </a:effectLst>
        </p:spPr>
      </p:sp>
      <p:sp>
        <p:nvSpPr>
          <p:cNvPr id="13" name="Text 11"/>
          <p:cNvSpPr/>
          <p:nvPr/>
        </p:nvSpPr>
        <p:spPr>
          <a:xfrm>
            <a:off x="8412480" y="1600200"/>
            <a:ext cx="3054096" cy="777240"/>
          </a:xfrm>
          <a:prstGeom prst="rect">
            <a:avLst/>
          </a:prstGeom>
          <a:noFill/>
          <a:ln/>
        </p:spPr>
        <p:txBody>
          <a:bodyPr wrap="square" lIns="0" tIns="0" rIns="0" bIns="0" rtlCol="0" anchor="ctr"/>
          <a:lstStyle/>
          <a:p>
            <a:pPr indent="0" marL="0">
              <a:buNone/>
            </a:pPr>
            <a:r>
              <a:rPr lang="en-US" sz="3800" b="1" dirty="0">
                <a:solidFill>
                  <a:srgbClr val="065A82"/>
                </a:solidFill>
                <a:latin typeface="Cambria" pitchFamily="34" charset="0"/>
                <a:ea typeface="Cambria" pitchFamily="34" charset="-122"/>
                <a:cs typeface="Cambria" pitchFamily="34" charset="-120"/>
              </a:rPr>
              <a:t>6–12</a:t>
            </a:r>
            <a:endParaRPr lang="en-US" sz="3800" dirty="0"/>
          </a:p>
        </p:txBody>
      </p:sp>
      <p:sp>
        <p:nvSpPr>
          <p:cNvPr id="14" name="Text 12"/>
          <p:cNvSpPr/>
          <p:nvPr/>
        </p:nvSpPr>
        <p:spPr>
          <a:xfrm>
            <a:off x="8412480" y="2423160"/>
            <a:ext cx="3054096" cy="36576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divisions bronchiques</a:t>
            </a:r>
            <a:endParaRPr lang="en-US" sz="1350" dirty="0"/>
          </a:p>
        </p:txBody>
      </p:sp>
      <p:sp>
        <p:nvSpPr>
          <p:cNvPr id="15" name="Text 13"/>
          <p:cNvSpPr/>
          <p:nvPr/>
        </p:nvSpPr>
        <p:spPr>
          <a:xfrm>
            <a:off x="8412480" y="2834640"/>
            <a:ext cx="3054096" cy="1371600"/>
          </a:xfrm>
          <a:prstGeom prst="rect">
            <a:avLst/>
          </a:prstGeom>
          <a:noFill/>
          <a:ln/>
        </p:spPr>
        <p:txBody>
          <a:bodyPr wrap="square" lIns="0" tIns="0" rIns="0" bIns="0" rtlCol="0" anchor="t"/>
          <a:lstStyle/>
          <a:p>
            <a:pPr indent="0" marL="0">
              <a:lnSpc>
                <a:spcPct val="112000"/>
              </a:lnSpc>
              <a:buNone/>
            </a:pPr>
            <a:r>
              <a:rPr lang="en-US" sz="1100" dirty="0">
                <a:solidFill>
                  <a:srgbClr val="5B7288"/>
                </a:solidFill>
                <a:latin typeface="Calibri" pitchFamily="34" charset="0"/>
                <a:ea typeface="Calibri" pitchFamily="34" charset="-122"/>
                <a:cs typeface="Calibri" pitchFamily="34" charset="-120"/>
              </a:rPr>
              <a:t>Trachée → bronches → bronchioles (plus de cartilage, fibres élastiques et muscle) → grappes d'alvéoles.</a:t>
            </a:r>
            <a:endParaRPr lang="en-US" sz="1100" dirty="0"/>
          </a:p>
        </p:txBody>
      </p:sp>
      <p:sp>
        <p:nvSpPr>
          <p:cNvPr id="16" name="Shape 14"/>
          <p:cNvSpPr/>
          <p:nvPr/>
        </p:nvSpPr>
        <p:spPr>
          <a:xfrm>
            <a:off x="548640" y="4663440"/>
            <a:ext cx="11073384" cy="1417320"/>
          </a:xfrm>
          <a:prstGeom prst="roundRect">
            <a:avLst>
              <a:gd name="adj" fmla="val 5806"/>
            </a:avLst>
          </a:prstGeom>
          <a:solidFill>
            <a:srgbClr val="FBE9E1"/>
          </a:solidFill>
          <a:ln/>
          <a:effectLst>
            <a:outerShdw sx="100000" sy="100000" kx="0" ky="0" algn="bl" rotWithShape="0" blurRad="88900" dist="25400" dir="5400000">
              <a:srgbClr val="0A2942">
                <a:alpha val="16000"/>
              </a:srgbClr>
            </a:outerShdw>
          </a:effectLst>
        </p:spPr>
      </p:sp>
      <p:sp>
        <p:nvSpPr>
          <p:cNvPr id="17" name="Shape 15"/>
          <p:cNvSpPr/>
          <p:nvPr/>
        </p:nvSpPr>
        <p:spPr>
          <a:xfrm>
            <a:off x="822960" y="4937760"/>
            <a:ext cx="566928" cy="566928"/>
          </a:xfrm>
          <a:prstGeom prst="ellipse">
            <a:avLst/>
          </a:prstGeom>
          <a:solidFill>
            <a:srgbClr val="D9541E"/>
          </a:solidFill>
          <a:ln/>
        </p:spPr>
      </p:sp>
      <p:pic>
        <p:nvPicPr>
          <p:cNvPr id="18" name="Image 0" descr="preencoded.png">    </p:cNvPr>
          <p:cNvPicPr>
            <a:picLocks noChangeAspect="1"/>
          </p:cNvPicPr>
          <p:nvPr/>
        </p:nvPicPr>
        <p:blipFill>
          <a:blip r:embed="rId1"/>
          <a:stretch>
            <a:fillRect/>
          </a:stretch>
        </p:blipFill>
        <p:spPr>
          <a:xfrm>
            <a:off x="970361" y="5085161"/>
            <a:ext cx="272125" cy="272125"/>
          </a:xfrm>
          <a:prstGeom prst="rect">
            <a:avLst/>
          </a:prstGeom>
        </p:spPr>
      </p:pic>
      <p:sp>
        <p:nvSpPr>
          <p:cNvPr id="19" name="Text 16"/>
          <p:cNvSpPr/>
          <p:nvPr/>
        </p:nvSpPr>
        <p:spPr>
          <a:xfrm>
            <a:off x="1600200" y="4846320"/>
            <a:ext cx="9784080" cy="36576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Pourquoi cette finesse nous concerne</a:t>
            </a:r>
            <a:endParaRPr lang="en-US" sz="1400" dirty="0"/>
          </a:p>
        </p:txBody>
      </p:sp>
      <p:sp>
        <p:nvSpPr>
          <p:cNvPr id="20" name="Text 17"/>
          <p:cNvSpPr/>
          <p:nvPr/>
        </p:nvSpPr>
        <p:spPr>
          <a:xfrm>
            <a:off x="1600200" y="5212080"/>
            <a:ext cx="9738360" cy="77724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Quand du liquide traverse cette paroi, l'échange s'arrête : c'est l'œdème pulmonaire d'immersion, risque réel de l'apnée profonde. Et quand l'air enfermé se dilate à la remontée, cette paroi se déchire : c'est la surpression pulmonaire (partie 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Les volumes pulmonaires : ce qu'on mobilise, ce qui dort</a:t>
            </a:r>
            <a:endParaRPr lang="en-US" sz="2800" dirty="0"/>
          </a:p>
        </p:txBody>
      </p:sp>
      <p:sp>
        <p:nvSpPr>
          <p:cNvPr id="4" name="Shape 2"/>
          <p:cNvSpPr/>
          <p:nvPr/>
        </p:nvSpPr>
        <p:spPr>
          <a:xfrm>
            <a:off x="1005840" y="1463040"/>
            <a:ext cx="2377440" cy="1839468"/>
          </a:xfrm>
          <a:prstGeom prst="rect">
            <a:avLst/>
          </a:prstGeom>
          <a:solidFill>
            <a:srgbClr val="0E7CB8"/>
          </a:solidFill>
          <a:ln/>
        </p:spPr>
      </p:sp>
      <p:sp>
        <p:nvSpPr>
          <p:cNvPr id="5" name="Text 3"/>
          <p:cNvSpPr/>
          <p:nvPr/>
        </p:nvSpPr>
        <p:spPr>
          <a:xfrm>
            <a:off x="1115568" y="1463040"/>
            <a:ext cx="2194560" cy="18394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2,5 L  </a:t>
            </a:r>
            <a:pPr indent="0" marL="0">
              <a:buNone/>
            </a:pPr>
            <a:r>
              <a:rPr lang="en-US" sz="1050" dirty="0">
                <a:solidFill>
                  <a:srgbClr val="EAF3FA"/>
                </a:solidFill>
                <a:latin typeface="Calibri" pitchFamily="34" charset="0"/>
                <a:ea typeface="Calibri" pitchFamily="34" charset="-122"/>
                <a:cs typeface="Calibri" pitchFamily="34" charset="-120"/>
              </a:rPr>
              <a:t>VRI</a:t>
            </a:r>
            <a:endParaRPr lang="en-US" sz="1300" dirty="0"/>
          </a:p>
        </p:txBody>
      </p:sp>
      <p:sp>
        <p:nvSpPr>
          <p:cNvPr id="6" name="Text 4"/>
          <p:cNvSpPr/>
          <p:nvPr/>
        </p:nvSpPr>
        <p:spPr>
          <a:xfrm>
            <a:off x="3611880" y="2167890"/>
            <a:ext cx="3108960" cy="457200"/>
          </a:xfrm>
          <a:prstGeom prst="rect">
            <a:avLst/>
          </a:prstGeom>
          <a:noFill/>
          <a:ln/>
        </p:spPr>
        <p:txBody>
          <a:bodyPr wrap="square" lIns="0" tIns="0" rIns="0" bIns="0" rtlCol="0" anchor="ctr"/>
          <a:lstStyle/>
          <a:p>
            <a:pPr indent="0" marL="0">
              <a:lnSpc>
                <a:spcPct val="100000"/>
              </a:lnSpc>
              <a:buNone/>
            </a:pPr>
            <a:r>
              <a:rPr lang="en-US" sz="1050" dirty="0">
                <a:solidFill>
                  <a:srgbClr val="5B7288"/>
                </a:solidFill>
                <a:latin typeface="Calibri" pitchFamily="34" charset="0"/>
                <a:ea typeface="Calibri" pitchFamily="34" charset="-122"/>
                <a:cs typeface="Calibri" pitchFamily="34" charset="-120"/>
              </a:rPr>
              <a:t>réserve inspiratoire — ce qu'on peut encore inspirer</a:t>
            </a:r>
            <a:endParaRPr lang="en-US" sz="1050" dirty="0"/>
          </a:p>
        </p:txBody>
      </p:sp>
      <p:sp>
        <p:nvSpPr>
          <p:cNvPr id="7" name="Shape 5"/>
          <p:cNvSpPr/>
          <p:nvPr/>
        </p:nvSpPr>
        <p:spPr>
          <a:xfrm>
            <a:off x="1005840" y="3329940"/>
            <a:ext cx="2377440" cy="345948"/>
          </a:xfrm>
          <a:prstGeom prst="rect">
            <a:avLst/>
          </a:prstGeom>
          <a:solidFill>
            <a:srgbClr val="1C7293"/>
          </a:solidFill>
          <a:ln/>
        </p:spPr>
      </p:sp>
      <p:sp>
        <p:nvSpPr>
          <p:cNvPr id="8" name="Text 6"/>
          <p:cNvSpPr/>
          <p:nvPr/>
        </p:nvSpPr>
        <p:spPr>
          <a:xfrm>
            <a:off x="1115568" y="3329940"/>
            <a:ext cx="2194560" cy="3459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0,5 L  </a:t>
            </a:r>
            <a:pPr indent="0" marL="0">
              <a:buNone/>
            </a:pPr>
            <a:r>
              <a:rPr lang="en-US" sz="1050" dirty="0">
                <a:solidFill>
                  <a:srgbClr val="EAF3FA"/>
                </a:solidFill>
                <a:latin typeface="Calibri" pitchFamily="34" charset="0"/>
                <a:ea typeface="Calibri" pitchFamily="34" charset="-122"/>
                <a:cs typeface="Calibri" pitchFamily="34" charset="-120"/>
              </a:rPr>
              <a:t>VC</a:t>
            </a:r>
            <a:endParaRPr lang="en-US" sz="1300" dirty="0"/>
          </a:p>
        </p:txBody>
      </p:sp>
      <p:sp>
        <p:nvSpPr>
          <p:cNvPr id="9" name="Text 7"/>
          <p:cNvSpPr/>
          <p:nvPr/>
        </p:nvSpPr>
        <p:spPr>
          <a:xfrm>
            <a:off x="3611880" y="3288030"/>
            <a:ext cx="3108960" cy="457200"/>
          </a:xfrm>
          <a:prstGeom prst="rect">
            <a:avLst/>
          </a:prstGeom>
          <a:noFill/>
          <a:ln/>
        </p:spPr>
        <p:txBody>
          <a:bodyPr wrap="square" lIns="0" tIns="0" rIns="0" bIns="0" rtlCol="0" anchor="ctr"/>
          <a:lstStyle/>
          <a:p>
            <a:pPr indent="0" marL="0">
              <a:lnSpc>
                <a:spcPct val="100000"/>
              </a:lnSpc>
              <a:buNone/>
            </a:pPr>
            <a:r>
              <a:rPr lang="en-US" sz="1050" dirty="0">
                <a:solidFill>
                  <a:srgbClr val="5B7288"/>
                </a:solidFill>
                <a:latin typeface="Calibri" pitchFamily="34" charset="0"/>
                <a:ea typeface="Calibri" pitchFamily="34" charset="-122"/>
                <a:cs typeface="Calibri" pitchFamily="34" charset="-120"/>
              </a:rPr>
              <a:t>volume courant — la respiration de repos</a:t>
            </a:r>
            <a:endParaRPr lang="en-US" sz="1050" dirty="0"/>
          </a:p>
        </p:txBody>
      </p:sp>
      <p:sp>
        <p:nvSpPr>
          <p:cNvPr id="10" name="Shape 8"/>
          <p:cNvSpPr/>
          <p:nvPr/>
        </p:nvSpPr>
        <p:spPr>
          <a:xfrm>
            <a:off x="1005840" y="3703320"/>
            <a:ext cx="2377440" cy="1092708"/>
          </a:xfrm>
          <a:prstGeom prst="rect">
            <a:avLst/>
          </a:prstGeom>
          <a:solidFill>
            <a:srgbClr val="065A82"/>
          </a:solidFill>
          <a:ln/>
        </p:spPr>
      </p:sp>
      <p:sp>
        <p:nvSpPr>
          <p:cNvPr id="11" name="Text 9"/>
          <p:cNvSpPr/>
          <p:nvPr/>
        </p:nvSpPr>
        <p:spPr>
          <a:xfrm>
            <a:off x="1115568" y="3703320"/>
            <a:ext cx="2194560" cy="10927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1,5 L  </a:t>
            </a:r>
            <a:pPr indent="0" marL="0">
              <a:buNone/>
            </a:pPr>
            <a:r>
              <a:rPr lang="en-US" sz="1050" dirty="0">
                <a:solidFill>
                  <a:srgbClr val="EAF3FA"/>
                </a:solidFill>
                <a:latin typeface="Calibri" pitchFamily="34" charset="0"/>
                <a:ea typeface="Calibri" pitchFamily="34" charset="-122"/>
                <a:cs typeface="Calibri" pitchFamily="34" charset="-120"/>
              </a:rPr>
              <a:t>VRE</a:t>
            </a:r>
            <a:endParaRPr lang="en-US" sz="1300" dirty="0"/>
          </a:p>
        </p:txBody>
      </p:sp>
      <p:sp>
        <p:nvSpPr>
          <p:cNvPr id="12" name="Text 10"/>
          <p:cNvSpPr/>
          <p:nvPr/>
        </p:nvSpPr>
        <p:spPr>
          <a:xfrm>
            <a:off x="3611880" y="4034790"/>
            <a:ext cx="3108960" cy="457200"/>
          </a:xfrm>
          <a:prstGeom prst="rect">
            <a:avLst/>
          </a:prstGeom>
          <a:noFill/>
          <a:ln/>
        </p:spPr>
        <p:txBody>
          <a:bodyPr wrap="square" lIns="0" tIns="0" rIns="0" bIns="0" rtlCol="0" anchor="ctr"/>
          <a:lstStyle/>
          <a:p>
            <a:pPr indent="0" marL="0">
              <a:lnSpc>
                <a:spcPct val="100000"/>
              </a:lnSpc>
              <a:buNone/>
            </a:pPr>
            <a:r>
              <a:rPr lang="en-US" sz="1050" dirty="0">
                <a:solidFill>
                  <a:srgbClr val="5B7288"/>
                </a:solidFill>
                <a:latin typeface="Calibri" pitchFamily="34" charset="0"/>
                <a:ea typeface="Calibri" pitchFamily="34" charset="-122"/>
                <a:cs typeface="Calibri" pitchFamily="34" charset="-120"/>
              </a:rPr>
              <a:t>réserve expiratoire — ce qu'on peut encore chasser</a:t>
            </a:r>
            <a:endParaRPr lang="en-US" sz="1050" dirty="0"/>
          </a:p>
        </p:txBody>
      </p:sp>
      <p:sp>
        <p:nvSpPr>
          <p:cNvPr id="13" name="Shape 11"/>
          <p:cNvSpPr/>
          <p:nvPr/>
        </p:nvSpPr>
        <p:spPr>
          <a:xfrm>
            <a:off x="1005840" y="4823460"/>
            <a:ext cx="2377440" cy="1092708"/>
          </a:xfrm>
          <a:prstGeom prst="rect">
            <a:avLst/>
          </a:prstGeom>
          <a:solidFill>
            <a:srgbClr val="40566B"/>
          </a:solidFill>
          <a:ln/>
        </p:spPr>
      </p:sp>
      <p:sp>
        <p:nvSpPr>
          <p:cNvPr id="14" name="Text 12"/>
          <p:cNvSpPr/>
          <p:nvPr/>
        </p:nvSpPr>
        <p:spPr>
          <a:xfrm>
            <a:off x="1115568" y="4823460"/>
            <a:ext cx="2194560" cy="10927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1,5 L  </a:t>
            </a:r>
            <a:pPr indent="0" marL="0">
              <a:buNone/>
            </a:pPr>
            <a:r>
              <a:rPr lang="en-US" sz="1050" dirty="0">
                <a:solidFill>
                  <a:srgbClr val="EAF3FA"/>
                </a:solidFill>
                <a:latin typeface="Calibri" pitchFamily="34" charset="0"/>
                <a:ea typeface="Calibri" pitchFamily="34" charset="-122"/>
                <a:cs typeface="Calibri" pitchFamily="34" charset="-120"/>
              </a:rPr>
              <a:t>VR</a:t>
            </a:r>
            <a:endParaRPr lang="en-US" sz="1300" dirty="0"/>
          </a:p>
        </p:txBody>
      </p:sp>
      <p:sp>
        <p:nvSpPr>
          <p:cNvPr id="15" name="Text 13"/>
          <p:cNvSpPr/>
          <p:nvPr/>
        </p:nvSpPr>
        <p:spPr>
          <a:xfrm>
            <a:off x="3611880" y="5154930"/>
            <a:ext cx="3108960" cy="457200"/>
          </a:xfrm>
          <a:prstGeom prst="rect">
            <a:avLst/>
          </a:prstGeom>
          <a:noFill/>
          <a:ln/>
        </p:spPr>
        <p:txBody>
          <a:bodyPr wrap="square" lIns="0" tIns="0" rIns="0" bIns="0" rtlCol="0" anchor="ctr"/>
          <a:lstStyle/>
          <a:p>
            <a:pPr indent="0" marL="0">
              <a:lnSpc>
                <a:spcPct val="100000"/>
              </a:lnSpc>
              <a:buNone/>
            </a:pPr>
            <a:r>
              <a:rPr lang="en-US" sz="1050" dirty="0">
                <a:solidFill>
                  <a:srgbClr val="5B7288"/>
                </a:solidFill>
                <a:latin typeface="Calibri" pitchFamily="34" charset="0"/>
                <a:ea typeface="Calibri" pitchFamily="34" charset="-122"/>
                <a:cs typeface="Calibri" pitchFamily="34" charset="-120"/>
              </a:rPr>
              <a:t>volume résiduel — ne sort jamais (brassage)</a:t>
            </a:r>
            <a:endParaRPr lang="en-US" sz="1050" dirty="0"/>
          </a:p>
        </p:txBody>
      </p:sp>
      <p:sp>
        <p:nvSpPr>
          <p:cNvPr id="16" name="Shape 14"/>
          <p:cNvSpPr/>
          <p:nvPr/>
        </p:nvSpPr>
        <p:spPr>
          <a:xfrm>
            <a:off x="777240" y="1463040"/>
            <a:ext cx="0" cy="3360420"/>
          </a:xfrm>
          <a:prstGeom prst="line">
            <a:avLst/>
          </a:prstGeom>
          <a:noFill/>
          <a:ln w="38100">
            <a:solidFill>
              <a:srgbClr val="2C8C5A"/>
            </a:solidFill>
            <a:prstDash val="solid"/>
          </a:ln>
        </p:spPr>
      </p:sp>
      <p:sp>
        <p:nvSpPr>
          <p:cNvPr id="17" name="Text 15"/>
          <p:cNvSpPr/>
          <p:nvPr/>
        </p:nvSpPr>
        <p:spPr>
          <a:xfrm>
            <a:off x="45720" y="2640330"/>
            <a:ext cx="713232" cy="1005840"/>
          </a:xfrm>
          <a:prstGeom prst="rect">
            <a:avLst/>
          </a:prstGeom>
          <a:noFill/>
          <a:ln/>
        </p:spPr>
        <p:txBody>
          <a:bodyPr wrap="square" lIns="0" tIns="0" rIns="0" bIns="0" rtlCol="0" anchor="ctr"/>
          <a:lstStyle/>
          <a:p>
            <a:pPr algn="ctr" indent="0" marL="0">
              <a:lnSpc>
                <a:spcPct val="100000"/>
              </a:lnSpc>
              <a:buNone/>
            </a:pPr>
            <a:r>
              <a:rPr lang="en-US" sz="850" b="1" dirty="0">
                <a:solidFill>
                  <a:srgbClr val="2C8C5A"/>
                </a:solidFill>
                <a:latin typeface="Calibri" pitchFamily="34" charset="0"/>
                <a:ea typeface="Calibri" pitchFamily="34" charset="-122"/>
                <a:cs typeface="Calibri" pitchFamily="34" charset="-120"/>
              </a:rPr>
              <a:t>CV = 4,5 L</a:t>
            </a:r>
            <a:endParaRPr lang="en-US" sz="850" dirty="0"/>
          </a:p>
          <a:p>
            <a:pPr algn="ctr" indent="0" marL="0">
              <a:lnSpc>
                <a:spcPct val="100000"/>
              </a:lnSpc>
              <a:buNone/>
            </a:pPr>
            <a:r>
              <a:rPr lang="en-US" sz="850" b="1" dirty="0">
                <a:solidFill>
                  <a:srgbClr val="2C8C5A"/>
                </a:solidFill>
                <a:latin typeface="Calibri" pitchFamily="34" charset="0"/>
                <a:ea typeface="Calibri" pitchFamily="34" charset="-122"/>
                <a:cs typeface="Calibri" pitchFamily="34" charset="-120"/>
              </a:rPr>
              <a:t>Capacité</a:t>
            </a:r>
            <a:endParaRPr lang="en-US" sz="850" dirty="0"/>
          </a:p>
          <a:p>
            <a:pPr algn="ctr" indent="0" marL="0">
              <a:lnSpc>
                <a:spcPct val="100000"/>
              </a:lnSpc>
              <a:buNone/>
            </a:pPr>
            <a:r>
              <a:rPr lang="en-US" sz="850" b="1" dirty="0">
                <a:solidFill>
                  <a:srgbClr val="2C8C5A"/>
                </a:solidFill>
                <a:latin typeface="Calibri" pitchFamily="34" charset="0"/>
                <a:ea typeface="Calibri" pitchFamily="34" charset="-122"/>
                <a:cs typeface="Calibri" pitchFamily="34" charset="-120"/>
              </a:rPr>
              <a:t>vitale</a:t>
            </a:r>
            <a:endParaRPr lang="en-US" sz="850" dirty="0"/>
          </a:p>
        </p:txBody>
      </p:sp>
      <p:sp>
        <p:nvSpPr>
          <p:cNvPr id="18" name="Shape 16"/>
          <p:cNvSpPr/>
          <p:nvPr/>
        </p:nvSpPr>
        <p:spPr>
          <a:xfrm>
            <a:off x="6675120" y="1463040"/>
            <a:ext cx="4946904" cy="4480560"/>
          </a:xfrm>
          <a:prstGeom prst="roundRect">
            <a:avLst>
              <a:gd name="adj" fmla="val 1837"/>
            </a:avLst>
          </a:prstGeom>
          <a:solidFill>
            <a:srgbClr val="DCEBF5"/>
          </a:solidFill>
          <a:ln/>
          <a:effectLst>
            <a:outerShdw sx="100000" sy="100000" kx="0" ky="0" algn="bl" rotWithShape="0" blurRad="88900" dist="25400" dir="5400000">
              <a:srgbClr val="0A2942">
                <a:alpha val="16000"/>
              </a:srgbClr>
            </a:outerShdw>
          </a:effectLst>
        </p:spPr>
      </p:sp>
      <p:sp>
        <p:nvSpPr>
          <p:cNvPr id="19" name="Text 17"/>
          <p:cNvSpPr/>
          <p:nvPr/>
        </p:nvSpPr>
        <p:spPr>
          <a:xfrm>
            <a:off x="6949440" y="1645920"/>
            <a:ext cx="4434840" cy="36576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Ce que ce schéma explique</a:t>
            </a:r>
            <a:endParaRPr lang="en-US" sz="1450" dirty="0"/>
          </a:p>
        </p:txBody>
      </p:sp>
      <p:sp>
        <p:nvSpPr>
          <p:cNvPr id="20" name="Text 18"/>
          <p:cNvSpPr/>
          <p:nvPr/>
        </p:nvSpPr>
        <p:spPr>
          <a:xfrm>
            <a:off x="6995160" y="2103120"/>
            <a:ext cx="4434840" cy="365760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Partir « poumons pleins » = 4,5 L mobilisables + 1,5 L qui dort. La carpe (packing) va chercher un supplément au-delà de la capacité vitale — technique d'expert, à risque.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Les exercices poumons vides ou à demi-pleins ne visent pas la performance : ils font vivre la sensation de compression de la profondeur, sans descendre.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Le volume résiduel est le mur physiologique de la descente : le rapport CPT/VR définit la profondeur où les poumons ne peuvent plus s'écraser sans autre mécanisme (le blood shift).</a:t>
            </a:r>
            <a:endParaRPr lang="en-US" sz="1150" dirty="0"/>
          </a:p>
        </p:txBody>
      </p:sp>
      <p:sp>
        <p:nvSpPr>
          <p:cNvPr id="21" name="Text 19"/>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1150" i="1" dirty="0">
                <a:solidFill>
                  <a:srgbClr val="5B7288"/>
                </a:solidFill>
                <a:latin typeface="Calibri" pitchFamily="34" charset="0"/>
                <a:ea typeface="Calibri" pitchFamily="34" charset="-122"/>
                <a:cs typeface="Calibri" pitchFamily="34" charset="-120"/>
              </a:rPr>
              <a:t>À faire vivre : souffler à fond… puis souffler encore. Ce qui sort encore, c'est la réserve expiratoire.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L'espace mort : l'air qui fait l'aller-retour pour rien</a:t>
            </a:r>
            <a:endParaRPr lang="en-US" sz="2800" dirty="0"/>
          </a:p>
        </p:txBody>
      </p:sp>
      <p:sp>
        <p:nvSpPr>
          <p:cNvPr id="4" name="Shape 2"/>
          <p:cNvSpPr/>
          <p:nvPr/>
        </p:nvSpPr>
        <p:spPr>
          <a:xfrm>
            <a:off x="548640" y="1463040"/>
            <a:ext cx="6400800" cy="2286000"/>
          </a:xfrm>
          <a:prstGeom prst="roundRect">
            <a:avLst>
              <a:gd name="adj" fmla="val 3600"/>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914400" y="2148840"/>
            <a:ext cx="3291840" cy="685800"/>
          </a:xfrm>
          <a:prstGeom prst="roundRect">
            <a:avLst>
              <a:gd name="adj" fmla="val 13333"/>
            </a:avLst>
          </a:prstGeom>
          <a:solidFill>
            <a:srgbClr val="B9CFDE"/>
          </a:solidFill>
          <a:ln/>
        </p:spPr>
      </p:sp>
      <p:sp>
        <p:nvSpPr>
          <p:cNvPr id="6" name="Text 4"/>
          <p:cNvSpPr/>
          <p:nvPr/>
        </p:nvSpPr>
        <p:spPr>
          <a:xfrm>
            <a:off x="914400" y="2176272"/>
            <a:ext cx="3291840" cy="365760"/>
          </a:xfrm>
          <a:prstGeom prst="rect">
            <a:avLst/>
          </a:prstGeom>
          <a:noFill/>
          <a:ln/>
        </p:spPr>
        <p:txBody>
          <a:bodyPr wrap="square" lIns="0" tIns="0" rIns="0" bIns="0" rtlCol="0" anchor="ctr"/>
          <a:lstStyle/>
          <a:p>
            <a:pPr algn="ctr" indent="0" marL="0">
              <a:buNone/>
            </a:pPr>
            <a:r>
              <a:rPr lang="en-US" sz="950" dirty="0">
                <a:solidFill>
                  <a:srgbClr val="1F3347"/>
                </a:solidFill>
                <a:latin typeface="Calibri" pitchFamily="34" charset="0"/>
                <a:ea typeface="Calibri" pitchFamily="34" charset="-122"/>
                <a:cs typeface="Calibri" pitchFamily="34" charset="-120"/>
              </a:rPr>
              <a:t>Conduits : nez, pharynx, trachée, bronches</a:t>
            </a:r>
            <a:endParaRPr lang="en-US" sz="950" dirty="0"/>
          </a:p>
        </p:txBody>
      </p:sp>
      <p:sp>
        <p:nvSpPr>
          <p:cNvPr id="7" name="Text 5"/>
          <p:cNvSpPr/>
          <p:nvPr/>
        </p:nvSpPr>
        <p:spPr>
          <a:xfrm>
            <a:off x="914400" y="2487168"/>
            <a:ext cx="3291840" cy="320040"/>
          </a:xfrm>
          <a:prstGeom prst="rect">
            <a:avLst/>
          </a:prstGeom>
          <a:noFill/>
          <a:ln/>
        </p:spPr>
        <p:txBody>
          <a:bodyPr wrap="square" lIns="0" tIns="0" rIns="0" bIns="0" rtlCol="0" anchor="ctr"/>
          <a:lstStyle/>
          <a:p>
            <a:pPr algn="ctr" indent="0" marL="0">
              <a:buNone/>
            </a:pPr>
            <a:r>
              <a:rPr lang="en-US" sz="1050" b="1" dirty="0">
                <a:solidFill>
                  <a:srgbClr val="9C3A10"/>
                </a:solidFill>
                <a:latin typeface="Calibri" pitchFamily="34" charset="0"/>
                <a:ea typeface="Calibri" pitchFamily="34" charset="-122"/>
                <a:cs typeface="Calibri" pitchFamily="34" charset="-120"/>
              </a:rPr>
              <a:t>≈ 150 mL — ESPACE MORT</a:t>
            </a:r>
            <a:endParaRPr lang="en-US" sz="1050" dirty="0"/>
          </a:p>
        </p:txBody>
      </p:sp>
      <p:sp>
        <p:nvSpPr>
          <p:cNvPr id="8" name="Shape 6"/>
          <p:cNvSpPr/>
          <p:nvPr/>
        </p:nvSpPr>
        <p:spPr>
          <a:xfrm>
            <a:off x="4434840" y="1874520"/>
            <a:ext cx="1737360" cy="1417320"/>
          </a:xfrm>
          <a:prstGeom prst="ellipse">
            <a:avLst/>
          </a:prstGeom>
          <a:solidFill>
            <a:srgbClr val="0E7CB8"/>
          </a:solidFill>
          <a:ln/>
          <a:effectLst>
            <a:outerShdw sx="100000" sy="100000" kx="0" ky="0" algn="bl" rotWithShape="0" blurRad="88900" dist="25400" dir="5400000">
              <a:srgbClr val="0A2942">
                <a:alpha val="16000"/>
              </a:srgbClr>
            </a:outerShdw>
          </a:effectLst>
        </p:spPr>
      </p:sp>
      <p:sp>
        <p:nvSpPr>
          <p:cNvPr id="9" name="Text 7"/>
          <p:cNvSpPr/>
          <p:nvPr/>
        </p:nvSpPr>
        <p:spPr>
          <a:xfrm>
            <a:off x="4434840" y="1874520"/>
            <a:ext cx="1737360" cy="14173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Alvéoles</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 350 mL utiles</a:t>
            </a:r>
            <a:endParaRPr lang="en-US" sz="1050" dirty="0"/>
          </a:p>
        </p:txBody>
      </p:sp>
      <p:sp>
        <p:nvSpPr>
          <p:cNvPr id="10" name="Text 8"/>
          <p:cNvSpPr/>
          <p:nvPr/>
        </p:nvSpPr>
        <p:spPr>
          <a:xfrm>
            <a:off x="914400" y="3108960"/>
            <a:ext cx="5669280" cy="548640"/>
          </a:xfrm>
          <a:prstGeom prst="rect">
            <a:avLst/>
          </a:prstGeom>
          <a:noFill/>
          <a:ln/>
        </p:spPr>
        <p:txBody>
          <a:bodyPr wrap="square" lIns="0" tIns="0" rIns="0" bIns="0" rtlCol="0" anchor="ctr"/>
          <a:lstStyle/>
          <a:p>
            <a:pPr indent="0" marL="0">
              <a:lnSpc>
                <a:spcPct val="108000"/>
              </a:lnSpc>
              <a:buNone/>
            </a:pPr>
            <a:r>
              <a:rPr lang="en-US" sz="1100" i="1" dirty="0">
                <a:solidFill>
                  <a:srgbClr val="5B7288"/>
                </a:solidFill>
                <a:latin typeface="Calibri" pitchFamily="34" charset="0"/>
                <a:ea typeface="Calibri" pitchFamily="34" charset="-122"/>
                <a:cs typeface="Calibri" pitchFamily="34" charset="-120"/>
              </a:rPr>
              <a:t>Volume courant = 500 mL, dont 150 perdus dans les conduits : seuls 350 mL atteignent l'alvéole.</a:t>
            </a:r>
            <a:endParaRPr lang="en-US" sz="1100" dirty="0"/>
          </a:p>
        </p:txBody>
      </p:sp>
      <p:sp>
        <p:nvSpPr>
          <p:cNvPr id="11" name="Shape 9"/>
          <p:cNvSpPr/>
          <p:nvPr/>
        </p:nvSpPr>
        <p:spPr>
          <a:xfrm>
            <a:off x="7223760" y="1463040"/>
            <a:ext cx="4398264" cy="2286000"/>
          </a:xfrm>
          <a:prstGeom prst="roundRect">
            <a:avLst>
              <a:gd name="adj" fmla="val 3600"/>
            </a:avLst>
          </a:prstGeom>
          <a:solidFill>
            <a:srgbClr val="FBE9E1"/>
          </a:solidFill>
          <a:ln/>
          <a:effectLst>
            <a:outerShdw sx="100000" sy="100000" kx="0" ky="0" algn="bl" rotWithShape="0" blurRad="88900" dist="25400" dir="5400000">
              <a:srgbClr val="0A2942">
                <a:alpha val="16000"/>
              </a:srgbClr>
            </a:outerShdw>
          </a:effectLst>
        </p:spPr>
      </p:sp>
      <p:sp>
        <p:nvSpPr>
          <p:cNvPr id="12" name="Shape 10"/>
          <p:cNvSpPr/>
          <p:nvPr/>
        </p:nvSpPr>
        <p:spPr>
          <a:xfrm>
            <a:off x="7498080" y="1719072"/>
            <a:ext cx="512064" cy="512064"/>
          </a:xfrm>
          <a:prstGeom prst="ellipse">
            <a:avLst/>
          </a:prstGeom>
          <a:solidFill>
            <a:srgbClr val="D9541E"/>
          </a:solidFill>
          <a:ln/>
        </p:spPr>
      </p:sp>
      <p:pic>
        <p:nvPicPr>
          <p:cNvPr id="13" name="Image 0" descr="preencoded.png">    </p:cNvPr>
          <p:cNvPicPr>
            <a:picLocks noChangeAspect="1"/>
          </p:cNvPicPr>
          <p:nvPr/>
        </p:nvPicPr>
        <p:blipFill>
          <a:blip r:embed="rId1"/>
          <a:stretch>
            <a:fillRect/>
          </a:stretch>
        </p:blipFill>
        <p:spPr>
          <a:xfrm>
            <a:off x="7631217" y="1852209"/>
            <a:ext cx="245791" cy="245791"/>
          </a:xfrm>
          <a:prstGeom prst="rect">
            <a:avLst/>
          </a:prstGeom>
        </p:spPr>
      </p:pic>
      <p:sp>
        <p:nvSpPr>
          <p:cNvPr id="14" name="Text 11"/>
          <p:cNvSpPr/>
          <p:nvPr/>
        </p:nvSpPr>
        <p:spPr>
          <a:xfrm>
            <a:off x="8229600" y="1719072"/>
            <a:ext cx="3200400" cy="512064"/>
          </a:xfrm>
          <a:prstGeom prst="rect">
            <a:avLst/>
          </a:prstGeom>
          <a:noFill/>
          <a:ln/>
        </p:spPr>
        <p:txBody>
          <a:bodyPr wrap="square" lIns="0" tIns="0" rIns="0" bIns="0" rtlCol="0" anchor="ctr"/>
          <a:lstStyle/>
          <a:p>
            <a:pPr indent="0" marL="0">
              <a:buNone/>
            </a:pPr>
            <a:r>
              <a:rPr lang="en-US" sz="1350" b="1" dirty="0">
                <a:solidFill>
                  <a:srgbClr val="9C3A10"/>
                </a:solidFill>
                <a:latin typeface="Calibri" pitchFamily="34" charset="0"/>
                <a:ea typeface="Calibri" pitchFamily="34" charset="-122"/>
                <a:cs typeface="Calibri" pitchFamily="34" charset="-120"/>
              </a:rPr>
              <a:t>Ajoutez un tuba…</a:t>
            </a:r>
            <a:endParaRPr lang="en-US" sz="1350" dirty="0"/>
          </a:p>
        </p:txBody>
      </p:sp>
      <p:sp>
        <p:nvSpPr>
          <p:cNvPr id="15" name="Text 12"/>
          <p:cNvSpPr/>
          <p:nvPr/>
        </p:nvSpPr>
        <p:spPr>
          <a:xfrm>
            <a:off x="7498080" y="2331720"/>
            <a:ext cx="3886200" cy="128016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Le conduit s'allonge : l'espace mort augmente, la part utile diminue, et l'élève re-respire une partie de son propre CO₂. Il respire beaucoup… et récupère mal.</a:t>
            </a:r>
            <a:endParaRPr lang="en-US" sz="1150" dirty="0"/>
          </a:p>
        </p:txBody>
      </p:sp>
      <p:sp>
        <p:nvSpPr>
          <p:cNvPr id="16" name="Shape 13"/>
          <p:cNvSpPr/>
          <p:nvPr/>
        </p:nvSpPr>
        <p:spPr>
          <a:xfrm>
            <a:off x="548640" y="4023360"/>
            <a:ext cx="5440680" cy="2011680"/>
          </a:xfrm>
          <a:prstGeom prst="roundRect">
            <a:avLst>
              <a:gd name="adj" fmla="val 4091"/>
            </a:avLst>
          </a:prstGeom>
          <a:solidFill>
            <a:srgbClr val="E7F3EC"/>
          </a:solidFill>
          <a:ln/>
          <a:effectLst>
            <a:outerShdw sx="100000" sy="100000" kx="0" ky="0" algn="bl" rotWithShape="0" blurRad="88900" dist="25400" dir="5400000">
              <a:srgbClr val="0A2942">
                <a:alpha val="16000"/>
              </a:srgbClr>
            </a:outerShdw>
          </a:effectLst>
        </p:spPr>
      </p:sp>
      <p:sp>
        <p:nvSpPr>
          <p:cNvPr id="17" name="Shape 14"/>
          <p:cNvSpPr/>
          <p:nvPr/>
        </p:nvSpPr>
        <p:spPr>
          <a:xfrm>
            <a:off x="822960" y="4279392"/>
            <a:ext cx="512064" cy="512064"/>
          </a:xfrm>
          <a:prstGeom prst="ellipse">
            <a:avLst/>
          </a:prstGeom>
          <a:solidFill>
            <a:srgbClr val="FFFFFF"/>
          </a:solidFill>
          <a:ln/>
        </p:spPr>
      </p:sp>
      <p:pic>
        <p:nvPicPr>
          <p:cNvPr id="18" name="Image 1" descr="preencoded.png">    </p:cNvPr>
          <p:cNvPicPr>
            <a:picLocks noChangeAspect="1"/>
          </p:cNvPicPr>
          <p:nvPr/>
        </p:nvPicPr>
        <p:blipFill>
          <a:blip r:embed="rId2"/>
          <a:stretch>
            <a:fillRect/>
          </a:stretch>
        </p:blipFill>
        <p:spPr>
          <a:xfrm>
            <a:off x="956097" y="4412529"/>
            <a:ext cx="245791" cy="245791"/>
          </a:xfrm>
          <a:prstGeom prst="rect">
            <a:avLst/>
          </a:prstGeom>
        </p:spPr>
      </p:pic>
      <p:sp>
        <p:nvSpPr>
          <p:cNvPr id="19" name="Text 15"/>
          <p:cNvSpPr/>
          <p:nvPr/>
        </p:nvSpPr>
        <p:spPr>
          <a:xfrm>
            <a:off x="1554480" y="4224528"/>
            <a:ext cx="4343400" cy="594360"/>
          </a:xfrm>
          <a:prstGeom prst="rect">
            <a:avLst/>
          </a:prstGeom>
          <a:noFill/>
          <a:ln/>
        </p:spPr>
        <p:txBody>
          <a:bodyPr wrap="square" lIns="0" tIns="0" rIns="0" bIns="0" rtlCol="0" anchor="ctr"/>
          <a:lstStyle/>
          <a:p>
            <a:pPr indent="0" marL="0">
              <a:lnSpc>
                <a:spcPct val="100000"/>
              </a:lnSpc>
              <a:buNone/>
            </a:pPr>
            <a:r>
              <a:rPr lang="en-US" sz="1300" b="1" dirty="0">
                <a:solidFill>
                  <a:srgbClr val="2C8C5A"/>
                </a:solidFill>
                <a:latin typeface="Calibri" pitchFamily="34" charset="0"/>
                <a:ea typeface="Calibri" pitchFamily="34" charset="-122"/>
                <a:cs typeface="Calibri" pitchFamily="34" charset="-120"/>
              </a:rPr>
              <a:t>Règle nº 1 — On récupère tuba sorti de la bouche</a:t>
            </a:r>
            <a:endParaRPr lang="en-US" sz="1300" dirty="0"/>
          </a:p>
        </p:txBody>
      </p:sp>
      <p:sp>
        <p:nvSpPr>
          <p:cNvPr id="20" name="Text 16"/>
          <p:cNvSpPr/>
          <p:nvPr/>
        </p:nvSpPr>
        <p:spPr>
          <a:xfrm>
            <a:off x="822960" y="4892040"/>
            <a:ext cx="4892040" cy="100584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Ce n'est pas une tradition de club : c'est la seule façon de réduire l'espace mort au moment où chaque millilitre d'air utile compte.</a:t>
            </a:r>
            <a:endParaRPr lang="en-US" sz="1150" dirty="0"/>
          </a:p>
        </p:txBody>
      </p:sp>
      <p:sp>
        <p:nvSpPr>
          <p:cNvPr id="21" name="Shape 17"/>
          <p:cNvSpPr/>
          <p:nvPr/>
        </p:nvSpPr>
        <p:spPr>
          <a:xfrm>
            <a:off x="6181344" y="4023360"/>
            <a:ext cx="5440680" cy="2011680"/>
          </a:xfrm>
          <a:prstGeom prst="roundRect">
            <a:avLst>
              <a:gd name="adj" fmla="val 4091"/>
            </a:avLst>
          </a:prstGeom>
          <a:solidFill>
            <a:srgbClr val="E7F3EC"/>
          </a:solidFill>
          <a:ln/>
          <a:effectLst>
            <a:outerShdw sx="100000" sy="100000" kx="0" ky="0" algn="bl" rotWithShape="0" blurRad="88900" dist="25400" dir="5400000">
              <a:srgbClr val="0A2942">
                <a:alpha val="16000"/>
              </a:srgbClr>
            </a:outerShdw>
          </a:effectLst>
        </p:spPr>
      </p:sp>
      <p:sp>
        <p:nvSpPr>
          <p:cNvPr id="22" name="Shape 18"/>
          <p:cNvSpPr/>
          <p:nvPr/>
        </p:nvSpPr>
        <p:spPr>
          <a:xfrm>
            <a:off x="6455664" y="4279392"/>
            <a:ext cx="512064" cy="512064"/>
          </a:xfrm>
          <a:prstGeom prst="ellipse">
            <a:avLst/>
          </a:prstGeom>
          <a:solidFill>
            <a:srgbClr val="FFFFFF"/>
          </a:solidFill>
          <a:ln/>
        </p:spPr>
      </p:sp>
      <p:pic>
        <p:nvPicPr>
          <p:cNvPr id="23" name="Image 2" descr="preencoded.png">    </p:cNvPr>
          <p:cNvPicPr>
            <a:picLocks noChangeAspect="1"/>
          </p:cNvPicPr>
          <p:nvPr/>
        </p:nvPicPr>
        <p:blipFill>
          <a:blip r:embed="rId3"/>
          <a:stretch>
            <a:fillRect/>
          </a:stretch>
        </p:blipFill>
        <p:spPr>
          <a:xfrm>
            <a:off x="6588801" y="4412529"/>
            <a:ext cx="245791" cy="245791"/>
          </a:xfrm>
          <a:prstGeom prst="rect">
            <a:avLst/>
          </a:prstGeom>
        </p:spPr>
      </p:pic>
      <p:sp>
        <p:nvSpPr>
          <p:cNvPr id="24" name="Text 19"/>
          <p:cNvSpPr/>
          <p:nvPr/>
        </p:nvSpPr>
        <p:spPr>
          <a:xfrm>
            <a:off x="7187184" y="4224528"/>
            <a:ext cx="4343400" cy="594360"/>
          </a:xfrm>
          <a:prstGeom prst="rect">
            <a:avLst/>
          </a:prstGeom>
          <a:noFill/>
          <a:ln/>
        </p:spPr>
        <p:txBody>
          <a:bodyPr wrap="square" lIns="0" tIns="0" rIns="0" bIns="0" rtlCol="0" anchor="ctr"/>
          <a:lstStyle/>
          <a:p>
            <a:pPr indent="0" marL="0">
              <a:lnSpc>
                <a:spcPct val="100000"/>
              </a:lnSpc>
              <a:buNone/>
            </a:pPr>
            <a:r>
              <a:rPr lang="en-US" sz="1300" b="1" dirty="0">
                <a:solidFill>
                  <a:srgbClr val="2C8C5A"/>
                </a:solidFill>
                <a:latin typeface="Calibri" pitchFamily="34" charset="0"/>
                <a:ea typeface="Calibri" pitchFamily="34" charset="-122"/>
                <a:cs typeface="Calibri" pitchFamily="34" charset="-120"/>
              </a:rPr>
              <a:t>Règle nº 2 — Lentement et profondément</a:t>
            </a:r>
            <a:endParaRPr lang="en-US" sz="1300" dirty="0"/>
          </a:p>
        </p:txBody>
      </p:sp>
      <p:sp>
        <p:nvSpPr>
          <p:cNvPr id="25" name="Text 20"/>
          <p:cNvSpPr/>
          <p:nvPr/>
        </p:nvSpPr>
        <p:spPr>
          <a:xfrm>
            <a:off x="6455664" y="4892040"/>
            <a:ext cx="4892040" cy="100584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À débit égal, les grandes respirations lentes livrent bien plus d'air aux alvéoles : on ne paie l'espace mort qu'une fois par cycle, au lieu de le payer à chaque petite respiration rapide.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Inspirer coûte, expirer est gratuit</a:t>
            </a:r>
            <a:endParaRPr lang="en-US" sz="2800" dirty="0"/>
          </a:p>
        </p:txBody>
      </p:sp>
      <p:sp>
        <p:nvSpPr>
          <p:cNvPr id="4" name="Shape 2"/>
          <p:cNvSpPr/>
          <p:nvPr/>
        </p:nvSpPr>
        <p:spPr>
          <a:xfrm>
            <a:off x="548640" y="1417320"/>
            <a:ext cx="5440680" cy="3017520"/>
          </a:xfrm>
          <a:prstGeom prst="roundRect">
            <a:avLst>
              <a:gd name="adj" fmla="val 2727"/>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645920"/>
            <a:ext cx="2103120" cy="411480"/>
          </a:xfrm>
          <a:prstGeom prst="roundRect">
            <a:avLst>
              <a:gd name="adj" fmla="val 17778"/>
            </a:avLst>
          </a:prstGeom>
          <a:solidFill>
            <a:srgbClr val="0E7CB8"/>
          </a:solidFill>
          <a:ln/>
        </p:spPr>
      </p:sp>
      <p:sp>
        <p:nvSpPr>
          <p:cNvPr id="6" name="Text 4"/>
          <p:cNvSpPr/>
          <p:nvPr/>
        </p:nvSpPr>
        <p:spPr>
          <a:xfrm>
            <a:off x="822960" y="1645920"/>
            <a:ext cx="2103120" cy="411480"/>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INSPIRATION</a:t>
            </a:r>
            <a:endParaRPr lang="en-US" sz="1200" dirty="0"/>
          </a:p>
        </p:txBody>
      </p:sp>
      <p:sp>
        <p:nvSpPr>
          <p:cNvPr id="7" name="Text 5"/>
          <p:cNvSpPr/>
          <p:nvPr/>
        </p:nvSpPr>
        <p:spPr>
          <a:xfrm>
            <a:off x="3063240" y="1645920"/>
            <a:ext cx="2651760" cy="411480"/>
          </a:xfrm>
          <a:prstGeom prst="rect">
            <a:avLst/>
          </a:prstGeom>
          <a:noFill/>
          <a:ln/>
        </p:spPr>
        <p:txBody>
          <a:bodyPr wrap="square" lIns="0" tIns="0" rIns="0" bIns="0" rtlCol="0" anchor="ctr"/>
          <a:lstStyle/>
          <a:p>
            <a:pPr indent="0" marL="0">
              <a:buNone/>
            </a:pPr>
            <a:r>
              <a:rPr lang="en-US" sz="1100" b="1" dirty="0">
                <a:solidFill>
                  <a:srgbClr val="0E7CB8"/>
                </a:solidFill>
                <a:latin typeface="Calibri" pitchFamily="34" charset="0"/>
                <a:ea typeface="Calibri" pitchFamily="34" charset="-122"/>
                <a:cs typeface="Calibri" pitchFamily="34" charset="-120"/>
              </a:rPr>
              <a:t>ACTIVE — elle consomme</a:t>
            </a:r>
            <a:endParaRPr lang="en-US" sz="1100" dirty="0"/>
          </a:p>
        </p:txBody>
      </p:sp>
      <p:sp>
        <p:nvSpPr>
          <p:cNvPr id="8" name="Text 6"/>
          <p:cNvSpPr/>
          <p:nvPr/>
        </p:nvSpPr>
        <p:spPr>
          <a:xfrm>
            <a:off x="868680" y="2194560"/>
            <a:ext cx="4846320" cy="210312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Les muscles soulèvent la cage thoracique, le diaphragme s'aplatit en descendant</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Le volume du thorax augmente → dépression interne → l'air entre tout seul</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On n'aspire pas l'air : on fait de la place, il s'y précipite</a:t>
            </a:r>
            <a:endParaRPr lang="en-US" sz="1150" dirty="0"/>
          </a:p>
        </p:txBody>
      </p:sp>
      <p:sp>
        <p:nvSpPr>
          <p:cNvPr id="9" name="Shape 7"/>
          <p:cNvSpPr/>
          <p:nvPr/>
        </p:nvSpPr>
        <p:spPr>
          <a:xfrm>
            <a:off x="6181344" y="1417320"/>
            <a:ext cx="5440680" cy="3017520"/>
          </a:xfrm>
          <a:prstGeom prst="roundRect">
            <a:avLst>
              <a:gd name="adj" fmla="val 2727"/>
            </a:avLst>
          </a:prstGeom>
          <a:solidFill>
            <a:srgbClr val="F2F7FB"/>
          </a:solidFill>
          <a:ln/>
          <a:effectLst>
            <a:outerShdw sx="100000" sy="100000" kx="0" ky="0" algn="bl" rotWithShape="0" blurRad="88900" dist="25400" dir="5400000">
              <a:srgbClr val="0A2942">
                <a:alpha val="16000"/>
              </a:srgbClr>
            </a:outerShdw>
          </a:effectLst>
        </p:spPr>
      </p:sp>
      <p:sp>
        <p:nvSpPr>
          <p:cNvPr id="10" name="Shape 8"/>
          <p:cNvSpPr/>
          <p:nvPr/>
        </p:nvSpPr>
        <p:spPr>
          <a:xfrm>
            <a:off x="6455664" y="1645920"/>
            <a:ext cx="2103120" cy="411480"/>
          </a:xfrm>
          <a:prstGeom prst="roundRect">
            <a:avLst>
              <a:gd name="adj" fmla="val 17778"/>
            </a:avLst>
          </a:prstGeom>
          <a:solidFill>
            <a:srgbClr val="2C8C5A"/>
          </a:solidFill>
          <a:ln/>
        </p:spPr>
      </p:sp>
      <p:sp>
        <p:nvSpPr>
          <p:cNvPr id="11" name="Text 9"/>
          <p:cNvSpPr/>
          <p:nvPr/>
        </p:nvSpPr>
        <p:spPr>
          <a:xfrm>
            <a:off x="6455664" y="1645920"/>
            <a:ext cx="2103120" cy="411480"/>
          </a:xfrm>
          <a:prstGeom prst="rect">
            <a:avLst/>
          </a:prstGeom>
          <a:noFill/>
          <a:ln/>
        </p:spPr>
        <p:txBody>
          <a:bodyPr wrap="square" lIns="0" tIns="0" rIns="0" bIns="0" rtlCol="0" anchor="ctr"/>
          <a:lstStyle/>
          <a:p>
            <a:pPr algn="ctr" indent="0" marL="0">
              <a:buNone/>
            </a:pPr>
            <a:r>
              <a:rPr lang="en-US" sz="1200" b="1" spc="150" kern="0" dirty="0">
                <a:solidFill>
                  <a:srgbClr val="FFFFFF"/>
                </a:solidFill>
                <a:latin typeface="Calibri" pitchFamily="34" charset="0"/>
                <a:ea typeface="Calibri" pitchFamily="34" charset="-122"/>
                <a:cs typeface="Calibri" pitchFamily="34" charset="-120"/>
              </a:rPr>
              <a:t>EXPIRATION</a:t>
            </a:r>
            <a:endParaRPr lang="en-US" sz="1200" dirty="0"/>
          </a:p>
        </p:txBody>
      </p:sp>
      <p:sp>
        <p:nvSpPr>
          <p:cNvPr id="12" name="Text 10"/>
          <p:cNvSpPr/>
          <p:nvPr/>
        </p:nvSpPr>
        <p:spPr>
          <a:xfrm>
            <a:off x="8695944" y="1645920"/>
            <a:ext cx="2651760" cy="411480"/>
          </a:xfrm>
          <a:prstGeom prst="rect">
            <a:avLst/>
          </a:prstGeom>
          <a:noFill/>
          <a:ln/>
        </p:spPr>
        <p:txBody>
          <a:bodyPr wrap="square" lIns="0" tIns="0" rIns="0" bIns="0" rtlCol="0" anchor="ctr"/>
          <a:lstStyle/>
          <a:p>
            <a:pPr indent="0" marL="0">
              <a:buNone/>
            </a:pPr>
            <a:r>
              <a:rPr lang="en-US" sz="1100" b="1" dirty="0">
                <a:solidFill>
                  <a:srgbClr val="2C8C5A"/>
                </a:solidFill>
                <a:latin typeface="Calibri" pitchFamily="34" charset="0"/>
                <a:ea typeface="Calibri" pitchFamily="34" charset="-122"/>
                <a:cs typeface="Calibri" pitchFamily="34" charset="-120"/>
              </a:rPr>
              <a:t>PASSIVE — zéro dépense</a:t>
            </a:r>
            <a:endParaRPr lang="en-US" sz="1100" dirty="0"/>
          </a:p>
        </p:txBody>
      </p:sp>
      <p:sp>
        <p:nvSpPr>
          <p:cNvPr id="13" name="Text 11"/>
          <p:cNvSpPr/>
          <p:nvPr/>
        </p:nvSpPr>
        <p:spPr>
          <a:xfrm>
            <a:off x="6501384" y="2194560"/>
            <a:ext cx="4846320" cy="210312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Les muscles se relâchent, la cage revient à sa forme de repos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Le volume diminue → surpression interne → l'air sort seul</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Au repos : 15 à 20 cycles par minute (froid, peur et émotion accélèrent le rythme)</a:t>
            </a:r>
            <a:endParaRPr lang="en-US" sz="1150" dirty="0"/>
          </a:p>
        </p:txBody>
      </p:sp>
      <p:sp>
        <p:nvSpPr>
          <p:cNvPr id="14" name="Shape 12"/>
          <p:cNvSpPr/>
          <p:nvPr/>
        </p:nvSpPr>
        <p:spPr>
          <a:xfrm>
            <a:off x="548640" y="4663440"/>
            <a:ext cx="11073384" cy="1417320"/>
          </a:xfrm>
          <a:prstGeom prst="roundRect">
            <a:avLst>
              <a:gd name="adj" fmla="val 5806"/>
            </a:avLst>
          </a:prstGeom>
          <a:solidFill>
            <a:srgbClr val="DCEBF5"/>
          </a:solidFill>
          <a:ln/>
          <a:effectLst>
            <a:outerShdw sx="100000" sy="100000" kx="0" ky="0" algn="bl" rotWithShape="0" blurRad="88900" dist="25400" dir="5400000">
              <a:srgbClr val="0A2942">
                <a:alpha val="16000"/>
              </a:srgbClr>
            </a:outerShdw>
          </a:effectLst>
        </p:spPr>
      </p:sp>
      <p:sp>
        <p:nvSpPr>
          <p:cNvPr id="15" name="Shape 13"/>
          <p:cNvSpPr/>
          <p:nvPr/>
        </p:nvSpPr>
        <p:spPr>
          <a:xfrm>
            <a:off x="822960" y="4937760"/>
            <a:ext cx="566928" cy="566928"/>
          </a:xfrm>
          <a:prstGeom prst="ellipse">
            <a:avLst/>
          </a:prstGeom>
          <a:solidFill>
            <a:srgbClr val="065A82"/>
          </a:solidFill>
          <a:ln/>
        </p:spPr>
      </p:sp>
      <p:pic>
        <p:nvPicPr>
          <p:cNvPr id="16" name="Image 0" descr="preencoded.png">    </p:cNvPr>
          <p:cNvPicPr>
            <a:picLocks noChangeAspect="1"/>
          </p:cNvPicPr>
          <p:nvPr/>
        </p:nvPicPr>
        <p:blipFill>
          <a:blip r:embed="rId1"/>
          <a:stretch>
            <a:fillRect/>
          </a:stretch>
        </p:blipFill>
        <p:spPr>
          <a:xfrm>
            <a:off x="970361" y="5085161"/>
            <a:ext cx="272125" cy="272125"/>
          </a:xfrm>
          <a:prstGeom prst="rect">
            <a:avLst/>
          </a:prstGeom>
        </p:spPr>
      </p:pic>
      <p:sp>
        <p:nvSpPr>
          <p:cNvPr id="17" name="Text 14"/>
          <p:cNvSpPr/>
          <p:nvPr/>
        </p:nvSpPr>
        <p:spPr>
          <a:xfrm>
            <a:off x="1600200" y="4846320"/>
            <a:ext cx="978408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La clé du relâchement — et de l'expiration longue</a:t>
            </a:r>
            <a:endParaRPr lang="en-US" sz="1400" dirty="0"/>
          </a:p>
        </p:txBody>
      </p:sp>
      <p:sp>
        <p:nvSpPr>
          <p:cNvPr id="18" name="Text 15"/>
          <p:cNvSpPr/>
          <p:nvPr/>
        </p:nvSpPr>
        <p:spPr>
          <a:xfrm>
            <a:off x="1600200" y="5212080"/>
            <a:ext cx="9738360" cy="82296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L'expiration lente et allongée n'est pas qu'une habitude relaxante : c'est le temps où le corps ne dépense rien. D'où l'expiration enseignée deux fois plus longue que l'inspiration. Et le diaphragme est la pièce maîtresse : mobile = plus d'air embarqué ; relâché = moins de consommation ; crispé = de l'oxygène brûlé à ne rien faire.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Ventiler fort recrute des muscles… qui consomment</a:t>
            </a:r>
            <a:endParaRPr lang="en-US" sz="2800" dirty="0"/>
          </a:p>
        </p:txBody>
      </p:sp>
      <p:sp>
        <p:nvSpPr>
          <p:cNvPr id="4" name="Shape 2"/>
          <p:cNvSpPr/>
          <p:nvPr/>
        </p:nvSpPr>
        <p:spPr>
          <a:xfrm>
            <a:off x="548640" y="1463040"/>
            <a:ext cx="3605784" cy="1828800"/>
          </a:xfrm>
          <a:prstGeom prst="roundRect">
            <a:avLst>
              <a:gd name="adj" fmla="val 4000"/>
            </a:avLst>
          </a:prstGeom>
          <a:solidFill>
            <a:srgbClr val="2C8C5A"/>
          </a:solidFill>
          <a:ln/>
          <a:effectLst>
            <a:outerShdw sx="100000" sy="100000" kx="0" ky="0" algn="bl" rotWithShape="0" blurRad="88900" dist="25400" dir="5400000">
              <a:srgbClr val="0A2942">
                <a:alpha val="16000"/>
              </a:srgbClr>
            </a:outerShdw>
          </a:effectLst>
        </p:spPr>
      </p:sp>
      <p:sp>
        <p:nvSpPr>
          <p:cNvPr id="5" name="Text 3"/>
          <p:cNvSpPr/>
          <p:nvPr/>
        </p:nvSpPr>
        <p:spPr>
          <a:xfrm>
            <a:off x="731520" y="1609344"/>
            <a:ext cx="3240024" cy="566928"/>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Ventilation calme</a:t>
            </a:r>
            <a:endParaRPr lang="en-US" sz="1250" dirty="0"/>
          </a:p>
        </p:txBody>
      </p:sp>
      <p:sp>
        <p:nvSpPr>
          <p:cNvPr id="6" name="Text 4"/>
          <p:cNvSpPr/>
          <p:nvPr/>
        </p:nvSpPr>
        <p:spPr>
          <a:xfrm>
            <a:off x="731520" y="2176272"/>
            <a:ext cx="3240024" cy="96926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Diaphragme + intercostaux externes + scalènes. Travail modeste, expiration passive.</a:t>
            </a:r>
            <a:endParaRPr lang="en-US" sz="1000" dirty="0"/>
          </a:p>
        </p:txBody>
      </p:sp>
      <p:sp>
        <p:nvSpPr>
          <p:cNvPr id="7" name="Text 5"/>
          <p:cNvSpPr/>
          <p:nvPr/>
        </p:nvSpPr>
        <p:spPr>
          <a:xfrm>
            <a:off x="4126992" y="214884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4282440" y="1463040"/>
            <a:ext cx="3605784" cy="1828800"/>
          </a:xfrm>
          <a:prstGeom prst="roundRect">
            <a:avLst>
              <a:gd name="adj" fmla="val 4000"/>
            </a:avLst>
          </a:prstGeom>
          <a:solidFill>
            <a:srgbClr val="C77F0A"/>
          </a:solidFill>
          <a:ln/>
          <a:effectLst>
            <a:outerShdw sx="100000" sy="100000" kx="0" ky="0" algn="bl" rotWithShape="0" blurRad="88900" dist="25400" dir="5400000">
              <a:srgbClr val="0A2942">
                <a:alpha val="16000"/>
              </a:srgbClr>
            </a:outerShdw>
          </a:effectLst>
        </p:spPr>
      </p:sp>
      <p:sp>
        <p:nvSpPr>
          <p:cNvPr id="9" name="Text 7"/>
          <p:cNvSpPr/>
          <p:nvPr/>
        </p:nvSpPr>
        <p:spPr>
          <a:xfrm>
            <a:off x="4465320" y="1609344"/>
            <a:ext cx="3240024" cy="566928"/>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&gt; 30–40 L/min</a:t>
            </a:r>
            <a:endParaRPr lang="en-US" sz="1250" dirty="0"/>
          </a:p>
        </p:txBody>
      </p:sp>
      <p:sp>
        <p:nvSpPr>
          <p:cNvPr id="10" name="Text 8"/>
          <p:cNvSpPr/>
          <p:nvPr/>
        </p:nvSpPr>
        <p:spPr>
          <a:xfrm>
            <a:off x="4465320" y="2176272"/>
            <a:ext cx="3240024" cy="96926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L'expiration cesse d'être passive : abdominaux et intercostaux internes entrent en jeu.</a:t>
            </a:r>
            <a:endParaRPr lang="en-US" sz="1000" dirty="0"/>
          </a:p>
        </p:txBody>
      </p:sp>
      <p:sp>
        <p:nvSpPr>
          <p:cNvPr id="11" name="Text 9"/>
          <p:cNvSpPr/>
          <p:nvPr/>
        </p:nvSpPr>
        <p:spPr>
          <a:xfrm>
            <a:off x="7860792" y="214884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8016240" y="1463040"/>
            <a:ext cx="3605784" cy="1828800"/>
          </a:xfrm>
          <a:prstGeom prst="roundRect">
            <a:avLst>
              <a:gd name="adj" fmla="val 4000"/>
            </a:avLst>
          </a:prstGeom>
          <a:solidFill>
            <a:srgbClr val="D9541E"/>
          </a:solidFill>
          <a:ln/>
          <a:effectLst>
            <a:outerShdw sx="100000" sy="100000" kx="0" ky="0" algn="bl" rotWithShape="0" blurRad="88900" dist="25400" dir="5400000">
              <a:srgbClr val="0A2942">
                <a:alpha val="16000"/>
              </a:srgbClr>
            </a:outerShdw>
          </a:effectLst>
        </p:spPr>
      </p:sp>
      <p:sp>
        <p:nvSpPr>
          <p:cNvPr id="13" name="Text 11"/>
          <p:cNvSpPr/>
          <p:nvPr/>
        </p:nvSpPr>
        <p:spPr>
          <a:xfrm>
            <a:off x="8199120" y="1609344"/>
            <a:ext cx="3240024" cy="566928"/>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&gt; 50 L/min</a:t>
            </a:r>
            <a:endParaRPr lang="en-US" sz="1250" dirty="0"/>
          </a:p>
        </p:txBody>
      </p:sp>
      <p:sp>
        <p:nvSpPr>
          <p:cNvPr id="14" name="Text 12"/>
          <p:cNvSpPr/>
          <p:nvPr/>
        </p:nvSpPr>
        <p:spPr>
          <a:xfrm>
            <a:off x="8199120" y="2176272"/>
            <a:ext cx="3240024" cy="96926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Recrutement des sterno-cléido-mastoïdiens (cou) et des extenseurs du tronc.</a:t>
            </a:r>
            <a:endParaRPr lang="en-US" sz="1000" dirty="0"/>
          </a:p>
        </p:txBody>
      </p:sp>
      <p:sp>
        <p:nvSpPr>
          <p:cNvPr id="15" name="Shape 13"/>
          <p:cNvSpPr/>
          <p:nvPr/>
        </p:nvSpPr>
        <p:spPr>
          <a:xfrm>
            <a:off x="548640" y="3657600"/>
            <a:ext cx="11073384" cy="1371600"/>
          </a:xfrm>
          <a:prstGeom prst="roundRect">
            <a:avLst>
              <a:gd name="adj" fmla="val 6000"/>
            </a:avLst>
          </a:prstGeom>
          <a:solidFill>
            <a:srgbClr val="FBE9E1"/>
          </a:solidFill>
          <a:ln/>
          <a:effectLst>
            <a:outerShdw sx="100000" sy="100000" kx="0" ky="0" algn="bl" rotWithShape="0" blurRad="88900" dist="25400" dir="5400000">
              <a:srgbClr val="0A2942">
                <a:alpha val="16000"/>
              </a:srgbClr>
            </a:outerShdw>
          </a:effectLst>
        </p:spPr>
      </p:sp>
      <p:sp>
        <p:nvSpPr>
          <p:cNvPr id="16" name="Shape 14"/>
          <p:cNvSpPr/>
          <p:nvPr/>
        </p:nvSpPr>
        <p:spPr>
          <a:xfrm>
            <a:off x="822960" y="3913632"/>
            <a:ext cx="566928" cy="566928"/>
          </a:xfrm>
          <a:prstGeom prst="ellipse">
            <a:avLst/>
          </a:prstGeom>
          <a:solidFill>
            <a:srgbClr val="D9541E"/>
          </a:solidFill>
          <a:ln/>
        </p:spPr>
      </p:sp>
      <p:pic>
        <p:nvPicPr>
          <p:cNvPr id="17" name="Image 0" descr="preencoded.png">    </p:cNvPr>
          <p:cNvPicPr>
            <a:picLocks noChangeAspect="1"/>
          </p:cNvPicPr>
          <p:nvPr/>
        </p:nvPicPr>
        <p:blipFill>
          <a:blip r:embed="rId1"/>
          <a:stretch>
            <a:fillRect/>
          </a:stretch>
        </p:blipFill>
        <p:spPr>
          <a:xfrm>
            <a:off x="970361" y="4061033"/>
            <a:ext cx="272125" cy="272125"/>
          </a:xfrm>
          <a:prstGeom prst="rect">
            <a:avLst/>
          </a:prstGeom>
        </p:spPr>
      </p:pic>
      <p:sp>
        <p:nvSpPr>
          <p:cNvPr id="18" name="Text 15"/>
          <p:cNvSpPr/>
          <p:nvPr/>
        </p:nvSpPr>
        <p:spPr>
          <a:xfrm>
            <a:off x="1600200" y="3822192"/>
            <a:ext cx="9784080" cy="36576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Le paradoxe à faire entendre</a:t>
            </a:r>
            <a:endParaRPr lang="en-US" sz="1400" dirty="0"/>
          </a:p>
        </p:txBody>
      </p:sp>
      <p:sp>
        <p:nvSpPr>
          <p:cNvPr id="19" name="Text 16"/>
          <p:cNvSpPr/>
          <p:nvPr/>
        </p:nvSpPr>
        <p:spPr>
          <a:xfrm>
            <a:off x="1600200" y="4187952"/>
            <a:ext cx="9738360" cy="77724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Plus on respire fort, plus on mobilise de muscles — et plus ces muscles consomment l'oxygène qu'on croyait aller chercher. Une préparation ventilatoire intense a un coût métabolique : ventiler beaucoup n'est pas ventiler mieux. Premier argument contre l'hyperventilation.</a:t>
            </a:r>
            <a:endParaRPr lang="en-US" sz="1200" dirty="0"/>
          </a:p>
        </p:txBody>
      </p:sp>
      <p:sp>
        <p:nvSpPr>
          <p:cNvPr id="20" name="Shape 17"/>
          <p:cNvSpPr/>
          <p:nvPr/>
        </p:nvSpPr>
        <p:spPr>
          <a:xfrm>
            <a:off x="548640" y="5303520"/>
            <a:ext cx="11073384" cy="868680"/>
          </a:xfrm>
          <a:prstGeom prst="roundRect">
            <a:avLst>
              <a:gd name="adj" fmla="val 9474"/>
            </a:avLst>
          </a:prstGeom>
          <a:solidFill>
            <a:srgbClr val="DCEBF5"/>
          </a:solidFill>
          <a:ln/>
          <a:effectLst>
            <a:outerShdw sx="100000" sy="100000" kx="0" ky="0" algn="bl" rotWithShape="0" blurRad="88900" dist="25400" dir="5400000">
              <a:srgbClr val="0A2942">
                <a:alpha val="16000"/>
              </a:srgbClr>
            </a:outerShdw>
          </a:effectLst>
        </p:spPr>
      </p:sp>
      <p:sp>
        <p:nvSpPr>
          <p:cNvPr id="21" name="Text 18"/>
          <p:cNvSpPr/>
          <p:nvPr/>
        </p:nvSpPr>
        <p:spPr>
          <a:xfrm>
            <a:off x="822960" y="5349240"/>
            <a:ext cx="10515600" cy="777240"/>
          </a:xfrm>
          <a:prstGeom prst="rect">
            <a:avLst/>
          </a:prstGeom>
          <a:noFill/>
          <a:ln/>
        </p:spPr>
        <p:txBody>
          <a:bodyPr wrap="square" lIns="0" tIns="0" rIns="0" bIns="0" rtlCol="0" anchor="ctr"/>
          <a:lstStyle/>
          <a:p>
            <a:pPr indent="0" marL="0">
              <a:lnSpc>
                <a:spcPct val="110000"/>
              </a:lnSpc>
              <a:buNone/>
            </a:pPr>
            <a:r>
              <a:rPr lang="en-US" sz="1200" b="1" dirty="0">
                <a:solidFill>
                  <a:srgbClr val="065A82"/>
                </a:solidFill>
                <a:latin typeface="Calibri" pitchFamily="34" charset="0"/>
                <a:ea typeface="Calibri" pitchFamily="34" charset="-122"/>
                <a:cs typeface="Calibri" pitchFamily="34" charset="-120"/>
              </a:rPr>
              <a:t>Œil du cadre : </a:t>
            </a:r>
            <a:pPr indent="0" marL="0">
              <a:lnSpc>
                <a:spcPct val="110000"/>
              </a:lnSpc>
              <a:buNone/>
            </a:pPr>
            <a:r>
              <a:rPr lang="en-US" sz="1200" dirty="0">
                <a:solidFill>
                  <a:srgbClr val="1F3347"/>
                </a:solidFill>
                <a:latin typeface="Calibri" pitchFamily="34" charset="0"/>
                <a:ea typeface="Calibri" pitchFamily="34" charset="-122"/>
                <a:cs typeface="Calibri" pitchFamily="34" charset="-120"/>
              </a:rPr>
              <a:t>au bord du bassin, un élève qui ventile avec les épaules et le cou se fatigue avant même de partir. Ça se voit à l'œil nu, et ça se corrige.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Qui commande ? Le CO₂ — pas le manque d'oxygène</a:t>
            </a:r>
            <a:endParaRPr lang="en-US" sz="2800" dirty="0"/>
          </a:p>
        </p:txBody>
      </p:sp>
      <p:sp>
        <p:nvSpPr>
          <p:cNvPr id="4" name="Shape 2"/>
          <p:cNvSpPr/>
          <p:nvPr/>
        </p:nvSpPr>
        <p:spPr>
          <a:xfrm>
            <a:off x="548640" y="1417320"/>
            <a:ext cx="3291840" cy="2743200"/>
          </a:xfrm>
          <a:prstGeom prst="roundRect">
            <a:avLst>
              <a:gd name="adj" fmla="val 3000"/>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777240" y="1572768"/>
            <a:ext cx="2834640" cy="274320"/>
          </a:xfrm>
          <a:prstGeom prst="rect">
            <a:avLst/>
          </a:prstGeom>
          <a:noFill/>
          <a:ln/>
        </p:spPr>
        <p:txBody>
          <a:bodyPr wrap="square" lIns="0" tIns="0" rIns="0" bIns="0" rtlCol="0" anchor="ctr"/>
          <a:lstStyle/>
          <a:p>
            <a:pPr indent="0" marL="0">
              <a:buNone/>
            </a:pPr>
            <a:r>
              <a:rPr lang="en-US" sz="1050" b="1" spc="150" kern="0" dirty="0">
                <a:solidFill>
                  <a:srgbClr val="065A82"/>
                </a:solidFill>
                <a:latin typeface="Calibri" pitchFamily="34" charset="0"/>
                <a:ea typeface="Calibri" pitchFamily="34" charset="-122"/>
                <a:cs typeface="Calibri" pitchFamily="34" charset="-120"/>
              </a:rPr>
              <a:t>3 PARAMÈTRES SURVEILLÉS</a:t>
            </a:r>
            <a:endParaRPr lang="en-US" sz="1050" dirty="0"/>
          </a:p>
        </p:txBody>
      </p:sp>
      <p:sp>
        <p:nvSpPr>
          <p:cNvPr id="6" name="Shape 4"/>
          <p:cNvSpPr/>
          <p:nvPr/>
        </p:nvSpPr>
        <p:spPr>
          <a:xfrm>
            <a:off x="822960" y="1920240"/>
            <a:ext cx="2743200" cy="621792"/>
          </a:xfrm>
          <a:prstGeom prst="roundRect">
            <a:avLst>
              <a:gd name="adj" fmla="val 11765"/>
            </a:avLst>
          </a:prstGeom>
          <a:solidFill>
            <a:srgbClr val="FFFFFF"/>
          </a:solidFill>
          <a:ln w="19050">
            <a:solidFill>
              <a:srgbClr val="D9541E"/>
            </a:solidFill>
            <a:prstDash val="solid"/>
          </a:ln>
        </p:spPr>
      </p:sp>
      <p:sp>
        <p:nvSpPr>
          <p:cNvPr id="7" name="Text 5"/>
          <p:cNvSpPr/>
          <p:nvPr/>
        </p:nvSpPr>
        <p:spPr>
          <a:xfrm>
            <a:off x="960120" y="1920240"/>
            <a:ext cx="2514600" cy="621792"/>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PpCO₂  </a:t>
            </a:r>
            <a:pPr indent="0" marL="0">
              <a:buNone/>
            </a:pPr>
            <a:r>
              <a:rPr lang="en-US" sz="1000" dirty="0">
                <a:solidFill>
                  <a:srgbClr val="5B7288"/>
                </a:solidFill>
                <a:latin typeface="Calibri" pitchFamily="34" charset="0"/>
                <a:ea typeface="Calibri" pitchFamily="34" charset="-122"/>
                <a:cs typeface="Calibri" pitchFamily="34" charset="-120"/>
              </a:rPr>
              <a:t>le facteur DOMINANT</a:t>
            </a:r>
            <a:endParaRPr lang="en-US" sz="1200" dirty="0"/>
          </a:p>
        </p:txBody>
      </p:sp>
      <p:sp>
        <p:nvSpPr>
          <p:cNvPr id="8" name="Shape 6"/>
          <p:cNvSpPr/>
          <p:nvPr/>
        </p:nvSpPr>
        <p:spPr>
          <a:xfrm>
            <a:off x="822960" y="2670048"/>
            <a:ext cx="2743200" cy="621792"/>
          </a:xfrm>
          <a:prstGeom prst="roundRect">
            <a:avLst>
              <a:gd name="adj" fmla="val 11765"/>
            </a:avLst>
          </a:prstGeom>
          <a:solidFill>
            <a:srgbClr val="FFFFFF"/>
          </a:solidFill>
          <a:ln w="19050">
            <a:solidFill>
              <a:srgbClr val="1C7293"/>
            </a:solidFill>
            <a:prstDash val="solid"/>
          </a:ln>
        </p:spPr>
      </p:sp>
      <p:sp>
        <p:nvSpPr>
          <p:cNvPr id="9" name="Text 7"/>
          <p:cNvSpPr/>
          <p:nvPr/>
        </p:nvSpPr>
        <p:spPr>
          <a:xfrm>
            <a:off x="960120" y="2670048"/>
            <a:ext cx="2514600" cy="621792"/>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pH sanguin  </a:t>
            </a:r>
            <a:pPr indent="0" marL="0">
              <a:buNone/>
            </a:pPr>
            <a:r>
              <a:rPr lang="en-US" sz="1000" dirty="0">
                <a:solidFill>
                  <a:srgbClr val="5B7288"/>
                </a:solidFill>
                <a:latin typeface="Calibri" pitchFamily="34" charset="0"/>
                <a:ea typeface="Calibri" pitchFamily="34" charset="-122"/>
                <a:cs typeface="Calibri" pitchFamily="34" charset="-120"/>
              </a:rPr>
              <a:t>lié au CO₂ (acidité)</a:t>
            </a:r>
            <a:endParaRPr lang="en-US" sz="1200" dirty="0"/>
          </a:p>
        </p:txBody>
      </p:sp>
      <p:sp>
        <p:nvSpPr>
          <p:cNvPr id="10" name="Shape 8"/>
          <p:cNvSpPr/>
          <p:nvPr/>
        </p:nvSpPr>
        <p:spPr>
          <a:xfrm>
            <a:off x="822960" y="3419856"/>
            <a:ext cx="2743200" cy="621792"/>
          </a:xfrm>
          <a:prstGeom prst="roundRect">
            <a:avLst>
              <a:gd name="adj" fmla="val 11765"/>
            </a:avLst>
          </a:prstGeom>
          <a:solidFill>
            <a:srgbClr val="FFFFFF"/>
          </a:solidFill>
          <a:ln w="19050">
            <a:solidFill>
              <a:srgbClr val="1C7293"/>
            </a:solidFill>
            <a:prstDash val="solid"/>
          </a:ln>
        </p:spPr>
      </p:sp>
      <p:sp>
        <p:nvSpPr>
          <p:cNvPr id="11" name="Text 9"/>
          <p:cNvSpPr/>
          <p:nvPr/>
        </p:nvSpPr>
        <p:spPr>
          <a:xfrm>
            <a:off x="960120" y="3419856"/>
            <a:ext cx="2514600" cy="621792"/>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PpO₂  </a:t>
            </a:r>
            <a:pPr indent="0" marL="0">
              <a:buNone/>
            </a:pPr>
            <a:r>
              <a:rPr lang="en-US" sz="1000" dirty="0">
                <a:solidFill>
                  <a:srgbClr val="5B7288"/>
                </a:solidFill>
                <a:latin typeface="Calibri" pitchFamily="34" charset="0"/>
                <a:ea typeface="Calibri" pitchFamily="34" charset="-122"/>
                <a:cs typeface="Calibri" pitchFamily="34" charset="-120"/>
              </a:rPr>
              <a:t>rôle bien moindre</a:t>
            </a:r>
            <a:endParaRPr lang="en-US" sz="1200" dirty="0"/>
          </a:p>
        </p:txBody>
      </p:sp>
      <p:sp>
        <p:nvSpPr>
          <p:cNvPr id="12" name="Text 10"/>
          <p:cNvSpPr/>
          <p:nvPr/>
        </p:nvSpPr>
        <p:spPr>
          <a:xfrm>
            <a:off x="3913632" y="2514600"/>
            <a:ext cx="320040" cy="45720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4343400" y="2057400"/>
            <a:ext cx="1600200" cy="1600200"/>
          </a:xfrm>
          <a:prstGeom prst="ellipse">
            <a:avLst/>
          </a:prstGeom>
          <a:solidFill>
            <a:srgbClr val="065A82"/>
          </a:solidFill>
          <a:ln w="38100">
            <a:solidFill>
              <a:srgbClr val="FFFFFF"/>
            </a:solidFill>
            <a:prstDash val="solid"/>
          </a:ln>
          <a:effectLst>
            <a:outerShdw sx="100000" sy="100000" kx="0" ky="0" algn="bl" rotWithShape="0" blurRad="88900" dist="25400" dir="5400000">
              <a:srgbClr val="0A2942">
                <a:alpha val="16000"/>
              </a:srgbClr>
            </a:outerShdw>
          </a:effectLst>
        </p:spPr>
      </p:sp>
      <p:sp>
        <p:nvSpPr>
          <p:cNvPr id="14" name="Text 12"/>
          <p:cNvSpPr/>
          <p:nvPr/>
        </p:nvSpPr>
        <p:spPr>
          <a:xfrm>
            <a:off x="4343400" y="2057400"/>
            <a:ext cx="1600200" cy="16002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BULBE</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RACHIDIEN</a:t>
            </a:r>
            <a:endParaRPr lang="en-US" sz="1150" dirty="0"/>
          </a:p>
        </p:txBody>
      </p:sp>
      <p:sp>
        <p:nvSpPr>
          <p:cNvPr id="15" name="Text 13"/>
          <p:cNvSpPr/>
          <p:nvPr/>
        </p:nvSpPr>
        <p:spPr>
          <a:xfrm>
            <a:off x="4069080" y="3749040"/>
            <a:ext cx="2194560" cy="457200"/>
          </a:xfrm>
          <a:prstGeom prst="rect">
            <a:avLst/>
          </a:prstGeom>
          <a:noFill/>
          <a:ln/>
        </p:spPr>
        <p:txBody>
          <a:bodyPr wrap="square" lIns="0" tIns="0" rIns="0" bIns="0" rtlCol="0" anchor="ctr"/>
          <a:lstStyle/>
          <a:p>
            <a:pPr algn="ctr" indent="0" marL="0">
              <a:lnSpc>
                <a:spcPct val="100000"/>
              </a:lnSpc>
              <a:buNone/>
            </a:pPr>
            <a:r>
              <a:rPr lang="en-US" sz="900" i="1" dirty="0">
                <a:solidFill>
                  <a:srgbClr val="5B7288"/>
                </a:solidFill>
                <a:latin typeface="Calibri" pitchFamily="34" charset="0"/>
                <a:ea typeface="Calibri" pitchFamily="34" charset="-122"/>
                <a:cs typeface="Calibri" pitchFamily="34" charset="-120"/>
              </a:rPr>
              <a:t>centres respiratoires automatiques</a:t>
            </a:r>
            <a:endParaRPr lang="en-US" sz="900" dirty="0"/>
          </a:p>
        </p:txBody>
      </p:sp>
      <p:sp>
        <p:nvSpPr>
          <p:cNvPr id="16" name="Text 14"/>
          <p:cNvSpPr/>
          <p:nvPr/>
        </p:nvSpPr>
        <p:spPr>
          <a:xfrm>
            <a:off x="6053328" y="2514600"/>
            <a:ext cx="320040" cy="457200"/>
          </a:xfrm>
          <a:prstGeom prst="rect">
            <a:avLst/>
          </a:prstGeom>
          <a:noFill/>
          <a:ln/>
        </p:spPr>
        <p:txBody>
          <a:bodyPr wrap="square" lIns="0" tIns="0" rIns="0" bIns="0"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6492240" y="1737360"/>
            <a:ext cx="2377440" cy="2240280"/>
          </a:xfrm>
          <a:prstGeom prst="roundRect">
            <a:avLst>
              <a:gd name="adj" fmla="val 3673"/>
            </a:avLst>
          </a:prstGeom>
          <a:solidFill>
            <a:srgbClr val="F2F7FB"/>
          </a:solidFill>
          <a:ln/>
          <a:effectLst>
            <a:outerShdw sx="100000" sy="100000" kx="0" ky="0" algn="bl" rotWithShape="0" blurRad="88900" dist="25400" dir="5400000">
              <a:srgbClr val="0A2942">
                <a:alpha val="16000"/>
              </a:srgbClr>
            </a:outerShdw>
          </a:effectLst>
        </p:spPr>
      </p:sp>
      <p:sp>
        <p:nvSpPr>
          <p:cNvPr id="18" name="Shape 16"/>
          <p:cNvSpPr/>
          <p:nvPr/>
        </p:nvSpPr>
        <p:spPr>
          <a:xfrm>
            <a:off x="7269480" y="1965960"/>
            <a:ext cx="548640" cy="548640"/>
          </a:xfrm>
          <a:prstGeom prst="ellipse">
            <a:avLst/>
          </a:prstGeom>
          <a:solidFill>
            <a:srgbClr val="1C7293"/>
          </a:solidFill>
          <a:ln/>
        </p:spPr>
      </p:sp>
      <p:pic>
        <p:nvPicPr>
          <p:cNvPr id="19" name="Image 0" descr="preencoded.png">    </p:cNvPr>
          <p:cNvPicPr>
            <a:picLocks noChangeAspect="1"/>
          </p:cNvPicPr>
          <p:nvPr/>
        </p:nvPicPr>
        <p:blipFill>
          <a:blip r:embed="rId1"/>
          <a:stretch>
            <a:fillRect/>
          </a:stretch>
        </p:blipFill>
        <p:spPr>
          <a:xfrm>
            <a:off x="7412126" y="2108606"/>
            <a:ext cx="263347" cy="263347"/>
          </a:xfrm>
          <a:prstGeom prst="rect">
            <a:avLst/>
          </a:prstGeom>
        </p:spPr>
      </p:pic>
      <p:sp>
        <p:nvSpPr>
          <p:cNvPr id="20" name="Text 17"/>
          <p:cNvSpPr/>
          <p:nvPr/>
        </p:nvSpPr>
        <p:spPr>
          <a:xfrm>
            <a:off x="6629400" y="2651760"/>
            <a:ext cx="2103120" cy="365760"/>
          </a:xfrm>
          <a:prstGeom prst="rect">
            <a:avLst/>
          </a:prstGeom>
          <a:noFill/>
          <a:ln/>
        </p:spPr>
        <p:txBody>
          <a:bodyPr wrap="square" lIns="0" tIns="0" rIns="0" bIns="0" rtlCol="0" anchor="ctr"/>
          <a:lstStyle/>
          <a:p>
            <a:pPr algn="ctr" indent="0" marL="0">
              <a:buNone/>
            </a:pPr>
            <a:r>
              <a:rPr lang="en-US" sz="1150" b="1" dirty="0">
                <a:solidFill>
                  <a:srgbClr val="1F3347"/>
                </a:solidFill>
                <a:latin typeface="Calibri" pitchFamily="34" charset="0"/>
                <a:ea typeface="Calibri" pitchFamily="34" charset="-122"/>
                <a:cs typeface="Calibri" pitchFamily="34" charset="-120"/>
              </a:rPr>
              <a:t>Muscles ventilatoires</a:t>
            </a:r>
            <a:endParaRPr lang="en-US" sz="1150" dirty="0"/>
          </a:p>
        </p:txBody>
      </p:sp>
      <p:sp>
        <p:nvSpPr>
          <p:cNvPr id="21" name="Text 18"/>
          <p:cNvSpPr/>
          <p:nvPr/>
        </p:nvSpPr>
        <p:spPr>
          <a:xfrm>
            <a:off x="6629400" y="3017520"/>
            <a:ext cx="2103120" cy="731520"/>
          </a:xfrm>
          <a:prstGeom prst="rect">
            <a:avLst/>
          </a:prstGeom>
          <a:noFill/>
          <a:ln/>
        </p:spPr>
        <p:txBody>
          <a:bodyPr wrap="square" lIns="0" tIns="0" rIns="0" bIns="0" rtlCol="0" anchor="ctr"/>
          <a:lstStyle/>
          <a:p>
            <a:pPr algn="ctr" indent="0" marL="0">
              <a:lnSpc>
                <a:spcPct val="105000"/>
              </a:lnSpc>
              <a:buNone/>
            </a:pPr>
            <a:r>
              <a:rPr lang="en-US" sz="950" dirty="0">
                <a:solidFill>
                  <a:srgbClr val="5B7288"/>
                </a:solidFill>
                <a:latin typeface="Calibri" pitchFamily="34" charset="0"/>
                <a:ea typeface="Calibri" pitchFamily="34" charset="-122"/>
                <a:cs typeface="Calibri" pitchFamily="34" charset="-120"/>
              </a:rPr>
              <a:t>rythme et amplitude ajustés en continu</a:t>
            </a:r>
            <a:endParaRPr lang="en-US" sz="950" dirty="0"/>
          </a:p>
        </p:txBody>
      </p:sp>
      <p:sp>
        <p:nvSpPr>
          <p:cNvPr id="22" name="Shape 19"/>
          <p:cNvSpPr/>
          <p:nvPr/>
        </p:nvSpPr>
        <p:spPr>
          <a:xfrm>
            <a:off x="9098280" y="1417320"/>
            <a:ext cx="2523744" cy="2743200"/>
          </a:xfrm>
          <a:prstGeom prst="roundRect">
            <a:avLst>
              <a:gd name="adj" fmla="val 3261"/>
            </a:avLst>
          </a:prstGeom>
          <a:solidFill>
            <a:srgbClr val="DCEBF5"/>
          </a:solidFill>
          <a:ln/>
          <a:effectLst>
            <a:outerShdw sx="100000" sy="100000" kx="0" ky="0" algn="bl" rotWithShape="0" blurRad="88900" dist="25400" dir="5400000">
              <a:srgbClr val="0A2942">
                <a:alpha val="16000"/>
              </a:srgbClr>
            </a:outerShdw>
          </a:effectLst>
        </p:spPr>
      </p:sp>
      <p:sp>
        <p:nvSpPr>
          <p:cNvPr id="23" name="Text 20"/>
          <p:cNvSpPr/>
          <p:nvPr/>
        </p:nvSpPr>
        <p:spPr>
          <a:xfrm>
            <a:off x="9326880" y="1600200"/>
            <a:ext cx="2103120" cy="320040"/>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Particularité unique</a:t>
            </a:r>
            <a:endParaRPr lang="en-US" sz="1150" dirty="0"/>
          </a:p>
        </p:txBody>
      </p:sp>
      <p:sp>
        <p:nvSpPr>
          <p:cNvPr id="24" name="Text 21"/>
          <p:cNvSpPr/>
          <p:nvPr/>
        </p:nvSpPr>
        <p:spPr>
          <a:xfrm>
            <a:off x="9326880" y="1965960"/>
            <a:ext cx="2148840" cy="2103120"/>
          </a:xfrm>
          <a:prstGeom prst="rect">
            <a:avLst/>
          </a:prstGeom>
          <a:noFill/>
          <a:ln/>
        </p:spPr>
        <p:txBody>
          <a:bodyPr wrap="square" lIns="0" tIns="0" rIns="0" bIns="0" rtlCol="0" anchor="t"/>
          <a:lstStyle/>
          <a:p>
            <a:pPr indent="0" marL="0">
              <a:lnSpc>
                <a:spcPct val="112000"/>
              </a:lnSpc>
              <a:buNone/>
            </a:pPr>
            <a:r>
              <a:rPr lang="en-US" sz="1050" dirty="0">
                <a:solidFill>
                  <a:srgbClr val="1F3347"/>
                </a:solidFill>
                <a:latin typeface="Calibri" pitchFamily="34" charset="0"/>
                <a:ea typeface="Calibri" pitchFamily="34" charset="-122"/>
                <a:cs typeface="Calibri" pitchFamily="34" charset="-120"/>
              </a:rPr>
              <a:t>Automatique comme le cœur… mais court-circuitable volontairement. C'est ce qui rend l'apnée possible — et dangereuse.</a:t>
            </a:r>
            <a:endParaRPr lang="en-US" sz="1050" dirty="0"/>
          </a:p>
        </p:txBody>
      </p:sp>
      <p:sp>
        <p:nvSpPr>
          <p:cNvPr id="25" name="Shape 22"/>
          <p:cNvSpPr/>
          <p:nvPr/>
        </p:nvSpPr>
        <p:spPr>
          <a:xfrm>
            <a:off x="548640" y="4434840"/>
            <a:ext cx="11073384" cy="1645920"/>
          </a:xfrm>
          <a:prstGeom prst="roundRect">
            <a:avLst>
              <a:gd name="adj" fmla="val 5000"/>
            </a:avLst>
          </a:prstGeom>
          <a:solidFill>
            <a:srgbClr val="FBE9E1"/>
          </a:solidFill>
          <a:ln/>
          <a:effectLst>
            <a:outerShdw sx="100000" sy="100000" kx="0" ky="0" algn="bl" rotWithShape="0" blurRad="88900" dist="25400" dir="5400000">
              <a:srgbClr val="0A2942">
                <a:alpha val="16000"/>
              </a:srgbClr>
            </a:outerShdw>
          </a:effectLst>
        </p:spPr>
      </p:sp>
      <p:sp>
        <p:nvSpPr>
          <p:cNvPr id="26" name="Shape 23"/>
          <p:cNvSpPr/>
          <p:nvPr/>
        </p:nvSpPr>
        <p:spPr>
          <a:xfrm>
            <a:off x="822960" y="4709160"/>
            <a:ext cx="566928" cy="566928"/>
          </a:xfrm>
          <a:prstGeom prst="ellipse">
            <a:avLst/>
          </a:prstGeom>
          <a:solidFill>
            <a:srgbClr val="D9541E"/>
          </a:solidFill>
          <a:ln/>
        </p:spPr>
      </p:sp>
      <p:pic>
        <p:nvPicPr>
          <p:cNvPr id="27" name="Image 1" descr="preencoded.png">    </p:cNvPr>
          <p:cNvPicPr>
            <a:picLocks noChangeAspect="1"/>
          </p:cNvPicPr>
          <p:nvPr/>
        </p:nvPicPr>
        <p:blipFill>
          <a:blip r:embed="rId2"/>
          <a:stretch>
            <a:fillRect/>
          </a:stretch>
        </p:blipFill>
        <p:spPr>
          <a:xfrm>
            <a:off x="970361" y="4856561"/>
            <a:ext cx="272125" cy="272125"/>
          </a:xfrm>
          <a:prstGeom prst="rect">
            <a:avLst/>
          </a:prstGeom>
        </p:spPr>
      </p:pic>
      <p:sp>
        <p:nvSpPr>
          <p:cNvPr id="28" name="Text 24"/>
          <p:cNvSpPr/>
          <p:nvPr/>
        </p:nvSpPr>
        <p:spPr>
          <a:xfrm>
            <a:off x="1600200" y="4617720"/>
            <a:ext cx="9784080" cy="36576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La phrase à marteler devant un élève</a:t>
            </a:r>
            <a:endParaRPr lang="en-US" sz="1400" dirty="0"/>
          </a:p>
        </p:txBody>
      </p:sp>
      <p:sp>
        <p:nvSpPr>
          <p:cNvPr id="29" name="Text 25"/>
          <p:cNvSpPr/>
          <p:nvPr/>
        </p:nvSpPr>
        <p:spPr>
          <a:xfrm>
            <a:off x="1600200" y="4983480"/>
            <a:ext cx="9738360" cy="1005840"/>
          </a:xfrm>
          <a:prstGeom prst="rect">
            <a:avLst/>
          </a:prstGeom>
          <a:noFill/>
          <a:ln/>
        </p:spPr>
        <p:txBody>
          <a:bodyPr wrap="square" lIns="0" tIns="0" rIns="0" bIns="0" rtlCol="0" anchor="t"/>
          <a:lstStyle/>
          <a:p>
            <a:pPr indent="0" marL="0">
              <a:lnSpc>
                <a:spcPct val="112000"/>
              </a:lnSpc>
              <a:buNone/>
            </a:pPr>
            <a:r>
              <a:rPr lang="en-US" sz="1350" b="1" i="1" dirty="0">
                <a:solidFill>
                  <a:srgbClr val="1F3347"/>
                </a:solidFill>
                <a:latin typeface="Calibri" pitchFamily="34" charset="0"/>
                <a:ea typeface="Calibri" pitchFamily="34" charset="-122"/>
                <a:cs typeface="Calibri" pitchFamily="34" charset="-120"/>
              </a:rPr>
              <a:t>« Votre alarme, c'est le CO₂. Ce qui vous fait tomber, c'est le manque d'O₂. »  </a:t>
            </a:r>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Deux gaz différents : l'alarme ne surveille pas le vrai danger. Tant que les deux montent ensemble, l'envie de respirer arrive avant l'accident. Le jour où l'on trafique le CO₂ — hyperventilation — on débranche l'alarme sans réduire le danger.</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transport des gaz : l'hémoglobine fait le travail</a:t>
            </a:r>
            <a:endParaRPr lang="en-US" sz="2800" dirty="0"/>
          </a:p>
        </p:txBody>
      </p:sp>
      <p:sp>
        <p:nvSpPr>
          <p:cNvPr id="4" name="Shape 2"/>
          <p:cNvSpPr/>
          <p:nvPr/>
        </p:nvSpPr>
        <p:spPr>
          <a:xfrm>
            <a:off x="548640" y="1417320"/>
            <a:ext cx="5440680"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749808" y="1600200"/>
            <a:ext cx="457200" cy="45720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868680" y="1719072"/>
            <a:ext cx="219456" cy="219456"/>
          </a:xfrm>
          <a:prstGeom prst="rect">
            <a:avLst/>
          </a:prstGeom>
        </p:spPr>
      </p:pic>
      <p:sp>
        <p:nvSpPr>
          <p:cNvPr id="7" name="Text 4"/>
          <p:cNvSpPr/>
          <p:nvPr/>
        </p:nvSpPr>
        <p:spPr>
          <a:xfrm>
            <a:off x="1335024" y="1563624"/>
            <a:ext cx="4526280" cy="512064"/>
          </a:xfrm>
          <a:prstGeom prst="rect">
            <a:avLst/>
          </a:prstGeom>
          <a:noFill/>
          <a:ln/>
        </p:spPr>
        <p:txBody>
          <a:bodyPr wrap="square" lIns="0" tIns="0" rIns="0" bIns="0" rtlCol="0" anchor="ctr"/>
          <a:lstStyle/>
          <a:p>
            <a:pPr indent="0" marL="0">
              <a:lnSpc>
                <a:spcPct val="100000"/>
              </a:lnSpc>
              <a:buNone/>
            </a:pPr>
            <a:r>
              <a:rPr lang="en-US" sz="1400" b="1" dirty="0">
                <a:solidFill>
                  <a:srgbClr val="1F3347"/>
                </a:solidFill>
                <a:latin typeface="Calibri" pitchFamily="34" charset="0"/>
                <a:ea typeface="Calibri" pitchFamily="34" charset="-122"/>
                <a:cs typeface="Calibri" pitchFamily="34" charset="-120"/>
              </a:rPr>
              <a:t>Deux formes de transport</a:t>
            </a:r>
            <a:endParaRPr lang="en-US" sz="1400" dirty="0"/>
          </a:p>
        </p:txBody>
      </p:sp>
      <p:sp>
        <p:nvSpPr>
          <p:cNvPr id="8" name="Text 5"/>
          <p:cNvSpPr/>
          <p:nvPr/>
        </p:nvSpPr>
        <p:spPr>
          <a:xfrm>
            <a:off x="786384" y="2167128"/>
            <a:ext cx="4965192" cy="1188720"/>
          </a:xfrm>
          <a:prstGeom prst="rect">
            <a:avLst/>
          </a:prstGeom>
          <a:noFill/>
          <a:ln/>
        </p:spPr>
        <p:txBody>
          <a:bodyPr wrap="square" lIns="0" tIns="0" rIns="0" bIns="0" rtlCol="0" anchor="t"/>
          <a:lstStyle/>
          <a:p>
            <a:pPr indent="0" marL="0">
              <a:lnSpc>
                <a:spcPct val="110000"/>
              </a:lnSpc>
              <a:buNone/>
            </a:pPr>
            <a:r>
              <a:rPr lang="en-US" sz="1150" dirty="0">
                <a:solidFill>
                  <a:srgbClr val="5B7288"/>
                </a:solidFill>
                <a:latin typeface="Calibri" pitchFamily="34" charset="0"/>
                <a:ea typeface="Calibri" pitchFamily="34" charset="-122"/>
                <a:cs typeface="Calibri" pitchFamily="34" charset="-120"/>
              </a:rPr>
              <a:t>Une petite part dissoute dans le plasma (passage obligé), l'essentiel fixé sur l'hémoglobine des globules rouges : oxyhémoglobine (O₂), carbohémoglobine (CO₂). Liaisons réversibles — sinon pas de livraison.</a:t>
            </a:r>
            <a:endParaRPr lang="en-US" sz="1150" dirty="0"/>
          </a:p>
        </p:txBody>
      </p:sp>
      <p:sp>
        <p:nvSpPr>
          <p:cNvPr id="9" name="Shape 6"/>
          <p:cNvSpPr/>
          <p:nvPr/>
        </p:nvSpPr>
        <p:spPr>
          <a:xfrm>
            <a:off x="6181344" y="1417320"/>
            <a:ext cx="5440680"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10" name="Shape 7"/>
          <p:cNvSpPr/>
          <p:nvPr/>
        </p:nvSpPr>
        <p:spPr>
          <a:xfrm>
            <a:off x="6382512" y="1600200"/>
            <a:ext cx="457200" cy="45720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6501384" y="1719072"/>
            <a:ext cx="219456" cy="219456"/>
          </a:xfrm>
          <a:prstGeom prst="rect">
            <a:avLst/>
          </a:prstGeom>
        </p:spPr>
      </p:pic>
      <p:sp>
        <p:nvSpPr>
          <p:cNvPr id="12" name="Text 8"/>
          <p:cNvSpPr/>
          <p:nvPr/>
        </p:nvSpPr>
        <p:spPr>
          <a:xfrm>
            <a:off x="6967728" y="1563624"/>
            <a:ext cx="4526280" cy="512064"/>
          </a:xfrm>
          <a:prstGeom prst="rect">
            <a:avLst/>
          </a:prstGeom>
          <a:noFill/>
          <a:ln/>
        </p:spPr>
        <p:txBody>
          <a:bodyPr wrap="square" lIns="0" tIns="0" rIns="0" bIns="0" rtlCol="0" anchor="ctr"/>
          <a:lstStyle/>
          <a:p>
            <a:pPr indent="0" marL="0">
              <a:lnSpc>
                <a:spcPct val="100000"/>
              </a:lnSpc>
              <a:buNone/>
            </a:pPr>
            <a:r>
              <a:rPr lang="en-US" sz="1400" b="1" dirty="0">
                <a:solidFill>
                  <a:srgbClr val="1F3347"/>
                </a:solidFill>
                <a:latin typeface="Calibri" pitchFamily="34" charset="0"/>
                <a:ea typeface="Calibri" pitchFamily="34" charset="-122"/>
                <a:cs typeface="Calibri" pitchFamily="34" charset="-120"/>
              </a:rPr>
              <a:t>Diffusion passive, toujours</a:t>
            </a:r>
            <a:endParaRPr lang="en-US" sz="1400" dirty="0"/>
          </a:p>
        </p:txBody>
      </p:sp>
      <p:sp>
        <p:nvSpPr>
          <p:cNvPr id="13" name="Text 9"/>
          <p:cNvSpPr/>
          <p:nvPr/>
        </p:nvSpPr>
        <p:spPr>
          <a:xfrm>
            <a:off x="6419088" y="2167128"/>
            <a:ext cx="4965192" cy="1188720"/>
          </a:xfrm>
          <a:prstGeom prst="rect">
            <a:avLst/>
          </a:prstGeom>
          <a:noFill/>
          <a:ln/>
        </p:spPr>
        <p:txBody>
          <a:bodyPr wrap="square" lIns="0" tIns="0" rIns="0" bIns="0" rtlCol="0" anchor="t"/>
          <a:lstStyle/>
          <a:p>
            <a:pPr indent="0" marL="0">
              <a:lnSpc>
                <a:spcPct val="110000"/>
              </a:lnSpc>
              <a:buNone/>
            </a:pPr>
            <a:r>
              <a:rPr lang="en-US" sz="1150" dirty="0">
                <a:solidFill>
                  <a:srgbClr val="5B7288"/>
                </a:solidFill>
                <a:latin typeface="Calibri" pitchFamily="34" charset="0"/>
                <a:ea typeface="Calibri" pitchFamily="34" charset="-122"/>
                <a:cs typeface="Calibri" pitchFamily="34" charset="-120"/>
              </a:rPr>
              <a:t>Les échanges vont du plus concentré vers le moins concentré. Aucune pompe, aucun miracle possible : ce sont les différences de pression partielle qui font tout.</a:t>
            </a:r>
            <a:endParaRPr lang="en-US" sz="1150" dirty="0"/>
          </a:p>
        </p:txBody>
      </p:sp>
      <p:sp>
        <p:nvSpPr>
          <p:cNvPr id="14" name="Shape 10"/>
          <p:cNvSpPr/>
          <p:nvPr/>
        </p:nvSpPr>
        <p:spPr>
          <a:xfrm>
            <a:off x="548640" y="3794760"/>
            <a:ext cx="11073384" cy="2286000"/>
          </a:xfrm>
          <a:prstGeom prst="roundRect">
            <a:avLst>
              <a:gd name="adj" fmla="val 3600"/>
            </a:avLst>
          </a:prstGeom>
          <a:solidFill>
            <a:srgbClr val="DCEBF5"/>
          </a:solidFill>
          <a:ln/>
          <a:effectLst>
            <a:outerShdw sx="100000" sy="100000" kx="0" ky="0" algn="bl" rotWithShape="0" blurRad="88900" dist="25400" dir="5400000">
              <a:srgbClr val="0A2942">
                <a:alpha val="16000"/>
              </a:srgbClr>
            </a:outerShdw>
          </a:effectLst>
        </p:spPr>
      </p:sp>
      <p:sp>
        <p:nvSpPr>
          <p:cNvPr id="15" name="Text 11"/>
          <p:cNvSpPr/>
          <p:nvPr/>
        </p:nvSpPr>
        <p:spPr>
          <a:xfrm>
            <a:off x="868680" y="4069080"/>
            <a:ext cx="2377440" cy="914400"/>
          </a:xfrm>
          <a:prstGeom prst="rect">
            <a:avLst/>
          </a:prstGeom>
          <a:noFill/>
          <a:ln/>
        </p:spPr>
        <p:txBody>
          <a:bodyPr wrap="square" lIns="0" tIns="0" rIns="0" bIns="0" rtlCol="0" anchor="ctr"/>
          <a:lstStyle/>
          <a:p>
            <a:pPr indent="0" marL="0">
              <a:buNone/>
            </a:pPr>
            <a:r>
              <a:rPr lang="en-US" sz="5400" b="1" dirty="0">
                <a:solidFill>
                  <a:srgbClr val="065A82"/>
                </a:solidFill>
                <a:latin typeface="Cambria" pitchFamily="34" charset="0"/>
                <a:ea typeface="Cambria" pitchFamily="34" charset="-122"/>
                <a:cs typeface="Cambria" pitchFamily="34" charset="-120"/>
              </a:rPr>
              <a:t>97 %</a:t>
            </a:r>
            <a:endParaRPr lang="en-US" sz="5400" dirty="0"/>
          </a:p>
        </p:txBody>
      </p:sp>
      <p:sp>
        <p:nvSpPr>
          <p:cNvPr id="16" name="Text 12"/>
          <p:cNvSpPr/>
          <p:nvPr/>
        </p:nvSpPr>
        <p:spPr>
          <a:xfrm>
            <a:off x="896112" y="5029200"/>
            <a:ext cx="2651760" cy="731520"/>
          </a:xfrm>
          <a:prstGeom prst="rect">
            <a:avLst/>
          </a:prstGeom>
          <a:noFill/>
          <a:ln/>
        </p:spPr>
        <p:txBody>
          <a:bodyPr wrap="square" lIns="0" tIns="0" rIns="0" bIns="0" rtlCol="0" anchor="ctr"/>
          <a:lstStyle/>
          <a:p>
            <a:pPr indent="0" marL="0">
              <a:lnSpc>
                <a:spcPct val="105000"/>
              </a:lnSpc>
              <a:buNone/>
            </a:pPr>
            <a:r>
              <a:rPr lang="en-US" sz="1100" b="1" dirty="0">
                <a:solidFill>
                  <a:srgbClr val="1F3347"/>
                </a:solidFill>
                <a:latin typeface="Calibri" pitchFamily="34" charset="0"/>
                <a:ea typeface="Calibri" pitchFamily="34" charset="-122"/>
                <a:cs typeface="Calibri" pitchFamily="34" charset="-120"/>
              </a:rPr>
              <a:t>de saturation de l'hémoglobine</a:t>
            </a:r>
            <a:endParaRPr lang="en-US" sz="1100" dirty="0"/>
          </a:p>
          <a:p>
            <a:pPr indent="0" marL="0">
              <a:lnSpc>
                <a:spcPct val="105000"/>
              </a:lnSpc>
              <a:buNone/>
            </a:pPr>
            <a:r>
              <a:rPr lang="en-US" sz="1100" b="1" dirty="0">
                <a:solidFill>
                  <a:srgbClr val="1F3347"/>
                </a:solidFill>
                <a:latin typeface="Calibri" pitchFamily="34" charset="0"/>
                <a:ea typeface="Calibri" pitchFamily="34" charset="-122"/>
                <a:cs typeface="Calibri" pitchFamily="34" charset="-120"/>
              </a:rPr>
              <a:t>en ventilation normale</a:t>
            </a:r>
            <a:endParaRPr lang="en-US" sz="1100" dirty="0"/>
          </a:p>
        </p:txBody>
      </p:sp>
      <p:sp>
        <p:nvSpPr>
          <p:cNvPr id="17" name="Text 13"/>
          <p:cNvSpPr/>
          <p:nvPr/>
        </p:nvSpPr>
        <p:spPr>
          <a:xfrm>
            <a:off x="3749040" y="4023360"/>
            <a:ext cx="7589520" cy="1828800"/>
          </a:xfrm>
          <a:prstGeom prst="rect">
            <a:avLst/>
          </a:prstGeom>
          <a:noFill/>
          <a:ln/>
        </p:spPr>
        <p:txBody>
          <a:bodyPr wrap="square" lIns="0" tIns="0" rIns="0" bIns="0" rtlCol="0" anchor="ctr"/>
          <a:lstStyle/>
          <a:p>
            <a:pPr indent="0" marL="0">
              <a:lnSpc>
                <a:spcPct val="118000"/>
              </a:lnSpc>
              <a:buNone/>
            </a:pPr>
            <a:r>
              <a:rPr lang="en-US" sz="1250" b="1" dirty="0">
                <a:solidFill>
                  <a:srgbClr val="1F3347"/>
                </a:solidFill>
                <a:latin typeface="Calibri" pitchFamily="34" charset="0"/>
                <a:ea typeface="Calibri" pitchFamily="34" charset="-122"/>
                <a:cs typeface="Calibri" pitchFamily="34" charset="-120"/>
              </a:rPr>
              <a:t>La nouvelle qui déçoit toujours : le réservoir est déjà plein. </a:t>
            </a:r>
            <a:pPr indent="0" marL="0">
              <a:lnSpc>
                <a:spcPct val="118000"/>
              </a:lnSpc>
              <a:buNone/>
            </a:pPr>
            <a:r>
              <a:rPr lang="en-US" sz="1250" dirty="0">
                <a:solidFill>
                  <a:srgbClr val="1F3347"/>
                </a:solidFill>
                <a:latin typeface="Calibri" pitchFamily="34" charset="0"/>
                <a:ea typeface="Calibri" pitchFamily="34" charset="-122"/>
                <a:cs typeface="Calibri" pitchFamily="34" charset="-120"/>
              </a:rPr>
              <a:t>Ventiler plus longtemps, plus fort ou plus profond ne charge pas un gramme d'oxygène supplémentaire (98 % au grand maximum). La marge de progression d'un apnéiste n'est donc pas dans le stock : elle est dans la consommation. On ne travaille pas à embarquer plus — on travaille à dépenser moins : relâchement, technique, hydrodynamisme.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L'aller-retour des gaz : alvéole ↔ tissus</a:t>
            </a:r>
            <a:endParaRPr lang="en-US" sz="2800" dirty="0"/>
          </a:p>
        </p:txBody>
      </p:sp>
      <p:sp>
        <p:nvSpPr>
          <p:cNvPr id="4" name="Shape 2"/>
          <p:cNvSpPr/>
          <p:nvPr/>
        </p:nvSpPr>
        <p:spPr>
          <a:xfrm>
            <a:off x="548640" y="1508760"/>
            <a:ext cx="3840480" cy="1828800"/>
          </a:xfrm>
          <a:prstGeom prst="roundRect">
            <a:avLst>
              <a:gd name="adj" fmla="val 4500"/>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777240" y="1737360"/>
            <a:ext cx="502920" cy="50292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907999" y="1868119"/>
            <a:ext cx="241402" cy="241402"/>
          </a:xfrm>
          <a:prstGeom prst="rect">
            <a:avLst/>
          </a:prstGeom>
        </p:spPr>
      </p:pic>
      <p:sp>
        <p:nvSpPr>
          <p:cNvPr id="7" name="Text 4"/>
          <p:cNvSpPr/>
          <p:nvPr/>
        </p:nvSpPr>
        <p:spPr>
          <a:xfrm>
            <a:off x="1417320" y="1719072"/>
            <a:ext cx="2834640" cy="50292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Étape alvéolaire</a:t>
            </a:r>
            <a:endParaRPr lang="en-US" sz="1350" dirty="0"/>
          </a:p>
        </p:txBody>
      </p:sp>
      <p:sp>
        <p:nvSpPr>
          <p:cNvPr id="8" name="Text 5"/>
          <p:cNvSpPr/>
          <p:nvPr/>
        </p:nvSpPr>
        <p:spPr>
          <a:xfrm>
            <a:off x="822960" y="2286000"/>
            <a:ext cx="3337560" cy="960120"/>
          </a:xfrm>
          <a:prstGeom prst="rect">
            <a:avLst/>
          </a:prstGeom>
          <a:noFill/>
          <a:ln/>
        </p:spPr>
        <p:txBody>
          <a:bodyPr wrap="square" lIns="0" tIns="0" rIns="0" bIns="0" rtlCol="0" anchor="t"/>
          <a:lstStyle/>
          <a:p>
            <a:pPr indent="0" marL="0">
              <a:lnSpc>
                <a:spcPct val="110000"/>
              </a:lnSpc>
              <a:buNone/>
            </a:pPr>
            <a:r>
              <a:rPr lang="en-US" sz="1050" dirty="0">
                <a:solidFill>
                  <a:srgbClr val="5B7288"/>
                </a:solidFill>
                <a:latin typeface="Calibri" pitchFamily="34" charset="0"/>
                <a:ea typeface="Calibri" pitchFamily="34" charset="-122"/>
                <a:cs typeface="Calibri" pitchFamily="34" charset="-120"/>
              </a:rPr>
              <a:t>Le sang arrive chargé en CO₂, pauvre en O₂. À travers 2 µm de paroi : le CO₂ sort, l'O₂ entre. Le sang repart oxygéné.</a:t>
            </a:r>
            <a:endParaRPr lang="en-US" sz="1050" dirty="0"/>
          </a:p>
        </p:txBody>
      </p:sp>
      <p:sp>
        <p:nvSpPr>
          <p:cNvPr id="9" name="Shape 6"/>
          <p:cNvSpPr/>
          <p:nvPr/>
        </p:nvSpPr>
        <p:spPr>
          <a:xfrm>
            <a:off x="7772400" y="1508760"/>
            <a:ext cx="3840480" cy="1828800"/>
          </a:xfrm>
          <a:prstGeom prst="roundRect">
            <a:avLst>
              <a:gd name="adj" fmla="val 4500"/>
            </a:avLst>
          </a:prstGeom>
          <a:solidFill>
            <a:srgbClr val="F2F7FB"/>
          </a:solidFill>
          <a:ln/>
          <a:effectLst>
            <a:outerShdw sx="100000" sy="100000" kx="0" ky="0" algn="bl" rotWithShape="0" blurRad="88900" dist="25400" dir="5400000">
              <a:srgbClr val="0A2942">
                <a:alpha val="16000"/>
              </a:srgbClr>
            </a:outerShdw>
          </a:effectLst>
        </p:spPr>
      </p:sp>
      <p:sp>
        <p:nvSpPr>
          <p:cNvPr id="10" name="Shape 7"/>
          <p:cNvSpPr/>
          <p:nvPr/>
        </p:nvSpPr>
        <p:spPr>
          <a:xfrm>
            <a:off x="8001000" y="1737360"/>
            <a:ext cx="502920" cy="50292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8131759" y="1868119"/>
            <a:ext cx="241402" cy="241402"/>
          </a:xfrm>
          <a:prstGeom prst="rect">
            <a:avLst/>
          </a:prstGeom>
        </p:spPr>
      </p:pic>
      <p:sp>
        <p:nvSpPr>
          <p:cNvPr id="12" name="Text 8"/>
          <p:cNvSpPr/>
          <p:nvPr/>
        </p:nvSpPr>
        <p:spPr>
          <a:xfrm>
            <a:off x="8641080" y="1719072"/>
            <a:ext cx="2834640" cy="50292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Étape tissulaire</a:t>
            </a:r>
            <a:endParaRPr lang="en-US" sz="1350" dirty="0"/>
          </a:p>
        </p:txBody>
      </p:sp>
      <p:sp>
        <p:nvSpPr>
          <p:cNvPr id="13" name="Text 9"/>
          <p:cNvSpPr/>
          <p:nvPr/>
        </p:nvSpPr>
        <p:spPr>
          <a:xfrm>
            <a:off x="8046720" y="2286000"/>
            <a:ext cx="3337560" cy="960120"/>
          </a:xfrm>
          <a:prstGeom prst="rect">
            <a:avLst/>
          </a:prstGeom>
          <a:noFill/>
          <a:ln/>
        </p:spPr>
        <p:txBody>
          <a:bodyPr wrap="square" lIns="0" tIns="0" rIns="0" bIns="0" rtlCol="0" anchor="t"/>
          <a:lstStyle/>
          <a:p>
            <a:pPr indent="0" marL="0">
              <a:lnSpc>
                <a:spcPct val="110000"/>
              </a:lnSpc>
              <a:buNone/>
            </a:pPr>
            <a:r>
              <a:rPr lang="en-US" sz="1050" dirty="0">
                <a:solidFill>
                  <a:srgbClr val="5B7288"/>
                </a:solidFill>
                <a:latin typeface="Calibri" pitchFamily="34" charset="0"/>
                <a:ea typeface="Calibri" pitchFamily="34" charset="-122"/>
                <a:cs typeface="Calibri" pitchFamily="34" charset="-120"/>
              </a:rPr>
              <a:t>Les cellules manquent d'O₂ et regorgent de CO₂ : l'O₂ se détache de l'Hb et nourrit la cellule, le CO₂ part dans le sang.</a:t>
            </a:r>
            <a:endParaRPr lang="en-US" sz="1050" dirty="0"/>
          </a:p>
        </p:txBody>
      </p:sp>
      <p:sp>
        <p:nvSpPr>
          <p:cNvPr id="14" name="Shape 10"/>
          <p:cNvSpPr/>
          <p:nvPr/>
        </p:nvSpPr>
        <p:spPr>
          <a:xfrm>
            <a:off x="4434840" y="2057400"/>
            <a:ext cx="3291840" cy="0"/>
          </a:xfrm>
          <a:prstGeom prst="line">
            <a:avLst/>
          </a:prstGeom>
          <a:noFill/>
          <a:ln w="38100">
            <a:solidFill>
              <a:srgbClr val="0E7CB8"/>
            </a:solidFill>
            <a:prstDash val="solid"/>
            <a:tailEnd type="triangle"/>
          </a:ln>
        </p:spPr>
      </p:sp>
      <p:sp>
        <p:nvSpPr>
          <p:cNvPr id="15" name="Text 11"/>
          <p:cNvSpPr/>
          <p:nvPr/>
        </p:nvSpPr>
        <p:spPr>
          <a:xfrm>
            <a:off x="4754880" y="1783080"/>
            <a:ext cx="2651760" cy="274320"/>
          </a:xfrm>
          <a:prstGeom prst="rect">
            <a:avLst/>
          </a:prstGeom>
          <a:noFill/>
          <a:ln/>
        </p:spPr>
        <p:txBody>
          <a:bodyPr wrap="square" lIns="0" tIns="0" rIns="0" bIns="0" rtlCol="0" anchor="ctr"/>
          <a:lstStyle/>
          <a:p>
            <a:pPr algn="ctr" indent="0" marL="0">
              <a:buNone/>
            </a:pPr>
            <a:r>
              <a:rPr lang="en-US" sz="1050" b="1" dirty="0">
                <a:solidFill>
                  <a:srgbClr val="0E7CB8"/>
                </a:solidFill>
                <a:latin typeface="Calibri" pitchFamily="34" charset="0"/>
                <a:ea typeface="Calibri" pitchFamily="34" charset="-122"/>
                <a:cs typeface="Calibri" pitchFamily="34" charset="-120"/>
              </a:rPr>
              <a:t>sang oxygéné →</a:t>
            </a:r>
            <a:endParaRPr lang="en-US" sz="1050" dirty="0"/>
          </a:p>
        </p:txBody>
      </p:sp>
      <p:sp>
        <p:nvSpPr>
          <p:cNvPr id="16" name="Shape 12"/>
          <p:cNvSpPr/>
          <p:nvPr/>
        </p:nvSpPr>
        <p:spPr>
          <a:xfrm>
            <a:off x="7726680" y="2880360"/>
            <a:ext cx="-3291840" cy="0"/>
          </a:xfrm>
          <a:prstGeom prst="line">
            <a:avLst/>
          </a:prstGeom>
          <a:noFill/>
          <a:ln w="38100">
            <a:solidFill>
              <a:srgbClr val="8A4B0F"/>
            </a:solidFill>
            <a:prstDash val="solid"/>
            <a:tailEnd type="triangle"/>
          </a:ln>
        </p:spPr>
      </p:sp>
      <p:sp>
        <p:nvSpPr>
          <p:cNvPr id="17" name="Text 13"/>
          <p:cNvSpPr/>
          <p:nvPr/>
        </p:nvSpPr>
        <p:spPr>
          <a:xfrm>
            <a:off x="4754880" y="2999232"/>
            <a:ext cx="2651760" cy="274320"/>
          </a:xfrm>
          <a:prstGeom prst="rect">
            <a:avLst/>
          </a:prstGeom>
          <a:noFill/>
          <a:ln/>
        </p:spPr>
        <p:txBody>
          <a:bodyPr wrap="square" lIns="0" tIns="0" rIns="0" bIns="0" rtlCol="0" anchor="ctr"/>
          <a:lstStyle/>
          <a:p>
            <a:pPr algn="ctr" indent="0" marL="0">
              <a:buNone/>
            </a:pPr>
            <a:r>
              <a:rPr lang="en-US" sz="1050" b="1" dirty="0">
                <a:solidFill>
                  <a:srgbClr val="8A4B0F"/>
                </a:solidFill>
                <a:latin typeface="Calibri" pitchFamily="34" charset="0"/>
                <a:ea typeface="Calibri" pitchFamily="34" charset="-122"/>
                <a:cs typeface="Calibri" pitchFamily="34" charset="-120"/>
              </a:rPr>
              <a:t>← sang chargé en CO₂</a:t>
            </a:r>
            <a:endParaRPr lang="en-US" sz="1050" dirty="0"/>
          </a:p>
        </p:txBody>
      </p:sp>
      <p:sp>
        <p:nvSpPr>
          <p:cNvPr id="18" name="Shape 14"/>
          <p:cNvSpPr/>
          <p:nvPr/>
        </p:nvSpPr>
        <p:spPr>
          <a:xfrm>
            <a:off x="548640" y="3794760"/>
            <a:ext cx="5440680" cy="2286000"/>
          </a:xfrm>
          <a:prstGeom prst="roundRect">
            <a:avLst>
              <a:gd name="adj" fmla="val 3600"/>
            </a:avLst>
          </a:prstGeom>
          <a:solidFill>
            <a:srgbClr val="DCEBF5"/>
          </a:solidFill>
          <a:ln/>
          <a:effectLst>
            <a:outerShdw sx="100000" sy="100000" kx="0" ky="0" algn="bl" rotWithShape="0" blurRad="88900" dist="25400" dir="5400000">
              <a:srgbClr val="0A2942">
                <a:alpha val="16000"/>
              </a:srgbClr>
            </a:outerShdw>
          </a:effectLst>
        </p:spPr>
      </p:sp>
      <p:sp>
        <p:nvSpPr>
          <p:cNvPr id="19" name="Shape 15"/>
          <p:cNvSpPr/>
          <p:nvPr/>
        </p:nvSpPr>
        <p:spPr>
          <a:xfrm>
            <a:off x="822960" y="4069080"/>
            <a:ext cx="548640" cy="548640"/>
          </a:xfrm>
          <a:prstGeom prst="ellipse">
            <a:avLst/>
          </a:prstGeom>
          <a:solidFill>
            <a:srgbClr val="065A82"/>
          </a:solidFill>
          <a:ln/>
        </p:spPr>
      </p:sp>
      <p:pic>
        <p:nvPicPr>
          <p:cNvPr id="20" name="Image 2" descr="preencoded.png">    </p:cNvPr>
          <p:cNvPicPr>
            <a:picLocks noChangeAspect="1"/>
          </p:cNvPicPr>
          <p:nvPr/>
        </p:nvPicPr>
        <p:blipFill>
          <a:blip r:embed="rId3"/>
          <a:stretch>
            <a:fillRect/>
          </a:stretch>
        </p:blipFill>
        <p:spPr>
          <a:xfrm>
            <a:off x="965606" y="4211726"/>
            <a:ext cx="263347" cy="263347"/>
          </a:xfrm>
          <a:prstGeom prst="rect">
            <a:avLst/>
          </a:prstGeom>
        </p:spPr>
      </p:pic>
      <p:sp>
        <p:nvSpPr>
          <p:cNvPr id="21" name="Text 16"/>
          <p:cNvSpPr/>
          <p:nvPr/>
        </p:nvSpPr>
        <p:spPr>
          <a:xfrm>
            <a:off x="1554480" y="4041648"/>
            <a:ext cx="4297680" cy="54864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La consommation n'est pas fixe</a:t>
            </a:r>
            <a:endParaRPr lang="en-US" sz="1350" dirty="0"/>
          </a:p>
        </p:txBody>
      </p:sp>
      <p:sp>
        <p:nvSpPr>
          <p:cNvPr id="22" name="Text 17"/>
          <p:cNvSpPr/>
          <p:nvPr/>
        </p:nvSpPr>
        <p:spPr>
          <a:xfrm>
            <a:off x="822960" y="4617720"/>
            <a:ext cx="4892040" cy="137160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Elle dépend du travail des cellules. Un élève qui palme fort, lutte contre un mauvais lestage ou se crispe augmente la demande — et brûle son stock plus vite. « L'apnée se gagne au relâchement » n'est pas de la philosophie : c'est de la comptabilité d'oxygène.</a:t>
            </a:r>
            <a:endParaRPr lang="en-US" sz="1150" dirty="0"/>
          </a:p>
        </p:txBody>
      </p:sp>
      <p:sp>
        <p:nvSpPr>
          <p:cNvPr id="23" name="Shape 18"/>
          <p:cNvSpPr/>
          <p:nvPr/>
        </p:nvSpPr>
        <p:spPr>
          <a:xfrm>
            <a:off x="6181344" y="3794760"/>
            <a:ext cx="5440680" cy="2286000"/>
          </a:xfrm>
          <a:prstGeom prst="roundRect">
            <a:avLst>
              <a:gd name="adj" fmla="val 3600"/>
            </a:avLst>
          </a:prstGeom>
          <a:solidFill>
            <a:srgbClr val="DCEBF5"/>
          </a:solidFill>
          <a:ln/>
          <a:effectLst>
            <a:outerShdw sx="100000" sy="100000" kx="0" ky="0" algn="bl" rotWithShape="0" blurRad="88900" dist="25400" dir="5400000">
              <a:srgbClr val="0A2942">
                <a:alpha val="16000"/>
              </a:srgbClr>
            </a:outerShdw>
          </a:effectLst>
        </p:spPr>
      </p:sp>
      <p:sp>
        <p:nvSpPr>
          <p:cNvPr id="24" name="Shape 19"/>
          <p:cNvSpPr/>
          <p:nvPr/>
        </p:nvSpPr>
        <p:spPr>
          <a:xfrm>
            <a:off x="6455664" y="4069080"/>
            <a:ext cx="548640" cy="548640"/>
          </a:xfrm>
          <a:prstGeom prst="ellipse">
            <a:avLst/>
          </a:prstGeom>
          <a:solidFill>
            <a:srgbClr val="065A82"/>
          </a:solidFill>
          <a:ln/>
        </p:spPr>
      </p:sp>
      <p:pic>
        <p:nvPicPr>
          <p:cNvPr id="25" name="Image 3" descr="preencoded.png">    </p:cNvPr>
          <p:cNvPicPr>
            <a:picLocks noChangeAspect="1"/>
          </p:cNvPicPr>
          <p:nvPr/>
        </p:nvPicPr>
        <p:blipFill>
          <a:blip r:embed="rId4"/>
          <a:stretch>
            <a:fillRect/>
          </a:stretch>
        </p:blipFill>
        <p:spPr>
          <a:xfrm>
            <a:off x="6598310" y="4211726"/>
            <a:ext cx="263347" cy="263347"/>
          </a:xfrm>
          <a:prstGeom prst="rect">
            <a:avLst/>
          </a:prstGeom>
        </p:spPr>
      </p:pic>
      <p:sp>
        <p:nvSpPr>
          <p:cNvPr id="26" name="Text 20"/>
          <p:cNvSpPr/>
          <p:nvPr/>
        </p:nvSpPr>
        <p:spPr>
          <a:xfrm>
            <a:off x="7187184" y="4041648"/>
            <a:ext cx="4297680" cy="54864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Le cerveau aussi est un client</a:t>
            </a:r>
            <a:endParaRPr lang="en-US" sz="1350" dirty="0"/>
          </a:p>
        </p:txBody>
      </p:sp>
      <p:sp>
        <p:nvSpPr>
          <p:cNvPr id="27" name="Text 21"/>
          <p:cNvSpPr/>
          <p:nvPr/>
        </p:nvSpPr>
        <p:spPr>
          <a:xfrm>
            <a:off x="6455664" y="4617720"/>
            <a:ext cx="4892040" cy="137160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Un cerveau qui réfléchit, qui stresse, qui calcule, consomme de l'oxygène. « Faire le vide » n'est pas seulement du confort : c'est une économie réelle, mesurable, sur le seul stock disponible.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3 · LA RESPIRATION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Air inspiré, air expiré : deux chiffres qui changent tout</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760720" cy="914400"/>
        </p:xfrm>
        <a:graphic>
          <a:graphicData uri="http://schemas.openxmlformats.org/drawingml/2006/table">
            <a:tbl>
              <a:tblPr/>
              <a:tblGrid>
                <a:gridCol w="1920240"/>
                <a:gridCol w="1920240"/>
                <a:gridCol w="1920240"/>
              </a:tblGrid>
              <a:tr h="502920">
                <a:tc>
                  <a:txBody>
                    <a:bodyPr/>
                    <a:lstStyle/>
                    <a:p>
                      <a:pPr indent="0" marL="0">
                        <a:buNone/>
                      </a:pPr>
                      <a:endParaRPr lang="en-US" sz="1200" dirty="0"/>
                    </a:p>
                  </a:txBody>
                  <a:tcPr marL="54864" marR="54864" marT="54864" marB="54864">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Air INSPIRÉ</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Air EXPIRÉ</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r>
              <a:tr h="566928">
                <a:tc>
                  <a:txBody>
                    <a:bodyPr/>
                    <a:lstStyle/>
                    <a:p>
                      <a:pPr algn="l" indent="0" marL="0">
                        <a:buNone/>
                      </a:pPr>
                      <a:r>
                        <a:rPr lang="en-US" sz="1250" b="1" dirty="0">
                          <a:solidFill>
                            <a:srgbClr val="1F3347"/>
                          </a:solidFill>
                          <a:latin typeface="Calibri" pitchFamily="34" charset="0"/>
                          <a:ea typeface="Calibri" pitchFamily="34" charset="-122"/>
                          <a:cs typeface="Calibri" pitchFamily="34" charset="-120"/>
                        </a:rPr>
                        <a:t>Oxygène</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3347"/>
                          </a:solidFill>
                          <a:latin typeface="Calibri" pitchFamily="34" charset="0"/>
                          <a:ea typeface="Calibri" pitchFamily="34" charset="-122"/>
                          <a:cs typeface="Calibri" pitchFamily="34" charset="-120"/>
                        </a:rPr>
                        <a:t>≈ 20 %</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3347"/>
                          </a:solidFill>
                          <a:latin typeface="Calibri" pitchFamily="34" charset="0"/>
                          <a:ea typeface="Calibri" pitchFamily="34" charset="-122"/>
                          <a:cs typeface="Calibri" pitchFamily="34" charset="-120"/>
                        </a:rPr>
                        <a:t>≈ 16 %</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566928">
                <a:tc>
                  <a:txBody>
                    <a:bodyPr/>
                    <a:lstStyle/>
                    <a:p>
                      <a:pPr algn="l" indent="0" marL="0">
                        <a:buNone/>
                      </a:pPr>
                      <a:r>
                        <a:rPr lang="en-US" sz="1250" b="1" dirty="0">
                          <a:solidFill>
                            <a:srgbClr val="1F3347"/>
                          </a:solidFill>
                          <a:latin typeface="Calibri" pitchFamily="34" charset="0"/>
                          <a:ea typeface="Calibri" pitchFamily="34" charset="-122"/>
                          <a:cs typeface="Calibri" pitchFamily="34" charset="-120"/>
                        </a:rPr>
                        <a:t>Gaz carbonique</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algn="ctr" indent="0" marL="0">
                        <a:buNone/>
                      </a:pPr>
                      <a:r>
                        <a:rPr lang="en-US" sz="1250" dirty="0">
                          <a:solidFill>
                            <a:srgbClr val="1F3347"/>
                          </a:solidFill>
                          <a:latin typeface="Calibri" pitchFamily="34" charset="0"/>
                          <a:ea typeface="Calibri" pitchFamily="34" charset="-122"/>
                          <a:cs typeface="Calibri" pitchFamily="34" charset="-120"/>
                        </a:rPr>
                        <a:t>≈ 0,03 %</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algn="ctr" indent="0" marL="0">
                        <a:buNone/>
                      </a:pPr>
                      <a:r>
                        <a:rPr lang="en-US" sz="1250" dirty="0">
                          <a:solidFill>
                            <a:srgbClr val="1F3347"/>
                          </a:solidFill>
                          <a:latin typeface="Calibri" pitchFamily="34" charset="0"/>
                          <a:ea typeface="Calibri" pitchFamily="34" charset="-122"/>
                          <a:cs typeface="Calibri" pitchFamily="34" charset="-120"/>
                        </a:rPr>
                        <a:t>≈ 4,3 %</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r>
              <a:tr h="566928">
                <a:tc>
                  <a:txBody>
                    <a:bodyPr/>
                    <a:lstStyle/>
                    <a:p>
                      <a:pPr algn="l" indent="0" marL="0">
                        <a:buNone/>
                      </a:pPr>
                      <a:r>
                        <a:rPr lang="en-US" sz="1250" b="1" dirty="0">
                          <a:solidFill>
                            <a:srgbClr val="1F3347"/>
                          </a:solidFill>
                          <a:latin typeface="Calibri" pitchFamily="34" charset="0"/>
                          <a:ea typeface="Calibri" pitchFamily="34" charset="-122"/>
                          <a:cs typeface="Calibri" pitchFamily="34" charset="-120"/>
                        </a:rPr>
                        <a:t>Azote</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3347"/>
                          </a:solidFill>
                          <a:latin typeface="Calibri" pitchFamily="34" charset="0"/>
                          <a:ea typeface="Calibri" pitchFamily="34" charset="-122"/>
                          <a:cs typeface="Calibri" pitchFamily="34" charset="-120"/>
                        </a:rPr>
                        <a:t>≈ 79 %</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3347"/>
                          </a:solidFill>
                          <a:latin typeface="Calibri" pitchFamily="34" charset="0"/>
                          <a:ea typeface="Calibri" pitchFamily="34" charset="-122"/>
                          <a:cs typeface="Calibri" pitchFamily="34" charset="-120"/>
                        </a:rPr>
                        <a:t>≈ 79 % (inerte)</a:t>
                      </a:r>
                      <a:endParaRPr lang="en-US" sz="12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3886200"/>
            <a:ext cx="5760720" cy="548640"/>
          </a:xfrm>
          <a:prstGeom prst="rect">
            <a:avLst/>
          </a:prstGeom>
          <a:noFill/>
          <a:ln/>
        </p:spPr>
        <p:txBody>
          <a:bodyPr wrap="square" lIns="0" tIns="0" rIns="0" bIns="0" rtlCol="0" anchor="ctr"/>
          <a:lstStyle/>
          <a:p>
            <a:pPr indent="0" marL="0">
              <a:lnSpc>
                <a:spcPct val="110000"/>
              </a:lnSpc>
              <a:buNone/>
            </a:pPr>
            <a:r>
              <a:rPr lang="en-US" sz="1200" i="1" dirty="0">
                <a:solidFill>
                  <a:srgbClr val="5B7288"/>
                </a:solidFill>
                <a:latin typeface="Calibri" pitchFamily="34" charset="0"/>
                <a:ea typeface="Calibri" pitchFamily="34" charset="-122"/>
                <a:cs typeface="Calibri" pitchFamily="34" charset="-120"/>
              </a:rPr>
              <a:t>On ne consomme que 4 % de l'oxygène au passage — et on multiplie le CO₂ par plus de 100.</a:t>
            </a:r>
            <a:endParaRPr lang="en-US" sz="1200" dirty="0"/>
          </a:p>
        </p:txBody>
      </p:sp>
      <p:sp>
        <p:nvSpPr>
          <p:cNvPr id="6" name="Shape 3"/>
          <p:cNvSpPr/>
          <p:nvPr/>
        </p:nvSpPr>
        <p:spPr>
          <a:xfrm>
            <a:off x="6583680" y="1463040"/>
            <a:ext cx="5038344" cy="2286000"/>
          </a:xfrm>
          <a:prstGeom prst="roundRect">
            <a:avLst>
              <a:gd name="adj" fmla="val 3600"/>
            </a:avLst>
          </a:prstGeom>
          <a:solidFill>
            <a:srgbClr val="E7F3EC"/>
          </a:solidFill>
          <a:ln/>
          <a:effectLst>
            <a:outerShdw sx="100000" sy="100000" kx="0" ky="0" algn="bl" rotWithShape="0" blurRad="88900" dist="25400" dir="5400000">
              <a:srgbClr val="0A2942">
                <a:alpha val="16000"/>
              </a:srgbClr>
            </a:outerShdw>
          </a:effectLst>
        </p:spPr>
      </p:sp>
      <p:sp>
        <p:nvSpPr>
          <p:cNvPr id="7" name="Shape 4"/>
          <p:cNvSpPr/>
          <p:nvPr/>
        </p:nvSpPr>
        <p:spPr>
          <a:xfrm>
            <a:off x="6858000" y="1737360"/>
            <a:ext cx="548640" cy="548640"/>
          </a:xfrm>
          <a:prstGeom prst="ellipse">
            <a:avLst/>
          </a:prstGeom>
          <a:solidFill>
            <a:srgbClr val="2C8C5A"/>
          </a:solidFill>
          <a:ln/>
        </p:spPr>
      </p:sp>
      <p:pic>
        <p:nvPicPr>
          <p:cNvPr id="8" name="Image 0" descr="preencoded.png">    </p:cNvPr>
          <p:cNvPicPr>
            <a:picLocks noChangeAspect="1"/>
          </p:cNvPicPr>
          <p:nvPr/>
        </p:nvPicPr>
        <p:blipFill>
          <a:blip r:embed="rId1"/>
          <a:stretch>
            <a:fillRect/>
          </a:stretch>
        </p:blipFill>
        <p:spPr>
          <a:xfrm>
            <a:off x="7000646" y="1880006"/>
            <a:ext cx="263347" cy="263347"/>
          </a:xfrm>
          <a:prstGeom prst="rect">
            <a:avLst/>
          </a:prstGeom>
        </p:spPr>
      </p:pic>
      <p:sp>
        <p:nvSpPr>
          <p:cNvPr id="9" name="Text 5"/>
          <p:cNvSpPr/>
          <p:nvPr/>
        </p:nvSpPr>
        <p:spPr>
          <a:xfrm>
            <a:off x="7589520" y="1700784"/>
            <a:ext cx="3840480" cy="594360"/>
          </a:xfrm>
          <a:prstGeom prst="rect">
            <a:avLst/>
          </a:prstGeom>
          <a:noFill/>
          <a:ln/>
        </p:spPr>
        <p:txBody>
          <a:bodyPr wrap="square" lIns="0" tIns="0" rIns="0" bIns="0" rtlCol="0" anchor="ctr"/>
          <a:lstStyle/>
          <a:p>
            <a:pPr indent="0" marL="0">
              <a:lnSpc>
                <a:spcPct val="100000"/>
              </a:lnSpc>
              <a:buNone/>
            </a:pPr>
            <a:r>
              <a:rPr lang="en-US" sz="1350" b="1" dirty="0">
                <a:solidFill>
                  <a:srgbClr val="2C8C5A"/>
                </a:solidFill>
                <a:latin typeface="Calibri" pitchFamily="34" charset="0"/>
                <a:ea typeface="Calibri" pitchFamily="34" charset="-122"/>
                <a:cs typeface="Calibri" pitchFamily="34" charset="-120"/>
              </a:rPr>
              <a:t>Pourquoi le bouche-à-bouche fonctionne</a:t>
            </a:r>
            <a:endParaRPr lang="en-US" sz="1350" dirty="0"/>
          </a:p>
        </p:txBody>
      </p:sp>
      <p:sp>
        <p:nvSpPr>
          <p:cNvPr id="10" name="Text 6"/>
          <p:cNvSpPr/>
          <p:nvPr/>
        </p:nvSpPr>
        <p:spPr>
          <a:xfrm>
            <a:off x="6858000" y="2377440"/>
            <a:ext cx="4526280" cy="128016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L'air expiré contient encore 16 % d'oxygène : assez pour maintenir une victime en insufflant son propre air. Le geste appris au RIFAA n'est pas magique — c'est ce chiffre.</a:t>
            </a:r>
            <a:endParaRPr lang="en-US" sz="1150" dirty="0"/>
          </a:p>
        </p:txBody>
      </p:sp>
      <p:sp>
        <p:nvSpPr>
          <p:cNvPr id="11" name="Shape 7"/>
          <p:cNvSpPr/>
          <p:nvPr/>
        </p:nvSpPr>
        <p:spPr>
          <a:xfrm>
            <a:off x="6583680" y="3931920"/>
            <a:ext cx="5038344" cy="2148840"/>
          </a:xfrm>
          <a:prstGeom prst="roundRect">
            <a:avLst>
              <a:gd name="adj" fmla="val 3830"/>
            </a:avLst>
          </a:prstGeom>
          <a:solidFill>
            <a:srgbClr val="FBE9E1"/>
          </a:solidFill>
          <a:ln/>
          <a:effectLst>
            <a:outerShdw sx="100000" sy="100000" kx="0" ky="0" algn="bl" rotWithShape="0" blurRad="88900" dist="25400" dir="5400000">
              <a:srgbClr val="0A2942">
                <a:alpha val="16000"/>
              </a:srgbClr>
            </a:outerShdw>
          </a:effectLst>
        </p:spPr>
      </p:sp>
      <p:sp>
        <p:nvSpPr>
          <p:cNvPr id="12" name="Shape 8"/>
          <p:cNvSpPr/>
          <p:nvPr/>
        </p:nvSpPr>
        <p:spPr>
          <a:xfrm>
            <a:off x="6858000" y="4206240"/>
            <a:ext cx="548640" cy="548640"/>
          </a:xfrm>
          <a:prstGeom prst="ellipse">
            <a:avLst/>
          </a:prstGeom>
          <a:solidFill>
            <a:srgbClr val="D9541E"/>
          </a:solidFill>
          <a:ln/>
        </p:spPr>
      </p:sp>
      <p:pic>
        <p:nvPicPr>
          <p:cNvPr id="13" name="Image 1" descr="preencoded.png">    </p:cNvPr>
          <p:cNvPicPr>
            <a:picLocks noChangeAspect="1"/>
          </p:cNvPicPr>
          <p:nvPr/>
        </p:nvPicPr>
        <p:blipFill>
          <a:blip r:embed="rId2"/>
          <a:stretch>
            <a:fillRect/>
          </a:stretch>
        </p:blipFill>
        <p:spPr>
          <a:xfrm>
            <a:off x="7000646" y="4348886"/>
            <a:ext cx="263347" cy="263347"/>
          </a:xfrm>
          <a:prstGeom prst="rect">
            <a:avLst/>
          </a:prstGeom>
        </p:spPr>
      </p:pic>
      <p:sp>
        <p:nvSpPr>
          <p:cNvPr id="14" name="Text 9"/>
          <p:cNvSpPr/>
          <p:nvPr/>
        </p:nvSpPr>
        <p:spPr>
          <a:xfrm>
            <a:off x="7589520" y="4169664"/>
            <a:ext cx="3840480" cy="594360"/>
          </a:xfrm>
          <a:prstGeom prst="rect">
            <a:avLst/>
          </a:prstGeom>
          <a:noFill/>
          <a:ln/>
        </p:spPr>
        <p:txBody>
          <a:bodyPr wrap="square" lIns="0" tIns="0" rIns="0" bIns="0" rtlCol="0" anchor="ctr"/>
          <a:lstStyle/>
          <a:p>
            <a:pPr indent="0" marL="0">
              <a:buNone/>
            </a:pPr>
            <a:r>
              <a:rPr lang="en-US" sz="1350" b="1" dirty="0">
                <a:solidFill>
                  <a:srgbClr val="9C3A10"/>
                </a:solidFill>
                <a:latin typeface="Calibri" pitchFamily="34" charset="0"/>
                <a:ea typeface="Calibri" pitchFamily="34" charset="-122"/>
                <a:cs typeface="Calibri" pitchFamily="34" charset="-120"/>
              </a:rPr>
              <a:t>Et pourquoi on rompt l'apnée</a:t>
            </a:r>
            <a:endParaRPr lang="en-US" sz="1350" dirty="0"/>
          </a:p>
        </p:txBody>
      </p:sp>
      <p:sp>
        <p:nvSpPr>
          <p:cNvPr id="15" name="Text 10"/>
          <p:cNvSpPr/>
          <p:nvPr/>
        </p:nvSpPr>
        <p:spPr>
          <a:xfrm>
            <a:off x="6858000" y="4800600"/>
            <a:ext cx="4526280" cy="118872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Ce qui fait rompre l'apnée, ce n'est pas d'avoir vidé l'oxygène — c'est d'avoir accumulé ce CO₂ multiplié par cent. On revient toujours au même point : le CO₂ commande.</a:t>
            </a:r>
            <a:endParaRPr lang="en-US" sz="1150" dirty="0"/>
          </a:p>
        </p:txBody>
      </p:sp>
      <p:sp>
        <p:nvSpPr>
          <p:cNvPr id="16" name="Shape 11"/>
          <p:cNvSpPr/>
          <p:nvPr/>
        </p:nvSpPr>
        <p:spPr>
          <a:xfrm>
            <a:off x="548640" y="4572000"/>
            <a:ext cx="5760720" cy="1508760"/>
          </a:xfrm>
          <a:prstGeom prst="roundRect">
            <a:avLst>
              <a:gd name="adj" fmla="val 5455"/>
            </a:avLst>
          </a:prstGeom>
          <a:solidFill>
            <a:srgbClr val="DCEBF5"/>
          </a:solidFill>
          <a:ln/>
          <a:effectLst>
            <a:outerShdw sx="100000" sy="100000" kx="0" ky="0" algn="bl" rotWithShape="0" blurRad="88900" dist="25400" dir="5400000">
              <a:srgbClr val="0A2942">
                <a:alpha val="16000"/>
              </a:srgbClr>
            </a:outerShdw>
          </a:effectLst>
        </p:spPr>
      </p:sp>
      <p:sp>
        <p:nvSpPr>
          <p:cNvPr id="17" name="Text 12"/>
          <p:cNvSpPr/>
          <p:nvPr/>
        </p:nvSpPr>
        <p:spPr>
          <a:xfrm>
            <a:off x="822960" y="4663440"/>
            <a:ext cx="5257800" cy="1325880"/>
          </a:xfrm>
          <a:prstGeom prst="rect">
            <a:avLst/>
          </a:prstGeom>
          <a:noFill/>
          <a:ln/>
        </p:spPr>
        <p:txBody>
          <a:bodyPr wrap="square" lIns="0" tIns="0" rIns="0" bIns="0" rtlCol="0" anchor="ctr"/>
          <a:lstStyle/>
          <a:p>
            <a:pPr indent="0" marL="0">
              <a:lnSpc>
                <a:spcPct val="112000"/>
              </a:lnSpc>
              <a:buNone/>
            </a:pPr>
            <a:r>
              <a:rPr lang="en-US" sz="1150" b="1" dirty="0">
                <a:solidFill>
                  <a:srgbClr val="065A82"/>
                </a:solidFill>
                <a:latin typeface="Calibri" pitchFamily="34" charset="0"/>
                <a:ea typeface="Calibri" pitchFamily="34" charset="-122"/>
                <a:cs typeface="Calibri" pitchFamily="34" charset="-120"/>
              </a:rPr>
              <a:t>Le sens de l'azote : </a:t>
            </a:r>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79 % à l'aller comme au retour — il n'est ni consommé ni produit. Mais sous pression, il se dissout (Henry) : c'est lui que le taravana mettra en cause.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4 · LA CIRCULATION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Un système de livraison à trois composants</a:t>
            </a:r>
            <a:endParaRPr lang="en-US" sz="2800" dirty="0"/>
          </a:p>
        </p:txBody>
      </p:sp>
      <p:sp>
        <p:nvSpPr>
          <p:cNvPr id="4" name="Shape 2"/>
          <p:cNvSpPr/>
          <p:nvPr/>
        </p:nvSpPr>
        <p:spPr>
          <a:xfrm>
            <a:off x="548640" y="1417320"/>
            <a:ext cx="3602736" cy="2286000"/>
          </a:xfrm>
          <a:prstGeom prst="roundRect">
            <a:avLst>
              <a:gd name="adj" fmla="val 3600"/>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2029968" y="1691640"/>
            <a:ext cx="640080" cy="64008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2196389" y="1858061"/>
            <a:ext cx="307238" cy="307238"/>
          </a:xfrm>
          <a:prstGeom prst="rect">
            <a:avLst/>
          </a:prstGeom>
        </p:spPr>
      </p:pic>
      <p:sp>
        <p:nvSpPr>
          <p:cNvPr id="7" name="Text 4"/>
          <p:cNvSpPr/>
          <p:nvPr/>
        </p:nvSpPr>
        <p:spPr>
          <a:xfrm>
            <a:off x="731520" y="2468880"/>
            <a:ext cx="3236976" cy="365760"/>
          </a:xfrm>
          <a:prstGeom prst="rect">
            <a:avLst/>
          </a:prstGeom>
          <a:noFill/>
          <a:ln/>
        </p:spPr>
        <p:txBody>
          <a:bodyPr wrap="square" lIns="0" tIns="0" rIns="0" bIns="0" rtlCol="0" anchor="ctr"/>
          <a:lstStyle/>
          <a:p>
            <a:pPr algn="ctr" indent="0" marL="0">
              <a:buNone/>
            </a:pPr>
            <a:r>
              <a:rPr lang="en-US" sz="1350" b="1" dirty="0">
                <a:solidFill>
                  <a:srgbClr val="1F3347"/>
                </a:solidFill>
                <a:latin typeface="Calibri" pitchFamily="34" charset="0"/>
                <a:ea typeface="Calibri" pitchFamily="34" charset="-122"/>
                <a:cs typeface="Calibri" pitchFamily="34" charset="-120"/>
              </a:rPr>
              <a:t>Le véhicule : LE SANG</a:t>
            </a:r>
            <a:endParaRPr lang="en-US" sz="1350" dirty="0"/>
          </a:p>
        </p:txBody>
      </p:sp>
      <p:sp>
        <p:nvSpPr>
          <p:cNvPr id="8" name="Text 5"/>
          <p:cNvSpPr/>
          <p:nvPr/>
        </p:nvSpPr>
        <p:spPr>
          <a:xfrm>
            <a:off x="822960" y="2880360"/>
            <a:ext cx="3054096" cy="777240"/>
          </a:xfrm>
          <a:prstGeom prst="rect">
            <a:avLst/>
          </a:prstGeom>
          <a:noFill/>
          <a:ln/>
        </p:spPr>
        <p:txBody>
          <a:bodyPr wrap="square" lIns="0" tIns="0" rIns="0" bIns="0" rtlCol="0" anchor="t"/>
          <a:lstStyle/>
          <a:p>
            <a:pPr algn="ctr" indent="0" marL="0">
              <a:lnSpc>
                <a:spcPct val="110000"/>
              </a:lnSpc>
              <a:buNone/>
            </a:pPr>
            <a:r>
              <a:rPr lang="en-US" sz="1100" dirty="0">
                <a:solidFill>
                  <a:srgbClr val="5B7288"/>
                </a:solidFill>
                <a:latin typeface="Calibri" pitchFamily="34" charset="0"/>
                <a:ea typeface="Calibri" pitchFamily="34" charset="-122"/>
                <a:cs typeface="Calibri" pitchFamily="34" charset="-120"/>
              </a:rPr>
              <a:t>Transporte O₂ et nutriments vers chaque cellule, ramène les déchets — dont le CO₂.</a:t>
            </a:r>
            <a:endParaRPr lang="en-US" sz="1100" dirty="0"/>
          </a:p>
        </p:txBody>
      </p:sp>
      <p:sp>
        <p:nvSpPr>
          <p:cNvPr id="9" name="Shape 6"/>
          <p:cNvSpPr/>
          <p:nvPr/>
        </p:nvSpPr>
        <p:spPr>
          <a:xfrm>
            <a:off x="4343400" y="1417320"/>
            <a:ext cx="3602736" cy="2286000"/>
          </a:xfrm>
          <a:prstGeom prst="roundRect">
            <a:avLst>
              <a:gd name="adj" fmla="val 3600"/>
            </a:avLst>
          </a:prstGeom>
          <a:solidFill>
            <a:srgbClr val="F2F7FB"/>
          </a:solidFill>
          <a:ln/>
          <a:effectLst>
            <a:outerShdw sx="100000" sy="100000" kx="0" ky="0" algn="bl" rotWithShape="0" blurRad="88900" dist="25400" dir="5400000">
              <a:srgbClr val="0A2942">
                <a:alpha val="16000"/>
              </a:srgbClr>
            </a:outerShdw>
          </a:effectLst>
        </p:spPr>
      </p:sp>
      <p:sp>
        <p:nvSpPr>
          <p:cNvPr id="10" name="Shape 7"/>
          <p:cNvSpPr/>
          <p:nvPr/>
        </p:nvSpPr>
        <p:spPr>
          <a:xfrm>
            <a:off x="5824728" y="1691640"/>
            <a:ext cx="640080" cy="64008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5991149" y="1858061"/>
            <a:ext cx="307238" cy="307238"/>
          </a:xfrm>
          <a:prstGeom prst="rect">
            <a:avLst/>
          </a:prstGeom>
        </p:spPr>
      </p:pic>
      <p:sp>
        <p:nvSpPr>
          <p:cNvPr id="12" name="Text 8"/>
          <p:cNvSpPr/>
          <p:nvPr/>
        </p:nvSpPr>
        <p:spPr>
          <a:xfrm>
            <a:off x="4526280" y="2468880"/>
            <a:ext cx="3236976" cy="365760"/>
          </a:xfrm>
          <a:prstGeom prst="rect">
            <a:avLst/>
          </a:prstGeom>
          <a:noFill/>
          <a:ln/>
        </p:spPr>
        <p:txBody>
          <a:bodyPr wrap="square" lIns="0" tIns="0" rIns="0" bIns="0" rtlCol="0" anchor="ctr"/>
          <a:lstStyle/>
          <a:p>
            <a:pPr algn="ctr" indent="0" marL="0">
              <a:buNone/>
            </a:pPr>
            <a:r>
              <a:rPr lang="en-US" sz="1350" b="1" dirty="0">
                <a:solidFill>
                  <a:srgbClr val="1F3347"/>
                </a:solidFill>
                <a:latin typeface="Calibri" pitchFamily="34" charset="0"/>
                <a:ea typeface="Calibri" pitchFamily="34" charset="-122"/>
                <a:cs typeface="Calibri" pitchFamily="34" charset="-120"/>
              </a:rPr>
              <a:t>Le réseau : LES VAISSEAUX</a:t>
            </a:r>
            <a:endParaRPr lang="en-US" sz="1350" dirty="0"/>
          </a:p>
        </p:txBody>
      </p:sp>
      <p:sp>
        <p:nvSpPr>
          <p:cNvPr id="13" name="Text 9"/>
          <p:cNvSpPr/>
          <p:nvPr/>
        </p:nvSpPr>
        <p:spPr>
          <a:xfrm>
            <a:off x="4617720" y="2880360"/>
            <a:ext cx="3054096" cy="777240"/>
          </a:xfrm>
          <a:prstGeom prst="rect">
            <a:avLst/>
          </a:prstGeom>
          <a:noFill/>
          <a:ln/>
        </p:spPr>
        <p:txBody>
          <a:bodyPr wrap="square" lIns="0" tIns="0" rIns="0" bIns="0" rtlCol="0" anchor="t"/>
          <a:lstStyle/>
          <a:p>
            <a:pPr algn="ctr" indent="0" marL="0">
              <a:lnSpc>
                <a:spcPct val="110000"/>
              </a:lnSpc>
              <a:buNone/>
            </a:pPr>
            <a:r>
              <a:rPr lang="en-US" sz="1100" dirty="0">
                <a:solidFill>
                  <a:srgbClr val="5B7288"/>
                </a:solidFill>
                <a:latin typeface="Calibri" pitchFamily="34" charset="0"/>
                <a:ea typeface="Calibri" pitchFamily="34" charset="-122"/>
                <a:cs typeface="Calibri" pitchFamily="34" charset="-120"/>
              </a:rPr>
              <a:t>Artères, veines, capillaires : le réseau routier de la livraison.</a:t>
            </a:r>
            <a:endParaRPr lang="en-US" sz="1100" dirty="0"/>
          </a:p>
        </p:txBody>
      </p:sp>
      <p:sp>
        <p:nvSpPr>
          <p:cNvPr id="14" name="Shape 10"/>
          <p:cNvSpPr/>
          <p:nvPr/>
        </p:nvSpPr>
        <p:spPr>
          <a:xfrm>
            <a:off x="8138160" y="1417320"/>
            <a:ext cx="3602736" cy="2286000"/>
          </a:xfrm>
          <a:prstGeom prst="roundRect">
            <a:avLst>
              <a:gd name="adj" fmla="val 3600"/>
            </a:avLst>
          </a:prstGeom>
          <a:solidFill>
            <a:srgbClr val="F2F7FB"/>
          </a:solidFill>
          <a:ln/>
          <a:effectLst>
            <a:outerShdw sx="100000" sy="100000" kx="0" ky="0" algn="bl" rotWithShape="0" blurRad="88900" dist="25400" dir="5400000">
              <a:srgbClr val="0A2942">
                <a:alpha val="16000"/>
              </a:srgbClr>
            </a:outerShdw>
          </a:effectLst>
        </p:spPr>
      </p:sp>
      <p:sp>
        <p:nvSpPr>
          <p:cNvPr id="15" name="Shape 11"/>
          <p:cNvSpPr/>
          <p:nvPr/>
        </p:nvSpPr>
        <p:spPr>
          <a:xfrm>
            <a:off x="9619488" y="1691640"/>
            <a:ext cx="640080" cy="64008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9785909" y="1858061"/>
            <a:ext cx="307238" cy="307238"/>
          </a:xfrm>
          <a:prstGeom prst="rect">
            <a:avLst/>
          </a:prstGeom>
        </p:spPr>
      </p:pic>
      <p:sp>
        <p:nvSpPr>
          <p:cNvPr id="17" name="Text 12"/>
          <p:cNvSpPr/>
          <p:nvPr/>
        </p:nvSpPr>
        <p:spPr>
          <a:xfrm>
            <a:off x="8321040" y="2468880"/>
            <a:ext cx="3236976" cy="365760"/>
          </a:xfrm>
          <a:prstGeom prst="rect">
            <a:avLst/>
          </a:prstGeom>
          <a:noFill/>
          <a:ln/>
        </p:spPr>
        <p:txBody>
          <a:bodyPr wrap="square" lIns="0" tIns="0" rIns="0" bIns="0" rtlCol="0" anchor="ctr"/>
          <a:lstStyle/>
          <a:p>
            <a:pPr algn="ctr" indent="0" marL="0">
              <a:buNone/>
            </a:pPr>
            <a:r>
              <a:rPr lang="en-US" sz="1350" b="1" dirty="0">
                <a:solidFill>
                  <a:srgbClr val="1F3347"/>
                </a:solidFill>
                <a:latin typeface="Calibri" pitchFamily="34" charset="0"/>
                <a:ea typeface="Calibri" pitchFamily="34" charset="-122"/>
                <a:cs typeface="Calibri" pitchFamily="34" charset="-120"/>
              </a:rPr>
              <a:t>La pompe : LE CŒUR</a:t>
            </a:r>
            <a:endParaRPr lang="en-US" sz="1350" dirty="0"/>
          </a:p>
        </p:txBody>
      </p:sp>
      <p:sp>
        <p:nvSpPr>
          <p:cNvPr id="18" name="Text 13"/>
          <p:cNvSpPr/>
          <p:nvPr/>
        </p:nvSpPr>
        <p:spPr>
          <a:xfrm>
            <a:off x="8412480" y="2880360"/>
            <a:ext cx="3054096" cy="777240"/>
          </a:xfrm>
          <a:prstGeom prst="rect">
            <a:avLst/>
          </a:prstGeom>
          <a:noFill/>
          <a:ln/>
        </p:spPr>
        <p:txBody>
          <a:bodyPr wrap="square" lIns="0" tIns="0" rIns="0" bIns="0" rtlCol="0" anchor="t"/>
          <a:lstStyle/>
          <a:p>
            <a:pPr algn="ctr" indent="0" marL="0">
              <a:lnSpc>
                <a:spcPct val="110000"/>
              </a:lnSpc>
              <a:buNone/>
            </a:pPr>
            <a:r>
              <a:rPr lang="en-US" sz="1100" dirty="0">
                <a:solidFill>
                  <a:srgbClr val="5B7288"/>
                </a:solidFill>
                <a:latin typeface="Calibri" pitchFamily="34" charset="0"/>
                <a:ea typeface="Calibri" pitchFamily="34" charset="-122"/>
                <a:cs typeface="Calibri" pitchFamily="34" charset="-120"/>
              </a:rPr>
              <a:t>Met le tout en mouvement, en continu, sans pause possible.</a:t>
            </a:r>
            <a:endParaRPr lang="en-US" sz="1100" dirty="0"/>
          </a:p>
        </p:txBody>
      </p:sp>
      <p:sp>
        <p:nvSpPr>
          <p:cNvPr id="19" name="Shape 14"/>
          <p:cNvSpPr/>
          <p:nvPr/>
        </p:nvSpPr>
        <p:spPr>
          <a:xfrm>
            <a:off x="548640" y="3977640"/>
            <a:ext cx="11073384" cy="1051560"/>
          </a:xfrm>
          <a:prstGeom prst="roundRect">
            <a:avLst>
              <a:gd name="adj" fmla="val 7826"/>
            </a:avLst>
          </a:prstGeom>
          <a:solidFill>
            <a:srgbClr val="DCEBF5"/>
          </a:solidFill>
          <a:ln/>
          <a:effectLst>
            <a:outerShdw sx="100000" sy="100000" kx="0" ky="0" algn="bl" rotWithShape="0" blurRad="88900" dist="25400" dir="5400000">
              <a:srgbClr val="0A2942">
                <a:alpha val="16000"/>
              </a:srgbClr>
            </a:outerShdw>
          </a:effectLst>
        </p:spPr>
      </p:sp>
      <p:sp>
        <p:nvSpPr>
          <p:cNvPr id="20" name="Text 15"/>
          <p:cNvSpPr/>
          <p:nvPr/>
        </p:nvSpPr>
        <p:spPr>
          <a:xfrm>
            <a:off x="822960" y="4041648"/>
            <a:ext cx="10515600" cy="914400"/>
          </a:xfrm>
          <a:prstGeom prst="rect">
            <a:avLst/>
          </a:prstGeom>
          <a:noFill/>
          <a:ln/>
        </p:spPr>
        <p:txBody>
          <a:bodyPr wrap="square" lIns="0" tIns="0" rIns="0" bIns="0" rtlCol="0" anchor="ctr"/>
          <a:lstStyle/>
          <a:p>
            <a:pPr indent="0" marL="0">
              <a:lnSpc>
                <a:spcPct val="112000"/>
              </a:lnSpc>
              <a:buNone/>
            </a:pPr>
            <a:r>
              <a:rPr lang="en-US" sz="1250" b="1" dirty="0">
                <a:solidFill>
                  <a:srgbClr val="065A82"/>
                </a:solidFill>
                <a:latin typeface="Calibri" pitchFamily="34" charset="0"/>
                <a:ea typeface="Calibri" pitchFamily="34" charset="-122"/>
                <a:cs typeface="Calibri" pitchFamily="34" charset="-120"/>
              </a:rPr>
              <a:t>L'image logistique : </a:t>
            </a:r>
            <a:pPr indent="0" marL="0">
              <a:lnSpc>
                <a:spcPct val="112000"/>
              </a:lnSpc>
              <a:buNone/>
            </a:pPr>
            <a:r>
              <a:rPr lang="en-US" sz="1250" dirty="0">
                <a:solidFill>
                  <a:srgbClr val="1F3347"/>
                </a:solidFill>
                <a:latin typeface="Calibri" pitchFamily="34" charset="0"/>
                <a:ea typeface="Calibri" pitchFamily="34" charset="-122"/>
                <a:cs typeface="Calibri" pitchFamily="34" charset="-120"/>
              </a:rPr>
              <a:t>le camion, le réseau routier, la station de pompage. Si l'un des trois flanche, la livraison ne se fait pas — même avec des poumons parfaits.</a:t>
            </a:r>
            <a:endParaRPr lang="en-US" sz="1250" dirty="0"/>
          </a:p>
        </p:txBody>
      </p:sp>
      <p:sp>
        <p:nvSpPr>
          <p:cNvPr id="21" name="Shape 16"/>
          <p:cNvSpPr/>
          <p:nvPr/>
        </p:nvSpPr>
        <p:spPr>
          <a:xfrm>
            <a:off x="548640" y="5257800"/>
            <a:ext cx="11073384" cy="868680"/>
          </a:xfrm>
          <a:prstGeom prst="roundRect">
            <a:avLst>
              <a:gd name="adj" fmla="val 9474"/>
            </a:avLst>
          </a:prstGeom>
          <a:solidFill>
            <a:srgbClr val="E7F3EC"/>
          </a:solidFill>
          <a:ln/>
          <a:effectLst>
            <a:outerShdw sx="100000" sy="100000" kx="0" ky="0" algn="bl" rotWithShape="0" blurRad="88900" dist="25400" dir="5400000">
              <a:srgbClr val="0A2942">
                <a:alpha val="16000"/>
              </a:srgbClr>
            </a:outerShdw>
          </a:effectLst>
        </p:spPr>
      </p:sp>
      <p:sp>
        <p:nvSpPr>
          <p:cNvPr id="22" name="Text 17"/>
          <p:cNvSpPr/>
          <p:nvPr/>
        </p:nvSpPr>
        <p:spPr>
          <a:xfrm>
            <a:off x="822960" y="5303520"/>
            <a:ext cx="10515600" cy="777240"/>
          </a:xfrm>
          <a:prstGeom prst="rect">
            <a:avLst/>
          </a:prstGeom>
          <a:noFill/>
          <a:ln/>
        </p:spPr>
        <p:txBody>
          <a:bodyPr wrap="square" lIns="0" tIns="0" rIns="0" bIns="0" rtlCol="0" anchor="ctr"/>
          <a:lstStyle/>
          <a:p>
            <a:pPr indent="0" marL="0">
              <a:lnSpc>
                <a:spcPct val="110000"/>
              </a:lnSpc>
              <a:buNone/>
            </a:pPr>
            <a:r>
              <a:rPr lang="en-US" sz="1200" b="1" dirty="0">
                <a:solidFill>
                  <a:srgbClr val="2C8C5A"/>
                </a:solidFill>
                <a:latin typeface="Calibri" pitchFamily="34" charset="0"/>
                <a:ea typeface="Calibri" pitchFamily="34" charset="-122"/>
                <a:cs typeface="Calibri" pitchFamily="34" charset="-120"/>
              </a:rPr>
              <a:t>Pourquoi ce détour : </a:t>
            </a:r>
            <a:pPr indent="0" marL="0">
              <a:lnSpc>
                <a:spcPct val="110000"/>
              </a:lnSpc>
              <a:buNone/>
            </a:pPr>
            <a:r>
              <a:rPr lang="en-US" sz="1200" dirty="0">
                <a:solidFill>
                  <a:srgbClr val="1F3347"/>
                </a:solidFill>
                <a:latin typeface="Calibri" pitchFamily="34" charset="0"/>
                <a:ea typeface="Calibri" pitchFamily="34" charset="-122"/>
                <a:cs typeface="Calibri" pitchFamily="34" charset="-120"/>
              </a:rPr>
              <a:t>l'apnée ne perturbe pas que la respiration — elle réorganise la circulation en profondeur : le cœur ralentit, la périphérie se ferme, la rate se contracte. C'est l'objet de la partie 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4 · LA CIRCULATION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cœur : deux pompes accolées, montées en série</a:t>
            </a:r>
            <a:endParaRPr lang="en-US" sz="2800" dirty="0"/>
          </a:p>
        </p:txBody>
      </p:sp>
      <p:sp>
        <p:nvSpPr>
          <p:cNvPr id="4" name="Shape 2"/>
          <p:cNvSpPr/>
          <p:nvPr/>
        </p:nvSpPr>
        <p:spPr>
          <a:xfrm>
            <a:off x="548640" y="1463040"/>
            <a:ext cx="6400800" cy="2926080"/>
          </a:xfrm>
          <a:prstGeom prst="roundRect">
            <a:avLst>
              <a:gd name="adj" fmla="val 2813"/>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1005840" y="1828800"/>
            <a:ext cx="2423160" cy="1828800"/>
          </a:xfrm>
          <a:prstGeom prst="roundRect">
            <a:avLst>
              <a:gd name="adj" fmla="val 5000"/>
            </a:avLst>
          </a:prstGeom>
          <a:solidFill>
            <a:srgbClr val="40566B"/>
          </a:solidFill>
          <a:ln/>
          <a:effectLst>
            <a:outerShdw sx="100000" sy="100000" kx="0" ky="0" algn="bl" rotWithShape="0" blurRad="88900" dist="25400" dir="5400000">
              <a:srgbClr val="0A2942">
                <a:alpha val="16000"/>
              </a:srgbClr>
            </a:outerShdw>
          </a:effectLst>
        </p:spPr>
      </p:sp>
      <p:sp>
        <p:nvSpPr>
          <p:cNvPr id="6" name="Text 4"/>
          <p:cNvSpPr/>
          <p:nvPr/>
        </p:nvSpPr>
        <p:spPr>
          <a:xfrm>
            <a:off x="1005840" y="1965960"/>
            <a:ext cx="24231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CŒUR DROIT</a:t>
            </a:r>
            <a:endParaRPr lang="en-US" sz="1200" dirty="0"/>
          </a:p>
        </p:txBody>
      </p:sp>
      <p:sp>
        <p:nvSpPr>
          <p:cNvPr id="7" name="Text 5"/>
          <p:cNvSpPr/>
          <p:nvPr/>
        </p:nvSpPr>
        <p:spPr>
          <a:xfrm>
            <a:off x="1143000" y="2331720"/>
            <a:ext cx="2148840" cy="1188720"/>
          </a:xfrm>
          <a:prstGeom prst="rect">
            <a:avLst/>
          </a:prstGeom>
          <a:noFill/>
          <a:ln/>
        </p:spPr>
        <p:txBody>
          <a:bodyPr wrap="square" lIns="0" tIns="0" rIns="0" bIns="0" rtlCol="0" anchor="t"/>
          <a:lstStyle/>
          <a:p>
            <a:pPr algn="ctr" indent="0" marL="0">
              <a:lnSpc>
                <a:spcPct val="110000"/>
              </a:lnSpc>
              <a:buNone/>
            </a:pPr>
            <a:r>
              <a:rPr lang="en-US" sz="1000" dirty="0">
                <a:solidFill>
                  <a:srgbClr val="EAF3FA"/>
                </a:solidFill>
                <a:latin typeface="Calibri" pitchFamily="34" charset="0"/>
                <a:ea typeface="Calibri" pitchFamily="34" charset="-122"/>
                <a:cs typeface="Calibri" pitchFamily="34" charset="-120"/>
              </a:rPr>
              <a:t>Reçoit le sang veineux chargé en CO₂ → l'envoie aux POUMONS</a:t>
            </a:r>
            <a:endParaRPr lang="en-US" sz="1000" dirty="0"/>
          </a:p>
        </p:txBody>
      </p:sp>
      <p:sp>
        <p:nvSpPr>
          <p:cNvPr id="8" name="Shape 6"/>
          <p:cNvSpPr/>
          <p:nvPr/>
        </p:nvSpPr>
        <p:spPr>
          <a:xfrm>
            <a:off x="3794760" y="1828800"/>
            <a:ext cx="2423160" cy="1828800"/>
          </a:xfrm>
          <a:prstGeom prst="roundRect">
            <a:avLst>
              <a:gd name="adj" fmla="val 5000"/>
            </a:avLst>
          </a:prstGeom>
          <a:solidFill>
            <a:srgbClr val="0E7CB8"/>
          </a:solidFill>
          <a:ln/>
          <a:effectLst>
            <a:outerShdw sx="100000" sy="100000" kx="0" ky="0" algn="bl" rotWithShape="0" blurRad="88900" dist="25400" dir="5400000">
              <a:srgbClr val="0A2942">
                <a:alpha val="16000"/>
              </a:srgbClr>
            </a:outerShdw>
          </a:effectLst>
        </p:spPr>
      </p:sp>
      <p:sp>
        <p:nvSpPr>
          <p:cNvPr id="9" name="Text 7"/>
          <p:cNvSpPr/>
          <p:nvPr/>
        </p:nvSpPr>
        <p:spPr>
          <a:xfrm>
            <a:off x="3794760" y="1965960"/>
            <a:ext cx="24231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CŒUR GAUCHE</a:t>
            </a:r>
            <a:endParaRPr lang="en-US" sz="1200" dirty="0"/>
          </a:p>
        </p:txBody>
      </p:sp>
      <p:sp>
        <p:nvSpPr>
          <p:cNvPr id="10" name="Text 8"/>
          <p:cNvSpPr/>
          <p:nvPr/>
        </p:nvSpPr>
        <p:spPr>
          <a:xfrm>
            <a:off x="3931920" y="2331720"/>
            <a:ext cx="2148840" cy="1188720"/>
          </a:xfrm>
          <a:prstGeom prst="rect">
            <a:avLst/>
          </a:prstGeom>
          <a:noFill/>
          <a:ln/>
        </p:spPr>
        <p:txBody>
          <a:bodyPr wrap="square" lIns="0" tIns="0" rIns="0" bIns="0" rtlCol="0" anchor="t"/>
          <a:lstStyle/>
          <a:p>
            <a:pPr algn="ctr" indent="0" marL="0">
              <a:lnSpc>
                <a:spcPct val="110000"/>
              </a:lnSpc>
              <a:buNone/>
            </a:pPr>
            <a:r>
              <a:rPr lang="en-US" sz="1000" dirty="0">
                <a:solidFill>
                  <a:srgbClr val="EAF3FA"/>
                </a:solidFill>
                <a:latin typeface="Calibri" pitchFamily="34" charset="0"/>
                <a:ea typeface="Calibri" pitchFamily="34" charset="-122"/>
                <a:cs typeface="Calibri" pitchFamily="34" charset="-120"/>
              </a:rPr>
              <a:t>Reçoit le sang oxygéné des poumons → l'expédie dans TOUT LE CORPS</a:t>
            </a:r>
            <a:endParaRPr lang="en-US" sz="1000" dirty="0"/>
          </a:p>
        </p:txBody>
      </p:sp>
      <p:sp>
        <p:nvSpPr>
          <p:cNvPr id="11" name="Text 9"/>
          <p:cNvSpPr/>
          <p:nvPr/>
        </p:nvSpPr>
        <p:spPr>
          <a:xfrm>
            <a:off x="1005840" y="3794760"/>
            <a:ext cx="5394960" cy="502920"/>
          </a:xfrm>
          <a:prstGeom prst="rect">
            <a:avLst/>
          </a:prstGeom>
          <a:noFill/>
          <a:ln/>
        </p:spPr>
        <p:txBody>
          <a:bodyPr wrap="square" lIns="0" tIns="0" rIns="0" bIns="0" rtlCol="0" anchor="ctr"/>
          <a:lstStyle/>
          <a:p>
            <a:pPr indent="0" marL="0">
              <a:lnSpc>
                <a:spcPct val="108000"/>
              </a:lnSpc>
              <a:buNone/>
            </a:pPr>
            <a:r>
              <a:rPr lang="en-US" sz="1050" i="1" dirty="0">
                <a:solidFill>
                  <a:srgbClr val="5B7288"/>
                </a:solidFill>
                <a:latin typeface="Calibri" pitchFamily="34" charset="0"/>
                <a:ea typeface="Calibri" pitchFamily="34" charset="-122"/>
                <a:cs typeface="Calibri" pitchFamily="34" charset="-120"/>
              </a:rPr>
              <a:t>Deux côtés qui ne communiquent pas — une pompe aspirante et refoulante, en alternance contraction / relâchement.</a:t>
            </a:r>
            <a:endParaRPr lang="en-US" sz="1050" dirty="0"/>
          </a:p>
        </p:txBody>
      </p:sp>
      <p:sp>
        <p:nvSpPr>
          <p:cNvPr id="12" name="Shape 10"/>
          <p:cNvSpPr/>
          <p:nvPr/>
        </p:nvSpPr>
        <p:spPr>
          <a:xfrm>
            <a:off x="7223760" y="1463040"/>
            <a:ext cx="4398264" cy="2926080"/>
          </a:xfrm>
          <a:prstGeom prst="roundRect">
            <a:avLst>
              <a:gd name="adj" fmla="val 2813"/>
            </a:avLst>
          </a:prstGeom>
          <a:solidFill>
            <a:srgbClr val="DCEBF5"/>
          </a:solidFill>
          <a:ln/>
          <a:effectLst>
            <a:outerShdw sx="100000" sy="100000" kx="0" ky="0" algn="bl" rotWithShape="0" blurRad="88900" dist="25400" dir="5400000">
              <a:srgbClr val="0A2942">
                <a:alpha val="16000"/>
              </a:srgbClr>
            </a:outerShdw>
          </a:effectLst>
        </p:spPr>
      </p:sp>
      <p:sp>
        <p:nvSpPr>
          <p:cNvPr id="13" name="Text 11"/>
          <p:cNvSpPr/>
          <p:nvPr/>
        </p:nvSpPr>
        <p:spPr>
          <a:xfrm>
            <a:off x="7498080" y="1691640"/>
            <a:ext cx="3840480" cy="868680"/>
          </a:xfrm>
          <a:prstGeom prst="rect">
            <a:avLst/>
          </a:prstGeom>
          <a:noFill/>
          <a:ln/>
        </p:spPr>
        <p:txBody>
          <a:bodyPr wrap="square" lIns="0" tIns="0" rIns="0" bIns="0" rtlCol="0" anchor="ctr"/>
          <a:lstStyle/>
          <a:p>
            <a:pPr indent="0" marL="0">
              <a:buNone/>
            </a:pPr>
            <a:r>
              <a:rPr lang="en-US" sz="4800" b="1" dirty="0">
                <a:solidFill>
                  <a:srgbClr val="065A82"/>
                </a:solidFill>
                <a:latin typeface="Cambria" pitchFamily="34" charset="0"/>
                <a:ea typeface="Cambria" pitchFamily="34" charset="-122"/>
                <a:cs typeface="Cambria" pitchFamily="34" charset="-120"/>
              </a:rPr>
              <a:t>60–75</a:t>
            </a:r>
            <a:endParaRPr lang="en-US" sz="4800" dirty="0"/>
          </a:p>
        </p:txBody>
      </p:sp>
      <p:sp>
        <p:nvSpPr>
          <p:cNvPr id="14" name="Text 12"/>
          <p:cNvSpPr/>
          <p:nvPr/>
        </p:nvSpPr>
        <p:spPr>
          <a:xfrm>
            <a:off x="7498080" y="2606040"/>
            <a:ext cx="3840480" cy="640080"/>
          </a:xfrm>
          <a:prstGeom prst="rect">
            <a:avLst/>
          </a:prstGeom>
          <a:noFill/>
          <a:ln/>
        </p:spPr>
        <p:txBody>
          <a:bodyPr wrap="square" lIns="0" tIns="0" rIns="0" bIns="0" rtlCol="0" anchor="ctr"/>
          <a:lstStyle/>
          <a:p>
            <a:pPr indent="0" marL="0">
              <a:lnSpc>
                <a:spcPct val="110000"/>
              </a:lnSpc>
              <a:buNone/>
            </a:pPr>
            <a:r>
              <a:rPr lang="en-US" sz="1100" b="1" dirty="0">
                <a:solidFill>
                  <a:srgbClr val="1F3347"/>
                </a:solidFill>
                <a:latin typeface="Calibri" pitchFamily="34" charset="0"/>
                <a:ea typeface="Calibri" pitchFamily="34" charset="-122"/>
                <a:cs typeface="Calibri" pitchFamily="34" charset="-120"/>
              </a:rPr>
              <a:t>battements/min au repos (adulte)</a:t>
            </a:r>
            <a:endParaRPr lang="en-US" sz="1100" dirty="0"/>
          </a:p>
          <a:p>
            <a:pPr indent="0" marL="0">
              <a:lnSpc>
                <a:spcPct val="110000"/>
              </a:lnSpc>
              <a:buNone/>
            </a:pPr>
            <a:r>
              <a:rPr lang="en-US" sz="1100" b="1" dirty="0">
                <a:solidFill>
                  <a:srgbClr val="1F3347"/>
                </a:solidFill>
                <a:latin typeface="Calibri" pitchFamily="34" charset="0"/>
                <a:ea typeface="Calibri" pitchFamily="34" charset="-122"/>
                <a:cs typeface="Calibri" pitchFamily="34" charset="-120"/>
              </a:rPr>
              <a:t>≈ 90 chez l'enfant · ≈ 100 chez le nourrisson</a:t>
            </a:r>
            <a:endParaRPr lang="en-US" sz="1100" dirty="0"/>
          </a:p>
        </p:txBody>
      </p:sp>
      <p:sp>
        <p:nvSpPr>
          <p:cNvPr id="15" name="Text 13"/>
          <p:cNvSpPr/>
          <p:nvPr/>
        </p:nvSpPr>
        <p:spPr>
          <a:xfrm>
            <a:off x="7498080" y="3383280"/>
            <a:ext cx="3840480" cy="868680"/>
          </a:xfrm>
          <a:prstGeom prst="rect">
            <a:avLst/>
          </a:prstGeom>
          <a:noFill/>
          <a:ln/>
        </p:spPr>
        <p:txBody>
          <a:bodyPr wrap="square" lIns="0" tIns="0" rIns="0" bIns="0" rtlCol="0" anchor="t"/>
          <a:lstStyle/>
          <a:p>
            <a:pPr indent="0" marL="0">
              <a:lnSpc>
                <a:spcPct val="110000"/>
              </a:lnSpc>
              <a:buNone/>
            </a:pPr>
            <a:r>
              <a:rPr lang="en-US" sz="1050" dirty="0">
                <a:solidFill>
                  <a:srgbClr val="5B7288"/>
                </a:solidFill>
                <a:latin typeface="Calibri" pitchFamily="34" charset="0"/>
                <a:ea typeface="Calibri" pitchFamily="34" charset="-122"/>
                <a:cs typeface="Calibri" pitchFamily="34" charset="-120"/>
              </a:rPr>
              <a:t>Notez ce chiffre : c'est la référence par rapport à laquelle on mesurera la bradycardie d'immersion (partie 5).</a:t>
            </a:r>
            <a:endParaRPr lang="en-US" sz="1050" dirty="0"/>
          </a:p>
        </p:txBody>
      </p:sp>
      <p:sp>
        <p:nvSpPr>
          <p:cNvPr id="16" name="Shape 14"/>
          <p:cNvSpPr/>
          <p:nvPr/>
        </p:nvSpPr>
        <p:spPr>
          <a:xfrm>
            <a:off x="548640" y="4663440"/>
            <a:ext cx="11073384" cy="1417320"/>
          </a:xfrm>
          <a:prstGeom prst="roundRect">
            <a:avLst>
              <a:gd name="adj" fmla="val 5806"/>
            </a:avLst>
          </a:prstGeom>
          <a:solidFill>
            <a:srgbClr val="E7F3EC"/>
          </a:solidFill>
          <a:ln/>
          <a:effectLst>
            <a:outerShdw sx="100000" sy="100000" kx="0" ky="0" algn="bl" rotWithShape="0" blurRad="88900" dist="25400" dir="5400000">
              <a:srgbClr val="0A2942">
                <a:alpha val="16000"/>
              </a:srgbClr>
            </a:outerShdw>
          </a:effectLst>
        </p:spPr>
      </p:sp>
      <p:sp>
        <p:nvSpPr>
          <p:cNvPr id="17" name="Shape 15"/>
          <p:cNvSpPr/>
          <p:nvPr/>
        </p:nvSpPr>
        <p:spPr>
          <a:xfrm>
            <a:off x="822960" y="4937760"/>
            <a:ext cx="566928" cy="566928"/>
          </a:xfrm>
          <a:prstGeom prst="ellipse">
            <a:avLst/>
          </a:prstGeom>
          <a:solidFill>
            <a:srgbClr val="2C8C5A"/>
          </a:solidFill>
          <a:ln/>
        </p:spPr>
      </p:sp>
      <p:pic>
        <p:nvPicPr>
          <p:cNvPr id="18" name="Image 0" descr="preencoded.png">    </p:cNvPr>
          <p:cNvPicPr>
            <a:picLocks noChangeAspect="1"/>
          </p:cNvPicPr>
          <p:nvPr/>
        </p:nvPicPr>
        <p:blipFill>
          <a:blip r:embed="rId1"/>
          <a:stretch>
            <a:fillRect/>
          </a:stretch>
        </p:blipFill>
        <p:spPr>
          <a:xfrm>
            <a:off x="970361" y="5085161"/>
            <a:ext cx="272125" cy="272125"/>
          </a:xfrm>
          <a:prstGeom prst="rect">
            <a:avLst/>
          </a:prstGeom>
        </p:spPr>
      </p:pic>
      <p:sp>
        <p:nvSpPr>
          <p:cNvPr id="19" name="Text 16"/>
          <p:cNvSpPr/>
          <p:nvPr/>
        </p:nvSpPr>
        <p:spPr>
          <a:xfrm>
            <a:off x="1600200" y="4864608"/>
            <a:ext cx="9784080" cy="365760"/>
          </a:xfrm>
          <a:prstGeom prst="rect">
            <a:avLst/>
          </a:prstGeom>
          <a:noFill/>
          <a:ln/>
        </p:spPr>
        <p:txBody>
          <a:bodyPr wrap="square" lIns="0" tIns="0" rIns="0" bIns="0" rtlCol="0" anchor="ctr"/>
          <a:lstStyle/>
          <a:p>
            <a:pPr indent="0" marL="0">
              <a:buNone/>
            </a:pPr>
            <a:r>
              <a:rPr lang="en-US" sz="1400" b="1" dirty="0">
                <a:solidFill>
                  <a:srgbClr val="2C8C5A"/>
                </a:solidFill>
                <a:latin typeface="Calibri" pitchFamily="34" charset="0"/>
                <a:ea typeface="Calibri" pitchFamily="34" charset="-122"/>
                <a:cs typeface="Calibri" pitchFamily="34" charset="-120"/>
              </a:rPr>
              <a:t>Le cœur est un muscle — donc un gros consommateur d'oxygène</a:t>
            </a:r>
            <a:endParaRPr lang="en-US" sz="1400" dirty="0"/>
          </a:p>
        </p:txBody>
      </p:sp>
      <p:sp>
        <p:nvSpPr>
          <p:cNvPr id="20" name="Text 17"/>
          <p:cNvSpPr/>
          <p:nvPr/>
        </p:nvSpPr>
        <p:spPr>
          <a:xfrm>
            <a:off x="1600200" y="5248656"/>
            <a:ext cx="9738360" cy="73152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Tout ce qui le fait ralentir économise du carburant. C'est toute la logique du réflexe d'immersion : un cœur qui passe de 70 à 50 battements par minute, c'est de l'oxygène rendu disponible pour le cerveau.</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4 · LA CIRCULATION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Vaisseaux : l'échange se joue dans le capillaire</a:t>
            </a:r>
            <a:endParaRPr lang="en-US" sz="2800" dirty="0"/>
          </a:p>
        </p:txBody>
      </p:sp>
      <p:sp>
        <p:nvSpPr>
          <p:cNvPr id="4" name="Shape 2"/>
          <p:cNvSpPr/>
          <p:nvPr/>
        </p:nvSpPr>
        <p:spPr>
          <a:xfrm>
            <a:off x="548640" y="1417320"/>
            <a:ext cx="7589520" cy="1170432"/>
          </a:xfrm>
          <a:prstGeom prst="roundRect">
            <a:avLst>
              <a:gd name="adj" fmla="val 7031"/>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27048"/>
            <a:ext cx="2011680" cy="914400"/>
          </a:xfrm>
          <a:prstGeom prst="rect">
            <a:avLst/>
          </a:prstGeom>
          <a:noFill/>
          <a:ln/>
        </p:spPr>
        <p:txBody>
          <a:bodyPr wrap="square" lIns="0" tIns="0" rIns="0" bIns="0" rtlCol="0" anchor="ctr"/>
          <a:lstStyle/>
          <a:p>
            <a:pPr indent="0" marL="0">
              <a:buNone/>
            </a:pPr>
            <a:r>
              <a:rPr lang="en-US" sz="1450" b="1" dirty="0">
                <a:solidFill>
                  <a:srgbClr val="1F3347"/>
                </a:solidFill>
                <a:latin typeface="Calibri" pitchFamily="34" charset="0"/>
                <a:ea typeface="Calibri" pitchFamily="34" charset="-122"/>
                <a:cs typeface="Calibri" pitchFamily="34" charset="-120"/>
              </a:rPr>
              <a:t>Artères</a:t>
            </a:r>
            <a:endParaRPr lang="en-US" sz="1450" dirty="0"/>
          </a:p>
        </p:txBody>
      </p:sp>
      <p:sp>
        <p:nvSpPr>
          <p:cNvPr id="6" name="Text 4"/>
          <p:cNvSpPr/>
          <p:nvPr/>
        </p:nvSpPr>
        <p:spPr>
          <a:xfrm>
            <a:off x="2880360" y="1527048"/>
            <a:ext cx="3931920" cy="960120"/>
          </a:xfrm>
          <a:prstGeom prst="rect">
            <a:avLst/>
          </a:prstGeom>
          <a:noFill/>
          <a:ln/>
        </p:spPr>
        <p:txBody>
          <a:bodyPr wrap="square" lIns="0" tIns="0" rIns="0" bIns="0" rtlCol="0" anchor="ctr"/>
          <a:lstStyle/>
          <a:p>
            <a:pPr indent="0" marL="0">
              <a:lnSpc>
                <a:spcPct val="110000"/>
              </a:lnSpc>
              <a:buNone/>
            </a:pPr>
            <a:r>
              <a:rPr lang="en-US" sz="1100" dirty="0">
                <a:solidFill>
                  <a:srgbClr val="1F3347"/>
                </a:solidFill>
                <a:latin typeface="Calibri" pitchFamily="34" charset="0"/>
                <a:ea typeface="Calibri" pitchFamily="34" charset="-122"/>
                <a:cs typeface="Calibri" pitchFamily="34" charset="-120"/>
              </a:rPr>
              <a:t>Élastiques, partent du cœur vers les organes. Diamètre moyen ≈ 4 mm.</a:t>
            </a:r>
            <a:endParaRPr lang="en-US" sz="1100" dirty="0"/>
          </a:p>
        </p:txBody>
      </p:sp>
      <p:sp>
        <p:nvSpPr>
          <p:cNvPr id="7" name="Shape 5"/>
          <p:cNvSpPr/>
          <p:nvPr/>
        </p:nvSpPr>
        <p:spPr>
          <a:xfrm>
            <a:off x="6903720" y="1783080"/>
            <a:ext cx="1051560" cy="438912"/>
          </a:xfrm>
          <a:prstGeom prst="roundRect">
            <a:avLst>
              <a:gd name="adj" fmla="val 16667"/>
            </a:avLst>
          </a:prstGeom>
          <a:solidFill>
            <a:srgbClr val="D8E4EE"/>
          </a:solidFill>
          <a:ln/>
        </p:spPr>
      </p:sp>
      <p:sp>
        <p:nvSpPr>
          <p:cNvPr id="8" name="Text 6"/>
          <p:cNvSpPr/>
          <p:nvPr/>
        </p:nvSpPr>
        <p:spPr>
          <a:xfrm>
            <a:off x="6903720" y="1783080"/>
            <a:ext cx="1051560" cy="438912"/>
          </a:xfrm>
          <a:prstGeom prst="rect">
            <a:avLst/>
          </a:prstGeom>
          <a:noFill/>
          <a:ln/>
        </p:spPr>
        <p:txBody>
          <a:bodyPr wrap="square" lIns="0" tIns="0" rIns="0" bIns="0" rtlCol="0" anchor="ctr"/>
          <a:lstStyle/>
          <a:p>
            <a:pPr algn="ctr" indent="0" marL="0">
              <a:buNone/>
            </a:pPr>
            <a:r>
              <a:rPr lang="en-US" sz="950" b="1" dirty="0">
                <a:solidFill>
                  <a:srgbClr val="5B7288"/>
                </a:solidFill>
                <a:latin typeface="Calibri" pitchFamily="34" charset="0"/>
                <a:ea typeface="Calibri" pitchFamily="34" charset="-122"/>
                <a:cs typeface="Calibri" pitchFamily="34" charset="-120"/>
              </a:rPr>
              <a:t>Distribution</a:t>
            </a:r>
            <a:endParaRPr lang="en-US" sz="950" dirty="0"/>
          </a:p>
        </p:txBody>
      </p:sp>
      <p:sp>
        <p:nvSpPr>
          <p:cNvPr id="9" name="Shape 7"/>
          <p:cNvSpPr/>
          <p:nvPr/>
        </p:nvSpPr>
        <p:spPr>
          <a:xfrm>
            <a:off x="548640" y="2734056"/>
            <a:ext cx="7589520" cy="1170432"/>
          </a:xfrm>
          <a:prstGeom prst="roundRect">
            <a:avLst>
              <a:gd name="adj" fmla="val 7031"/>
            </a:avLst>
          </a:prstGeom>
          <a:solidFill>
            <a:srgbClr val="F2F7FB"/>
          </a:solidFill>
          <a:ln/>
          <a:effectLst>
            <a:outerShdw sx="100000" sy="100000" kx="0" ky="0" algn="bl" rotWithShape="0" blurRad="88900" dist="25400" dir="5400000">
              <a:srgbClr val="0A2942">
                <a:alpha val="16000"/>
              </a:srgbClr>
            </a:outerShdw>
          </a:effectLst>
        </p:spPr>
      </p:sp>
      <p:sp>
        <p:nvSpPr>
          <p:cNvPr id="10" name="Text 8"/>
          <p:cNvSpPr/>
          <p:nvPr/>
        </p:nvSpPr>
        <p:spPr>
          <a:xfrm>
            <a:off x="822960" y="2843784"/>
            <a:ext cx="2011680" cy="914400"/>
          </a:xfrm>
          <a:prstGeom prst="rect">
            <a:avLst/>
          </a:prstGeom>
          <a:noFill/>
          <a:ln/>
        </p:spPr>
        <p:txBody>
          <a:bodyPr wrap="square" lIns="0" tIns="0" rIns="0" bIns="0" rtlCol="0" anchor="ctr"/>
          <a:lstStyle/>
          <a:p>
            <a:pPr indent="0" marL="0">
              <a:buNone/>
            </a:pPr>
            <a:r>
              <a:rPr lang="en-US" sz="1450" b="1" dirty="0">
                <a:solidFill>
                  <a:srgbClr val="1F3347"/>
                </a:solidFill>
                <a:latin typeface="Calibri" pitchFamily="34" charset="0"/>
                <a:ea typeface="Calibri" pitchFamily="34" charset="-122"/>
                <a:cs typeface="Calibri" pitchFamily="34" charset="-120"/>
              </a:rPr>
              <a:t>Veines</a:t>
            </a:r>
            <a:endParaRPr lang="en-US" sz="1450" dirty="0"/>
          </a:p>
        </p:txBody>
      </p:sp>
      <p:sp>
        <p:nvSpPr>
          <p:cNvPr id="11" name="Text 9"/>
          <p:cNvSpPr/>
          <p:nvPr/>
        </p:nvSpPr>
        <p:spPr>
          <a:xfrm>
            <a:off x="2880360" y="2843784"/>
            <a:ext cx="3931920" cy="960120"/>
          </a:xfrm>
          <a:prstGeom prst="rect">
            <a:avLst/>
          </a:prstGeom>
          <a:noFill/>
          <a:ln/>
        </p:spPr>
        <p:txBody>
          <a:bodyPr wrap="square" lIns="0" tIns="0" rIns="0" bIns="0" rtlCol="0" anchor="ctr"/>
          <a:lstStyle/>
          <a:p>
            <a:pPr indent="0" marL="0">
              <a:lnSpc>
                <a:spcPct val="110000"/>
              </a:lnSpc>
              <a:buNone/>
            </a:pPr>
            <a:r>
              <a:rPr lang="en-US" sz="1100" dirty="0">
                <a:solidFill>
                  <a:srgbClr val="1F3347"/>
                </a:solidFill>
                <a:latin typeface="Calibri" pitchFamily="34" charset="0"/>
                <a:ea typeface="Calibri" pitchFamily="34" charset="-122"/>
                <a:cs typeface="Calibri" pitchFamily="34" charset="-120"/>
              </a:rPr>
              <a:t>Ramènent le sang au cœur, équipées de valvules anti-retour (c'est ainsi que le sang remonte des jambes).</a:t>
            </a:r>
            <a:endParaRPr lang="en-US" sz="1100" dirty="0"/>
          </a:p>
        </p:txBody>
      </p:sp>
      <p:sp>
        <p:nvSpPr>
          <p:cNvPr id="12" name="Shape 10"/>
          <p:cNvSpPr/>
          <p:nvPr/>
        </p:nvSpPr>
        <p:spPr>
          <a:xfrm>
            <a:off x="6903720" y="3099816"/>
            <a:ext cx="1051560" cy="438912"/>
          </a:xfrm>
          <a:prstGeom prst="roundRect">
            <a:avLst>
              <a:gd name="adj" fmla="val 16667"/>
            </a:avLst>
          </a:prstGeom>
          <a:solidFill>
            <a:srgbClr val="D8E4EE"/>
          </a:solidFill>
          <a:ln/>
        </p:spPr>
      </p:sp>
      <p:sp>
        <p:nvSpPr>
          <p:cNvPr id="13" name="Text 11"/>
          <p:cNvSpPr/>
          <p:nvPr/>
        </p:nvSpPr>
        <p:spPr>
          <a:xfrm>
            <a:off x="6903720" y="3099816"/>
            <a:ext cx="1051560" cy="438912"/>
          </a:xfrm>
          <a:prstGeom prst="rect">
            <a:avLst/>
          </a:prstGeom>
          <a:noFill/>
          <a:ln/>
        </p:spPr>
        <p:txBody>
          <a:bodyPr wrap="square" lIns="0" tIns="0" rIns="0" bIns="0" rtlCol="0" anchor="ctr"/>
          <a:lstStyle/>
          <a:p>
            <a:pPr algn="ctr" indent="0" marL="0">
              <a:buNone/>
            </a:pPr>
            <a:r>
              <a:rPr lang="en-US" sz="950" b="1" dirty="0">
                <a:solidFill>
                  <a:srgbClr val="5B7288"/>
                </a:solidFill>
                <a:latin typeface="Calibri" pitchFamily="34" charset="0"/>
                <a:ea typeface="Calibri" pitchFamily="34" charset="-122"/>
                <a:cs typeface="Calibri" pitchFamily="34" charset="-120"/>
              </a:rPr>
              <a:t>Retour</a:t>
            </a:r>
            <a:endParaRPr lang="en-US" sz="950" dirty="0"/>
          </a:p>
        </p:txBody>
      </p:sp>
      <p:sp>
        <p:nvSpPr>
          <p:cNvPr id="14" name="Shape 12"/>
          <p:cNvSpPr/>
          <p:nvPr/>
        </p:nvSpPr>
        <p:spPr>
          <a:xfrm>
            <a:off x="548640" y="4050792"/>
            <a:ext cx="7589520" cy="1170432"/>
          </a:xfrm>
          <a:prstGeom prst="roundRect">
            <a:avLst>
              <a:gd name="adj" fmla="val 7031"/>
            </a:avLst>
          </a:prstGeom>
          <a:solidFill>
            <a:srgbClr val="DCEBF5"/>
          </a:solidFill>
          <a:ln/>
          <a:effectLst>
            <a:outerShdw sx="100000" sy="100000" kx="0" ky="0" algn="bl" rotWithShape="0" blurRad="88900" dist="25400" dir="5400000">
              <a:srgbClr val="0A2942">
                <a:alpha val="16000"/>
              </a:srgbClr>
            </a:outerShdw>
          </a:effectLst>
        </p:spPr>
      </p:sp>
      <p:sp>
        <p:nvSpPr>
          <p:cNvPr id="15" name="Text 13"/>
          <p:cNvSpPr/>
          <p:nvPr/>
        </p:nvSpPr>
        <p:spPr>
          <a:xfrm>
            <a:off x="822960" y="4160520"/>
            <a:ext cx="2011680" cy="914400"/>
          </a:xfrm>
          <a:prstGeom prst="rect">
            <a:avLst/>
          </a:prstGeom>
          <a:noFill/>
          <a:ln/>
        </p:spPr>
        <p:txBody>
          <a:bodyPr wrap="square" lIns="0" tIns="0" rIns="0" bIns="0" rtlCol="0" anchor="ctr"/>
          <a:lstStyle/>
          <a:p>
            <a:pPr indent="0" marL="0">
              <a:buNone/>
            </a:pPr>
            <a:r>
              <a:rPr lang="en-US" sz="1450" b="1" dirty="0">
                <a:solidFill>
                  <a:srgbClr val="065A82"/>
                </a:solidFill>
                <a:latin typeface="Calibri" pitchFamily="34" charset="0"/>
                <a:ea typeface="Calibri" pitchFamily="34" charset="-122"/>
                <a:cs typeface="Calibri" pitchFamily="34" charset="-120"/>
              </a:rPr>
              <a:t>Capillaires</a:t>
            </a:r>
            <a:endParaRPr lang="en-US" sz="1450" dirty="0"/>
          </a:p>
        </p:txBody>
      </p:sp>
      <p:sp>
        <p:nvSpPr>
          <p:cNvPr id="16" name="Text 14"/>
          <p:cNvSpPr/>
          <p:nvPr/>
        </p:nvSpPr>
        <p:spPr>
          <a:xfrm>
            <a:off x="2880360" y="4160520"/>
            <a:ext cx="3931920" cy="960120"/>
          </a:xfrm>
          <a:prstGeom prst="rect">
            <a:avLst/>
          </a:prstGeom>
          <a:noFill/>
          <a:ln/>
        </p:spPr>
        <p:txBody>
          <a:bodyPr wrap="square" lIns="0" tIns="0" rIns="0" bIns="0" rtlCol="0" anchor="ctr"/>
          <a:lstStyle/>
          <a:p>
            <a:pPr indent="0" marL="0">
              <a:lnSpc>
                <a:spcPct val="110000"/>
              </a:lnSpc>
              <a:buNone/>
            </a:pPr>
            <a:r>
              <a:rPr lang="en-US" sz="1100" dirty="0">
                <a:solidFill>
                  <a:srgbClr val="1F3347"/>
                </a:solidFill>
                <a:latin typeface="Calibri" pitchFamily="34" charset="0"/>
                <a:ea typeface="Calibri" pitchFamily="34" charset="-122"/>
                <a:cs typeface="Calibri" pitchFamily="34" charset="-120"/>
              </a:rPr>
              <a:t>Très fins (≈ 8 µm), très nombreux : le SEUL lieu d'échange gazeux avec les cellules.</a:t>
            </a:r>
            <a:endParaRPr lang="en-US" sz="1100" dirty="0"/>
          </a:p>
        </p:txBody>
      </p:sp>
      <p:sp>
        <p:nvSpPr>
          <p:cNvPr id="17" name="Shape 15"/>
          <p:cNvSpPr/>
          <p:nvPr/>
        </p:nvSpPr>
        <p:spPr>
          <a:xfrm>
            <a:off x="6903720" y="4416552"/>
            <a:ext cx="1051560" cy="438912"/>
          </a:xfrm>
          <a:prstGeom prst="roundRect">
            <a:avLst>
              <a:gd name="adj" fmla="val 16667"/>
            </a:avLst>
          </a:prstGeom>
          <a:solidFill>
            <a:srgbClr val="065A82"/>
          </a:solidFill>
          <a:ln/>
        </p:spPr>
      </p:sp>
      <p:sp>
        <p:nvSpPr>
          <p:cNvPr id="18" name="Text 16"/>
          <p:cNvSpPr/>
          <p:nvPr/>
        </p:nvSpPr>
        <p:spPr>
          <a:xfrm>
            <a:off x="6903720" y="4416552"/>
            <a:ext cx="10515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Échange</a:t>
            </a:r>
            <a:endParaRPr lang="en-US" sz="950" dirty="0"/>
          </a:p>
        </p:txBody>
      </p:sp>
      <p:sp>
        <p:nvSpPr>
          <p:cNvPr id="19" name="Shape 17"/>
          <p:cNvSpPr/>
          <p:nvPr/>
        </p:nvSpPr>
        <p:spPr>
          <a:xfrm>
            <a:off x="8330184" y="1417320"/>
            <a:ext cx="3291840" cy="3803904"/>
          </a:xfrm>
          <a:prstGeom prst="roundRect">
            <a:avLst>
              <a:gd name="adj" fmla="val 2500"/>
            </a:avLst>
          </a:prstGeom>
          <a:solidFill>
            <a:srgbClr val="FBE9E1"/>
          </a:solidFill>
          <a:ln/>
          <a:effectLst>
            <a:outerShdw sx="100000" sy="100000" kx="0" ky="0" algn="bl" rotWithShape="0" blurRad="88900" dist="25400" dir="5400000">
              <a:srgbClr val="0A2942">
                <a:alpha val="16000"/>
              </a:srgbClr>
            </a:outerShdw>
          </a:effectLst>
        </p:spPr>
      </p:sp>
      <p:sp>
        <p:nvSpPr>
          <p:cNvPr id="20" name="Shape 18"/>
          <p:cNvSpPr/>
          <p:nvPr/>
        </p:nvSpPr>
        <p:spPr>
          <a:xfrm>
            <a:off x="8604504" y="1691640"/>
            <a:ext cx="512064" cy="512064"/>
          </a:xfrm>
          <a:prstGeom prst="ellipse">
            <a:avLst/>
          </a:prstGeom>
          <a:solidFill>
            <a:srgbClr val="D9541E"/>
          </a:solidFill>
          <a:ln/>
        </p:spPr>
      </p:sp>
      <p:pic>
        <p:nvPicPr>
          <p:cNvPr id="21" name="Image 0" descr="preencoded.png">    </p:cNvPr>
          <p:cNvPicPr>
            <a:picLocks noChangeAspect="1"/>
          </p:cNvPicPr>
          <p:nvPr/>
        </p:nvPicPr>
        <p:blipFill>
          <a:blip r:embed="rId1"/>
          <a:stretch>
            <a:fillRect/>
          </a:stretch>
        </p:blipFill>
        <p:spPr>
          <a:xfrm>
            <a:off x="8737641" y="1824777"/>
            <a:ext cx="245791" cy="245791"/>
          </a:xfrm>
          <a:prstGeom prst="rect">
            <a:avLst/>
          </a:prstGeom>
        </p:spPr>
      </p:pic>
      <p:sp>
        <p:nvSpPr>
          <p:cNvPr id="22" name="Text 19"/>
          <p:cNvSpPr/>
          <p:nvPr/>
        </p:nvSpPr>
        <p:spPr>
          <a:xfrm>
            <a:off x="8604504" y="2331720"/>
            <a:ext cx="2743200" cy="594360"/>
          </a:xfrm>
          <a:prstGeom prst="rect">
            <a:avLst/>
          </a:prstGeom>
          <a:noFill/>
          <a:ln/>
        </p:spPr>
        <p:txBody>
          <a:bodyPr wrap="square" lIns="0" tIns="0" rIns="0" bIns="0" rtlCol="0" anchor="ctr"/>
          <a:lstStyle/>
          <a:p>
            <a:pPr indent="0" marL="0">
              <a:lnSpc>
                <a:spcPct val="100000"/>
              </a:lnSpc>
              <a:buNone/>
            </a:pPr>
            <a:r>
              <a:rPr lang="en-US" sz="1250" b="1" dirty="0">
                <a:solidFill>
                  <a:srgbClr val="9C3A10"/>
                </a:solidFill>
                <a:latin typeface="Calibri" pitchFamily="34" charset="0"/>
                <a:ea typeface="Calibri" pitchFamily="34" charset="-122"/>
                <a:cs typeface="Calibri" pitchFamily="34" charset="-120"/>
              </a:rPr>
              <a:t>Fermer le robinet d'une zone</a:t>
            </a:r>
            <a:endParaRPr lang="en-US" sz="1250" dirty="0"/>
          </a:p>
        </p:txBody>
      </p:sp>
      <p:sp>
        <p:nvSpPr>
          <p:cNvPr id="23" name="Text 20"/>
          <p:cNvSpPr/>
          <p:nvPr/>
        </p:nvSpPr>
        <p:spPr>
          <a:xfrm>
            <a:off x="8604504" y="2926080"/>
            <a:ext cx="2788920" cy="2194560"/>
          </a:xfrm>
          <a:prstGeom prst="rect">
            <a:avLst/>
          </a:prstGeom>
          <a:noFill/>
          <a:ln/>
        </p:spPr>
        <p:txBody>
          <a:bodyPr wrap="square" lIns="0" tIns="0" rIns="0" bIns="0" rtlCol="0" anchor="t"/>
          <a:lstStyle/>
          <a:p>
            <a:pPr indent="0" marL="0">
              <a:lnSpc>
                <a:spcPct val="112000"/>
              </a:lnSpc>
              <a:buNone/>
            </a:pPr>
            <a:r>
              <a:rPr lang="en-US" sz="1050" dirty="0">
                <a:solidFill>
                  <a:srgbClr val="1F3347"/>
                </a:solidFill>
                <a:latin typeface="Calibri" pitchFamily="34" charset="0"/>
                <a:ea typeface="Calibri" pitchFamily="34" charset="-122"/>
                <a:cs typeface="Calibri" pitchFamily="34" charset="-120"/>
              </a:rPr>
              <a:t>Si l'organisme ferme les capillaires d'une région, il coupe purement la livraison à cette région. C'est exactement ce que fait l'apnée avec bras, jambes et peau : la vasoconstriction périphérique — mécanisme de survie détaillé diapo 29.</a:t>
            </a:r>
            <a:endParaRPr lang="en-US" sz="1050" dirty="0"/>
          </a:p>
        </p:txBody>
      </p:sp>
      <p:sp>
        <p:nvSpPr>
          <p:cNvPr id="24" name="Shape 21"/>
          <p:cNvSpPr/>
          <p:nvPr/>
        </p:nvSpPr>
        <p:spPr>
          <a:xfrm>
            <a:off x="548640" y="5486400"/>
            <a:ext cx="7589520" cy="777240"/>
          </a:xfrm>
          <a:prstGeom prst="roundRect">
            <a:avLst>
              <a:gd name="adj" fmla="val 10588"/>
            </a:avLst>
          </a:prstGeom>
          <a:solidFill>
            <a:srgbClr val="DCEBF5"/>
          </a:solidFill>
          <a:ln/>
          <a:effectLst>
            <a:outerShdw sx="100000" sy="100000" kx="0" ky="0" algn="bl" rotWithShape="0" blurRad="88900" dist="25400" dir="5400000">
              <a:srgbClr val="0A2942">
                <a:alpha val="16000"/>
              </a:srgbClr>
            </a:outerShdw>
          </a:effectLst>
        </p:spPr>
      </p:sp>
      <p:sp>
        <p:nvSpPr>
          <p:cNvPr id="25" name="Text 22"/>
          <p:cNvSpPr/>
          <p:nvPr/>
        </p:nvSpPr>
        <p:spPr>
          <a:xfrm>
            <a:off x="822960" y="5532120"/>
            <a:ext cx="7040880" cy="685800"/>
          </a:xfrm>
          <a:prstGeom prst="rect">
            <a:avLst/>
          </a:prstGeom>
          <a:noFill/>
          <a:ln/>
        </p:spPr>
        <p:txBody>
          <a:bodyPr wrap="square" lIns="0" tIns="0" rIns="0" bIns="0" rtlCol="0" anchor="ctr"/>
          <a:lstStyle/>
          <a:p>
            <a:pPr indent="0" marL="0">
              <a:lnSpc>
                <a:spcPct val="108000"/>
              </a:lnSpc>
              <a:buNone/>
            </a:pPr>
            <a:r>
              <a:rPr lang="en-US" sz="1150" b="1" dirty="0">
                <a:solidFill>
                  <a:srgbClr val="065A82"/>
                </a:solidFill>
                <a:latin typeface="Calibri" pitchFamily="34" charset="0"/>
                <a:ea typeface="Calibri" pitchFamily="34" charset="-122"/>
                <a:cs typeface="Calibri" pitchFamily="34" charset="-120"/>
              </a:rPr>
              <a:t>Ordre de grandeur : </a:t>
            </a:r>
            <a:pPr indent="0" marL="0">
              <a:lnSpc>
                <a:spcPct val="108000"/>
              </a:lnSpc>
              <a:buNone/>
            </a:pPr>
            <a:r>
              <a:rPr lang="en-US" sz="1150" dirty="0">
                <a:solidFill>
                  <a:srgbClr val="1F3347"/>
                </a:solidFill>
                <a:latin typeface="Calibri" pitchFamily="34" charset="0"/>
                <a:ea typeface="Calibri" pitchFamily="34" charset="-122"/>
                <a:cs typeface="Calibri" pitchFamily="34" charset="-120"/>
              </a:rPr>
              <a:t>un capillaire fait 8 millièmes de millimètre — un globule rouge y passe en file indienne.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4 · LA CIRCULATION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sang : 5 litres, et un transporteur stratégique</a:t>
            </a:r>
            <a:endParaRPr lang="en-US" sz="2800" dirty="0"/>
          </a:p>
        </p:txBody>
      </p:sp>
      <p:sp>
        <p:nvSpPr>
          <p:cNvPr id="4" name="Shape 2"/>
          <p:cNvSpPr/>
          <p:nvPr/>
        </p:nvSpPr>
        <p:spPr>
          <a:xfrm>
            <a:off x="548640" y="1417320"/>
            <a:ext cx="2697480"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749808" y="1581912"/>
            <a:ext cx="22951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5 L</a:t>
            </a:r>
            <a:endParaRPr lang="en-US" sz="2400" dirty="0"/>
          </a:p>
        </p:txBody>
      </p:sp>
      <p:sp>
        <p:nvSpPr>
          <p:cNvPr id="6" name="Text 4"/>
          <p:cNvSpPr/>
          <p:nvPr/>
        </p:nvSpPr>
        <p:spPr>
          <a:xfrm>
            <a:off x="749808" y="2148840"/>
            <a:ext cx="2295144" cy="502920"/>
          </a:xfrm>
          <a:prstGeom prst="rect">
            <a:avLst/>
          </a:prstGeom>
          <a:noFill/>
          <a:ln/>
        </p:spPr>
        <p:txBody>
          <a:bodyPr wrap="square" lIns="0" tIns="0" rIns="0" bIns="0" rtlCol="0" anchor="ctr"/>
          <a:lstStyle/>
          <a:p>
            <a:pPr indent="0" marL="0">
              <a:lnSpc>
                <a:spcPct val="100000"/>
              </a:lnSpc>
              <a:buNone/>
            </a:pPr>
            <a:r>
              <a:rPr lang="en-US" sz="1100" b="1" dirty="0">
                <a:solidFill>
                  <a:srgbClr val="1F3347"/>
                </a:solidFill>
                <a:latin typeface="Calibri" pitchFamily="34" charset="0"/>
                <a:ea typeface="Calibri" pitchFamily="34" charset="-122"/>
                <a:cs typeface="Calibri" pitchFamily="34" charset="-120"/>
              </a:rPr>
              <a:t>de sang chez l'adulte</a:t>
            </a:r>
            <a:endParaRPr lang="en-US" sz="1100" dirty="0"/>
          </a:p>
        </p:txBody>
      </p:sp>
      <p:sp>
        <p:nvSpPr>
          <p:cNvPr id="7" name="Text 5"/>
          <p:cNvSpPr/>
          <p:nvPr/>
        </p:nvSpPr>
        <p:spPr>
          <a:xfrm>
            <a:off x="749808" y="2651760"/>
            <a:ext cx="2295144" cy="7772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Plasma (93 % d'eau) + cellules en suspension.</a:t>
            </a:r>
            <a:endParaRPr lang="en-US" sz="1000" dirty="0"/>
          </a:p>
        </p:txBody>
      </p:sp>
      <p:sp>
        <p:nvSpPr>
          <p:cNvPr id="8" name="Shape 6"/>
          <p:cNvSpPr/>
          <p:nvPr/>
        </p:nvSpPr>
        <p:spPr>
          <a:xfrm>
            <a:off x="3346704" y="1417320"/>
            <a:ext cx="2697480"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9" name="Text 7"/>
          <p:cNvSpPr/>
          <p:nvPr/>
        </p:nvSpPr>
        <p:spPr>
          <a:xfrm>
            <a:off x="3547872" y="1581912"/>
            <a:ext cx="22951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5 M/mm³</a:t>
            </a:r>
            <a:endParaRPr lang="en-US" sz="2400" dirty="0"/>
          </a:p>
        </p:txBody>
      </p:sp>
      <p:sp>
        <p:nvSpPr>
          <p:cNvPr id="10" name="Text 8"/>
          <p:cNvSpPr/>
          <p:nvPr/>
        </p:nvSpPr>
        <p:spPr>
          <a:xfrm>
            <a:off x="3547872" y="2148840"/>
            <a:ext cx="2295144" cy="502920"/>
          </a:xfrm>
          <a:prstGeom prst="rect">
            <a:avLst/>
          </a:prstGeom>
          <a:noFill/>
          <a:ln/>
        </p:spPr>
        <p:txBody>
          <a:bodyPr wrap="square" lIns="0" tIns="0" rIns="0" bIns="0" rtlCol="0" anchor="ctr"/>
          <a:lstStyle/>
          <a:p>
            <a:pPr indent="0" marL="0">
              <a:lnSpc>
                <a:spcPct val="100000"/>
              </a:lnSpc>
              <a:buNone/>
            </a:pPr>
            <a:r>
              <a:rPr lang="en-US" sz="1100" b="1" dirty="0">
                <a:solidFill>
                  <a:srgbClr val="1F3347"/>
                </a:solidFill>
                <a:latin typeface="Calibri" pitchFamily="34" charset="0"/>
                <a:ea typeface="Calibri" pitchFamily="34" charset="-122"/>
                <a:cs typeface="Calibri" pitchFamily="34" charset="-120"/>
              </a:rPr>
              <a:t>globules rouges (hématies)</a:t>
            </a:r>
            <a:endParaRPr lang="en-US" sz="1100" dirty="0"/>
          </a:p>
        </p:txBody>
      </p:sp>
      <p:sp>
        <p:nvSpPr>
          <p:cNvPr id="11" name="Text 9"/>
          <p:cNvSpPr/>
          <p:nvPr/>
        </p:nvSpPr>
        <p:spPr>
          <a:xfrm>
            <a:off x="3547872" y="2651760"/>
            <a:ext cx="2295144" cy="7772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Pas de noyau, mais de l'hémoglobine : LES transporteurs d'O₂ et de CO₂.</a:t>
            </a:r>
            <a:endParaRPr lang="en-US" sz="1000" dirty="0"/>
          </a:p>
        </p:txBody>
      </p:sp>
      <p:sp>
        <p:nvSpPr>
          <p:cNvPr id="12" name="Shape 10"/>
          <p:cNvSpPr/>
          <p:nvPr/>
        </p:nvSpPr>
        <p:spPr>
          <a:xfrm>
            <a:off x="6144768" y="1417320"/>
            <a:ext cx="2697480"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13" name="Text 11"/>
          <p:cNvSpPr/>
          <p:nvPr/>
        </p:nvSpPr>
        <p:spPr>
          <a:xfrm>
            <a:off x="6345936" y="1581912"/>
            <a:ext cx="22951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5–10 000</a:t>
            </a:r>
            <a:endParaRPr lang="en-US" sz="2400" dirty="0"/>
          </a:p>
        </p:txBody>
      </p:sp>
      <p:sp>
        <p:nvSpPr>
          <p:cNvPr id="14" name="Text 12"/>
          <p:cNvSpPr/>
          <p:nvPr/>
        </p:nvSpPr>
        <p:spPr>
          <a:xfrm>
            <a:off x="6345936" y="2148840"/>
            <a:ext cx="2295144" cy="502920"/>
          </a:xfrm>
          <a:prstGeom prst="rect">
            <a:avLst/>
          </a:prstGeom>
          <a:noFill/>
          <a:ln/>
        </p:spPr>
        <p:txBody>
          <a:bodyPr wrap="square" lIns="0" tIns="0" rIns="0" bIns="0" rtlCol="0" anchor="ctr"/>
          <a:lstStyle/>
          <a:p>
            <a:pPr indent="0" marL="0">
              <a:lnSpc>
                <a:spcPct val="100000"/>
              </a:lnSpc>
              <a:buNone/>
            </a:pPr>
            <a:r>
              <a:rPr lang="en-US" sz="1100" b="1" dirty="0">
                <a:solidFill>
                  <a:srgbClr val="1F3347"/>
                </a:solidFill>
                <a:latin typeface="Calibri" pitchFamily="34" charset="0"/>
                <a:ea typeface="Calibri" pitchFamily="34" charset="-122"/>
                <a:cs typeface="Calibri" pitchFamily="34" charset="-120"/>
              </a:rPr>
              <a:t>globules blancs /mm³</a:t>
            </a:r>
            <a:endParaRPr lang="en-US" sz="1100" dirty="0"/>
          </a:p>
        </p:txBody>
      </p:sp>
      <p:sp>
        <p:nvSpPr>
          <p:cNvPr id="15" name="Text 13"/>
          <p:cNvSpPr/>
          <p:nvPr/>
        </p:nvSpPr>
        <p:spPr>
          <a:xfrm>
            <a:off x="6345936" y="2651760"/>
            <a:ext cx="2295144" cy="7772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La défense immunitaire.</a:t>
            </a:r>
            <a:endParaRPr lang="en-US" sz="1000" dirty="0"/>
          </a:p>
        </p:txBody>
      </p:sp>
      <p:sp>
        <p:nvSpPr>
          <p:cNvPr id="16" name="Shape 14"/>
          <p:cNvSpPr/>
          <p:nvPr/>
        </p:nvSpPr>
        <p:spPr>
          <a:xfrm>
            <a:off x="8942832" y="1417320"/>
            <a:ext cx="2697480"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17" name="Text 15"/>
          <p:cNvSpPr/>
          <p:nvPr/>
        </p:nvSpPr>
        <p:spPr>
          <a:xfrm>
            <a:off x="9144000" y="1581912"/>
            <a:ext cx="22951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150 000</a:t>
            </a:r>
            <a:endParaRPr lang="en-US" sz="2400" dirty="0"/>
          </a:p>
        </p:txBody>
      </p:sp>
      <p:sp>
        <p:nvSpPr>
          <p:cNvPr id="18" name="Text 16"/>
          <p:cNvSpPr/>
          <p:nvPr/>
        </p:nvSpPr>
        <p:spPr>
          <a:xfrm>
            <a:off x="9144000" y="2148840"/>
            <a:ext cx="2295144" cy="502920"/>
          </a:xfrm>
          <a:prstGeom prst="rect">
            <a:avLst/>
          </a:prstGeom>
          <a:noFill/>
          <a:ln/>
        </p:spPr>
        <p:txBody>
          <a:bodyPr wrap="square" lIns="0" tIns="0" rIns="0" bIns="0" rtlCol="0" anchor="ctr"/>
          <a:lstStyle/>
          <a:p>
            <a:pPr indent="0" marL="0">
              <a:lnSpc>
                <a:spcPct val="100000"/>
              </a:lnSpc>
              <a:buNone/>
            </a:pPr>
            <a:r>
              <a:rPr lang="en-US" sz="1100" b="1" dirty="0">
                <a:solidFill>
                  <a:srgbClr val="1F3347"/>
                </a:solidFill>
                <a:latin typeface="Calibri" pitchFamily="34" charset="0"/>
                <a:ea typeface="Calibri" pitchFamily="34" charset="-122"/>
                <a:cs typeface="Calibri" pitchFamily="34" charset="-120"/>
              </a:rPr>
              <a:t>plaquettes /mm³</a:t>
            </a:r>
            <a:endParaRPr lang="en-US" sz="1100" dirty="0"/>
          </a:p>
        </p:txBody>
      </p:sp>
      <p:sp>
        <p:nvSpPr>
          <p:cNvPr id="19" name="Text 17"/>
          <p:cNvSpPr/>
          <p:nvPr/>
        </p:nvSpPr>
        <p:spPr>
          <a:xfrm>
            <a:off x="9144000" y="2651760"/>
            <a:ext cx="2295144" cy="7772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La coagulation.</a:t>
            </a:r>
            <a:endParaRPr lang="en-US" sz="1000" dirty="0"/>
          </a:p>
        </p:txBody>
      </p:sp>
      <p:sp>
        <p:nvSpPr>
          <p:cNvPr id="20" name="Shape 18"/>
          <p:cNvSpPr/>
          <p:nvPr/>
        </p:nvSpPr>
        <p:spPr>
          <a:xfrm>
            <a:off x="548640" y="3794760"/>
            <a:ext cx="5440680" cy="2286000"/>
          </a:xfrm>
          <a:prstGeom prst="roundRect">
            <a:avLst>
              <a:gd name="adj" fmla="val 3600"/>
            </a:avLst>
          </a:prstGeom>
          <a:solidFill>
            <a:srgbClr val="DCEBF5"/>
          </a:solidFill>
          <a:ln/>
          <a:effectLst>
            <a:outerShdw sx="100000" sy="100000" kx="0" ky="0" algn="bl" rotWithShape="0" blurRad="88900" dist="25400" dir="5400000">
              <a:srgbClr val="0A2942">
                <a:alpha val="16000"/>
              </a:srgbClr>
            </a:outerShdw>
          </a:effectLst>
        </p:spPr>
      </p:sp>
      <p:sp>
        <p:nvSpPr>
          <p:cNvPr id="21" name="Shape 19"/>
          <p:cNvSpPr/>
          <p:nvPr/>
        </p:nvSpPr>
        <p:spPr>
          <a:xfrm>
            <a:off x="822960" y="4069080"/>
            <a:ext cx="548640" cy="548640"/>
          </a:xfrm>
          <a:prstGeom prst="ellipse">
            <a:avLst/>
          </a:prstGeom>
          <a:solidFill>
            <a:srgbClr val="065A82"/>
          </a:solidFill>
          <a:ln/>
        </p:spPr>
      </p:sp>
      <p:pic>
        <p:nvPicPr>
          <p:cNvPr id="22" name="Image 0" descr="preencoded.png">    </p:cNvPr>
          <p:cNvPicPr>
            <a:picLocks noChangeAspect="1"/>
          </p:cNvPicPr>
          <p:nvPr/>
        </p:nvPicPr>
        <p:blipFill>
          <a:blip r:embed="rId1"/>
          <a:stretch>
            <a:fillRect/>
          </a:stretch>
        </p:blipFill>
        <p:spPr>
          <a:xfrm>
            <a:off x="965606" y="4211726"/>
            <a:ext cx="263347" cy="263347"/>
          </a:xfrm>
          <a:prstGeom prst="rect">
            <a:avLst/>
          </a:prstGeom>
        </p:spPr>
      </p:pic>
      <p:sp>
        <p:nvSpPr>
          <p:cNvPr id="23" name="Text 20"/>
          <p:cNvSpPr/>
          <p:nvPr/>
        </p:nvSpPr>
        <p:spPr>
          <a:xfrm>
            <a:off x="1554480" y="4023360"/>
            <a:ext cx="4343400" cy="594360"/>
          </a:xfrm>
          <a:prstGeom prst="rect">
            <a:avLst/>
          </a:prstGeom>
          <a:noFill/>
          <a:ln/>
        </p:spPr>
        <p:txBody>
          <a:bodyPr wrap="square" lIns="0" tIns="0" rIns="0" bIns="0" rtlCol="0" anchor="ctr"/>
          <a:lstStyle/>
          <a:p>
            <a:pPr indent="0" marL="0">
              <a:lnSpc>
                <a:spcPct val="100000"/>
              </a:lnSpc>
              <a:buNone/>
            </a:pPr>
            <a:r>
              <a:rPr lang="en-US" sz="1300" b="1" dirty="0">
                <a:solidFill>
                  <a:srgbClr val="1F3347"/>
                </a:solidFill>
                <a:latin typeface="Calibri" pitchFamily="34" charset="0"/>
                <a:ea typeface="Calibri" pitchFamily="34" charset="-122"/>
                <a:cs typeface="Calibri" pitchFamily="34" charset="-120"/>
              </a:rPr>
              <a:t>Plus de globules rouges = plus d'O₂ transporté</a:t>
            </a:r>
            <a:endParaRPr lang="en-US" sz="1300" dirty="0"/>
          </a:p>
        </p:txBody>
      </p:sp>
      <p:sp>
        <p:nvSpPr>
          <p:cNvPr id="24" name="Text 21"/>
          <p:cNvSpPr/>
          <p:nvPr/>
        </p:nvSpPr>
        <p:spPr>
          <a:xfrm>
            <a:off x="822960" y="4663440"/>
            <a:ext cx="4892040" cy="132588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C'est pourquoi l'altitude aide les sportifs — et pourquoi l'EPO est un dopage dangereux (sang épaissi, risque d'infarctus). Retenez surtout : le corps possède un stock caché de globules rouges, dans la rate, qu'il libère en apnée (diapo 31).</a:t>
            </a:r>
            <a:endParaRPr lang="en-US" sz="1150" dirty="0"/>
          </a:p>
        </p:txBody>
      </p:sp>
      <p:sp>
        <p:nvSpPr>
          <p:cNvPr id="25" name="Shape 22"/>
          <p:cNvSpPr/>
          <p:nvPr/>
        </p:nvSpPr>
        <p:spPr>
          <a:xfrm>
            <a:off x="6181344" y="3794760"/>
            <a:ext cx="5440680" cy="2286000"/>
          </a:xfrm>
          <a:prstGeom prst="roundRect">
            <a:avLst>
              <a:gd name="adj" fmla="val 3600"/>
            </a:avLst>
          </a:prstGeom>
          <a:solidFill>
            <a:srgbClr val="DCEBF5"/>
          </a:solidFill>
          <a:ln/>
          <a:effectLst>
            <a:outerShdw sx="100000" sy="100000" kx="0" ky="0" algn="bl" rotWithShape="0" blurRad="88900" dist="25400" dir="5400000">
              <a:srgbClr val="0A2942">
                <a:alpha val="16000"/>
              </a:srgbClr>
            </a:outerShdw>
          </a:effectLst>
        </p:spPr>
      </p:sp>
      <p:sp>
        <p:nvSpPr>
          <p:cNvPr id="26" name="Shape 23"/>
          <p:cNvSpPr/>
          <p:nvPr/>
        </p:nvSpPr>
        <p:spPr>
          <a:xfrm>
            <a:off x="6455664" y="4069080"/>
            <a:ext cx="548640" cy="548640"/>
          </a:xfrm>
          <a:prstGeom prst="ellipse">
            <a:avLst/>
          </a:prstGeom>
          <a:solidFill>
            <a:srgbClr val="065A82"/>
          </a:solidFill>
          <a:ln/>
        </p:spPr>
      </p:sp>
      <p:pic>
        <p:nvPicPr>
          <p:cNvPr id="27" name="Image 1" descr="preencoded.png">    </p:cNvPr>
          <p:cNvPicPr>
            <a:picLocks noChangeAspect="1"/>
          </p:cNvPicPr>
          <p:nvPr/>
        </p:nvPicPr>
        <p:blipFill>
          <a:blip r:embed="rId2"/>
          <a:stretch>
            <a:fillRect/>
          </a:stretch>
        </p:blipFill>
        <p:spPr>
          <a:xfrm>
            <a:off x="6598310" y="4211726"/>
            <a:ext cx="263347" cy="263347"/>
          </a:xfrm>
          <a:prstGeom prst="rect">
            <a:avLst/>
          </a:prstGeom>
        </p:spPr>
      </p:pic>
      <p:sp>
        <p:nvSpPr>
          <p:cNvPr id="28" name="Text 24"/>
          <p:cNvSpPr/>
          <p:nvPr/>
        </p:nvSpPr>
        <p:spPr>
          <a:xfrm>
            <a:off x="7187184" y="4023360"/>
            <a:ext cx="4343400" cy="594360"/>
          </a:xfrm>
          <a:prstGeom prst="rect">
            <a:avLst/>
          </a:prstGeom>
          <a:noFill/>
          <a:ln/>
        </p:spPr>
        <p:txBody>
          <a:bodyPr wrap="square" lIns="0" tIns="0" rIns="0" bIns="0" rtlCol="0" anchor="ctr"/>
          <a:lstStyle/>
          <a:p>
            <a:pPr indent="0" marL="0">
              <a:buNone/>
            </a:pPr>
            <a:r>
              <a:rPr lang="en-US" sz="1300" b="1" dirty="0">
                <a:solidFill>
                  <a:srgbClr val="1F3347"/>
                </a:solidFill>
                <a:latin typeface="Calibri" pitchFamily="34" charset="0"/>
                <a:ea typeface="Calibri" pitchFamily="34" charset="-122"/>
                <a:cs typeface="Calibri" pitchFamily="34" charset="-120"/>
              </a:rPr>
              <a:t>Le plasma, c'est de l'eau : hydratez</a:t>
            </a:r>
            <a:endParaRPr lang="en-US" sz="1300" dirty="0"/>
          </a:p>
        </p:txBody>
      </p:sp>
      <p:sp>
        <p:nvSpPr>
          <p:cNvPr id="29" name="Text 25"/>
          <p:cNvSpPr/>
          <p:nvPr/>
        </p:nvSpPr>
        <p:spPr>
          <a:xfrm>
            <a:off x="6455664" y="4663440"/>
            <a:ext cx="4892040" cy="132588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Immersion et froid augmentent la production d'urine, donc la perte d'eau : la déshydratation après séance est la règle, pas l'exception. Un sang déshydraté est plus visqueux — consigne simple et systématique : boire avant, pendant, après.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4 · LA CIRCULATION</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Grande et petite circulation : la boucle complète</a:t>
            </a:r>
            <a:endParaRPr lang="en-US" sz="2800" dirty="0"/>
          </a:p>
        </p:txBody>
      </p:sp>
      <p:sp>
        <p:nvSpPr>
          <p:cNvPr id="4" name="Shape 2"/>
          <p:cNvSpPr/>
          <p:nvPr/>
        </p:nvSpPr>
        <p:spPr>
          <a:xfrm>
            <a:off x="548640" y="1463040"/>
            <a:ext cx="2112264" cy="1874520"/>
          </a:xfrm>
          <a:prstGeom prst="roundRect">
            <a:avLst>
              <a:gd name="adj" fmla="val 3902"/>
            </a:avLst>
          </a:prstGeom>
          <a:solidFill>
            <a:srgbClr val="0E7CB8"/>
          </a:solidFill>
          <a:ln/>
          <a:effectLst>
            <a:outerShdw sx="100000" sy="100000" kx="0" ky="0" algn="bl" rotWithShape="0" blurRad="88900" dist="25400" dir="5400000">
              <a:srgbClr val="0A2942">
                <a:alpha val="16000"/>
              </a:srgbClr>
            </a:outerShdw>
          </a:effectLst>
        </p:spPr>
      </p:sp>
      <p:sp>
        <p:nvSpPr>
          <p:cNvPr id="5" name="Text 3"/>
          <p:cNvSpPr/>
          <p:nvPr/>
        </p:nvSpPr>
        <p:spPr>
          <a:xfrm>
            <a:off x="731520" y="1609344"/>
            <a:ext cx="1746504" cy="566928"/>
          </a:xfrm>
          <a:prstGeom prst="rect">
            <a:avLst/>
          </a:prstGeom>
          <a:noFill/>
          <a:ln/>
        </p:spPr>
        <p:txBody>
          <a:bodyPr wrap="square" lIns="0" tIns="0" rIns="0" bIns="0" rtlCol="0" anchor="t"/>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Ventricule gauche</a:t>
            </a:r>
            <a:endParaRPr lang="en-US" sz="1100" dirty="0"/>
          </a:p>
        </p:txBody>
      </p:sp>
      <p:sp>
        <p:nvSpPr>
          <p:cNvPr id="6" name="Text 4"/>
          <p:cNvSpPr/>
          <p:nvPr/>
        </p:nvSpPr>
        <p:spPr>
          <a:xfrm>
            <a:off x="731520" y="2176272"/>
            <a:ext cx="1746504" cy="1014984"/>
          </a:xfrm>
          <a:prstGeom prst="rect">
            <a:avLst/>
          </a:prstGeom>
          <a:noFill/>
          <a:ln/>
        </p:spPr>
        <p:txBody>
          <a:bodyPr wrap="square" lIns="0" tIns="0" rIns="0" bIns="0" rtlCol="0" anchor="t"/>
          <a:lstStyle/>
          <a:p>
            <a:pPr indent="0" marL="0">
              <a:lnSpc>
                <a:spcPct val="105000"/>
              </a:lnSpc>
              <a:buNone/>
            </a:pPr>
            <a:r>
              <a:rPr lang="en-US" sz="950" dirty="0">
                <a:solidFill>
                  <a:srgbClr val="F0F6FA"/>
                </a:solidFill>
                <a:latin typeface="Calibri" pitchFamily="34" charset="0"/>
                <a:ea typeface="Calibri" pitchFamily="34" charset="-122"/>
                <a:cs typeface="Calibri" pitchFamily="34" charset="-120"/>
              </a:rPr>
              <a:t>Éjecte le sang oxygéné dans l'aorte</a:t>
            </a:r>
            <a:endParaRPr lang="en-US" sz="950" dirty="0"/>
          </a:p>
        </p:txBody>
      </p:sp>
      <p:sp>
        <p:nvSpPr>
          <p:cNvPr id="7" name="Text 5"/>
          <p:cNvSpPr/>
          <p:nvPr/>
        </p:nvSpPr>
        <p:spPr>
          <a:xfrm>
            <a:off x="2633472" y="217170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2788920" y="1463040"/>
            <a:ext cx="2112264" cy="1874520"/>
          </a:xfrm>
          <a:prstGeom prst="roundRect">
            <a:avLst>
              <a:gd name="adj" fmla="val 3902"/>
            </a:avLst>
          </a:prstGeom>
          <a:solidFill>
            <a:srgbClr val="0E7CB8"/>
          </a:solidFill>
          <a:ln/>
          <a:effectLst>
            <a:outerShdw sx="100000" sy="100000" kx="0" ky="0" algn="bl" rotWithShape="0" blurRad="88900" dist="25400" dir="5400000">
              <a:srgbClr val="0A2942">
                <a:alpha val="16000"/>
              </a:srgbClr>
            </a:outerShdw>
          </a:effectLst>
        </p:spPr>
      </p:sp>
      <p:sp>
        <p:nvSpPr>
          <p:cNvPr id="9" name="Text 7"/>
          <p:cNvSpPr/>
          <p:nvPr/>
        </p:nvSpPr>
        <p:spPr>
          <a:xfrm>
            <a:off x="2971800" y="1609344"/>
            <a:ext cx="1746504" cy="566928"/>
          </a:xfrm>
          <a:prstGeom prst="rect">
            <a:avLst/>
          </a:prstGeom>
          <a:noFill/>
          <a:ln/>
        </p:spPr>
        <p:txBody>
          <a:bodyPr wrap="square" lIns="0" tIns="0" rIns="0" bIns="0" rtlCol="0" anchor="t"/>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Organes (capillaires)</a:t>
            </a:r>
            <a:endParaRPr lang="en-US" sz="1100" dirty="0"/>
          </a:p>
        </p:txBody>
      </p:sp>
      <p:sp>
        <p:nvSpPr>
          <p:cNvPr id="10" name="Text 8"/>
          <p:cNvSpPr/>
          <p:nvPr/>
        </p:nvSpPr>
        <p:spPr>
          <a:xfrm>
            <a:off x="2971800" y="2176272"/>
            <a:ext cx="1746504" cy="1014984"/>
          </a:xfrm>
          <a:prstGeom prst="rect">
            <a:avLst/>
          </a:prstGeom>
          <a:noFill/>
          <a:ln/>
        </p:spPr>
        <p:txBody>
          <a:bodyPr wrap="square" lIns="0" tIns="0" rIns="0" bIns="0" rtlCol="0" anchor="t"/>
          <a:lstStyle/>
          <a:p>
            <a:pPr indent="0" marL="0">
              <a:lnSpc>
                <a:spcPct val="105000"/>
              </a:lnSpc>
              <a:buNone/>
            </a:pPr>
            <a:r>
              <a:rPr lang="en-US" sz="950" dirty="0">
                <a:solidFill>
                  <a:srgbClr val="F0F6FA"/>
                </a:solidFill>
                <a:latin typeface="Calibri" pitchFamily="34" charset="0"/>
                <a:ea typeface="Calibri" pitchFamily="34" charset="-122"/>
                <a:cs typeface="Calibri" pitchFamily="34" charset="-120"/>
              </a:rPr>
              <a:t>Livraison d'O₂, chargement du CO₂</a:t>
            </a:r>
            <a:endParaRPr lang="en-US" sz="950" dirty="0"/>
          </a:p>
        </p:txBody>
      </p:sp>
      <p:sp>
        <p:nvSpPr>
          <p:cNvPr id="11" name="Text 9"/>
          <p:cNvSpPr/>
          <p:nvPr/>
        </p:nvSpPr>
        <p:spPr>
          <a:xfrm>
            <a:off x="4873752" y="217170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5029200" y="1463040"/>
            <a:ext cx="2112264" cy="1874520"/>
          </a:xfrm>
          <a:prstGeom prst="roundRect">
            <a:avLst>
              <a:gd name="adj" fmla="val 3902"/>
            </a:avLst>
          </a:prstGeom>
          <a:solidFill>
            <a:srgbClr val="40566B"/>
          </a:solidFill>
          <a:ln/>
          <a:effectLst>
            <a:outerShdw sx="100000" sy="100000" kx="0" ky="0" algn="bl" rotWithShape="0" blurRad="88900" dist="25400" dir="5400000">
              <a:srgbClr val="0A2942">
                <a:alpha val="16000"/>
              </a:srgbClr>
            </a:outerShdw>
          </a:effectLst>
        </p:spPr>
      </p:sp>
      <p:sp>
        <p:nvSpPr>
          <p:cNvPr id="13" name="Text 11"/>
          <p:cNvSpPr/>
          <p:nvPr/>
        </p:nvSpPr>
        <p:spPr>
          <a:xfrm>
            <a:off x="5212080" y="1609344"/>
            <a:ext cx="1746504" cy="566928"/>
          </a:xfrm>
          <a:prstGeom prst="rect">
            <a:avLst/>
          </a:prstGeom>
          <a:noFill/>
          <a:ln/>
        </p:spPr>
        <p:txBody>
          <a:bodyPr wrap="square" lIns="0" tIns="0" rIns="0" bIns="0" rtlCol="0" anchor="t"/>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Oreillette droite</a:t>
            </a:r>
            <a:endParaRPr lang="en-US" sz="1100" dirty="0"/>
          </a:p>
        </p:txBody>
      </p:sp>
      <p:sp>
        <p:nvSpPr>
          <p:cNvPr id="14" name="Text 12"/>
          <p:cNvSpPr/>
          <p:nvPr/>
        </p:nvSpPr>
        <p:spPr>
          <a:xfrm>
            <a:off x="5212080" y="2176272"/>
            <a:ext cx="1746504" cy="1014984"/>
          </a:xfrm>
          <a:prstGeom prst="rect">
            <a:avLst/>
          </a:prstGeom>
          <a:noFill/>
          <a:ln/>
        </p:spPr>
        <p:txBody>
          <a:bodyPr wrap="square" lIns="0" tIns="0" rIns="0" bIns="0" rtlCol="0" anchor="t"/>
          <a:lstStyle/>
          <a:p>
            <a:pPr indent="0" marL="0">
              <a:lnSpc>
                <a:spcPct val="105000"/>
              </a:lnSpc>
              <a:buNone/>
            </a:pPr>
            <a:r>
              <a:rPr lang="en-US" sz="950" dirty="0">
                <a:solidFill>
                  <a:srgbClr val="F0F6FA"/>
                </a:solidFill>
                <a:latin typeface="Calibri" pitchFamily="34" charset="0"/>
                <a:ea typeface="Calibri" pitchFamily="34" charset="-122"/>
                <a:cs typeface="Calibri" pitchFamily="34" charset="-120"/>
              </a:rPr>
              <a:t>Retour veineux — fin de la GRANDE circulation</a:t>
            </a:r>
            <a:endParaRPr lang="en-US" sz="950" dirty="0"/>
          </a:p>
        </p:txBody>
      </p:sp>
      <p:sp>
        <p:nvSpPr>
          <p:cNvPr id="15" name="Text 13"/>
          <p:cNvSpPr/>
          <p:nvPr/>
        </p:nvSpPr>
        <p:spPr>
          <a:xfrm>
            <a:off x="7114032" y="217170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7269480" y="1463040"/>
            <a:ext cx="2112264" cy="1874520"/>
          </a:xfrm>
          <a:prstGeom prst="roundRect">
            <a:avLst>
              <a:gd name="adj" fmla="val 3902"/>
            </a:avLst>
          </a:prstGeom>
          <a:solidFill>
            <a:srgbClr val="40566B"/>
          </a:solidFill>
          <a:ln/>
          <a:effectLst>
            <a:outerShdw sx="100000" sy="100000" kx="0" ky="0" algn="bl" rotWithShape="0" blurRad="88900" dist="25400" dir="5400000">
              <a:srgbClr val="0A2942">
                <a:alpha val="16000"/>
              </a:srgbClr>
            </a:outerShdw>
          </a:effectLst>
        </p:spPr>
      </p:sp>
      <p:sp>
        <p:nvSpPr>
          <p:cNvPr id="17" name="Text 15"/>
          <p:cNvSpPr/>
          <p:nvPr/>
        </p:nvSpPr>
        <p:spPr>
          <a:xfrm>
            <a:off x="7452360" y="1609344"/>
            <a:ext cx="1746504" cy="566928"/>
          </a:xfrm>
          <a:prstGeom prst="rect">
            <a:avLst/>
          </a:prstGeom>
          <a:noFill/>
          <a:ln/>
        </p:spPr>
        <p:txBody>
          <a:bodyPr wrap="square" lIns="0" tIns="0" rIns="0" bIns="0" rtlCol="0" anchor="t"/>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Poumons (capillaires)</a:t>
            </a:r>
            <a:endParaRPr lang="en-US" sz="1100" dirty="0"/>
          </a:p>
        </p:txBody>
      </p:sp>
      <p:sp>
        <p:nvSpPr>
          <p:cNvPr id="18" name="Text 16"/>
          <p:cNvSpPr/>
          <p:nvPr/>
        </p:nvSpPr>
        <p:spPr>
          <a:xfrm>
            <a:off x="7452360" y="2176272"/>
            <a:ext cx="1746504" cy="1014984"/>
          </a:xfrm>
          <a:prstGeom prst="rect">
            <a:avLst/>
          </a:prstGeom>
          <a:noFill/>
          <a:ln/>
        </p:spPr>
        <p:txBody>
          <a:bodyPr wrap="square" lIns="0" tIns="0" rIns="0" bIns="0" rtlCol="0" anchor="t"/>
          <a:lstStyle/>
          <a:p>
            <a:pPr indent="0" marL="0">
              <a:lnSpc>
                <a:spcPct val="105000"/>
              </a:lnSpc>
              <a:buNone/>
            </a:pPr>
            <a:r>
              <a:rPr lang="en-US" sz="950" dirty="0">
                <a:solidFill>
                  <a:srgbClr val="F0F6FA"/>
                </a:solidFill>
                <a:latin typeface="Calibri" pitchFamily="34" charset="0"/>
                <a:ea typeface="Calibri" pitchFamily="34" charset="-122"/>
                <a:cs typeface="Calibri" pitchFamily="34" charset="-120"/>
              </a:rPr>
              <a:t>Largage du CO₂, recharge en O₂</a:t>
            </a:r>
            <a:endParaRPr lang="en-US" sz="950" dirty="0"/>
          </a:p>
        </p:txBody>
      </p:sp>
      <p:sp>
        <p:nvSpPr>
          <p:cNvPr id="19" name="Text 17"/>
          <p:cNvSpPr/>
          <p:nvPr/>
        </p:nvSpPr>
        <p:spPr>
          <a:xfrm>
            <a:off x="9354312" y="217170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9509760" y="1463040"/>
            <a:ext cx="2112264" cy="1874520"/>
          </a:xfrm>
          <a:prstGeom prst="roundRect">
            <a:avLst>
              <a:gd name="adj" fmla="val 3902"/>
            </a:avLst>
          </a:prstGeom>
          <a:solidFill>
            <a:srgbClr val="0E7CB8"/>
          </a:solidFill>
          <a:ln/>
          <a:effectLst>
            <a:outerShdw sx="100000" sy="100000" kx="0" ky="0" algn="bl" rotWithShape="0" blurRad="88900" dist="25400" dir="5400000">
              <a:srgbClr val="0A2942">
                <a:alpha val="16000"/>
              </a:srgbClr>
            </a:outerShdw>
          </a:effectLst>
        </p:spPr>
      </p:sp>
      <p:sp>
        <p:nvSpPr>
          <p:cNvPr id="21" name="Text 19"/>
          <p:cNvSpPr/>
          <p:nvPr/>
        </p:nvSpPr>
        <p:spPr>
          <a:xfrm>
            <a:off x="9692640" y="1609344"/>
            <a:ext cx="1746504" cy="566928"/>
          </a:xfrm>
          <a:prstGeom prst="rect">
            <a:avLst/>
          </a:prstGeom>
          <a:noFill/>
          <a:ln/>
        </p:spPr>
        <p:txBody>
          <a:bodyPr wrap="square" lIns="0" tIns="0" rIns="0" bIns="0" rtlCol="0" anchor="t"/>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Oreillette gauche</a:t>
            </a:r>
            <a:endParaRPr lang="en-US" sz="1100" dirty="0"/>
          </a:p>
        </p:txBody>
      </p:sp>
      <p:sp>
        <p:nvSpPr>
          <p:cNvPr id="22" name="Text 20"/>
          <p:cNvSpPr/>
          <p:nvPr/>
        </p:nvSpPr>
        <p:spPr>
          <a:xfrm>
            <a:off x="9692640" y="2176272"/>
            <a:ext cx="1746504" cy="1014984"/>
          </a:xfrm>
          <a:prstGeom prst="rect">
            <a:avLst/>
          </a:prstGeom>
          <a:noFill/>
          <a:ln/>
        </p:spPr>
        <p:txBody>
          <a:bodyPr wrap="square" lIns="0" tIns="0" rIns="0" bIns="0" rtlCol="0" anchor="t"/>
          <a:lstStyle/>
          <a:p>
            <a:pPr indent="0" marL="0">
              <a:lnSpc>
                <a:spcPct val="105000"/>
              </a:lnSpc>
              <a:buNone/>
            </a:pPr>
            <a:r>
              <a:rPr lang="en-US" sz="950" dirty="0">
                <a:solidFill>
                  <a:srgbClr val="F0F6FA"/>
                </a:solidFill>
                <a:latin typeface="Calibri" pitchFamily="34" charset="0"/>
                <a:ea typeface="Calibri" pitchFamily="34" charset="-122"/>
                <a:cs typeface="Calibri" pitchFamily="34" charset="-120"/>
              </a:rPr>
              <a:t>Retour par les veines pulmonaires — fin de la PETITE circulation… et ça repart</a:t>
            </a:r>
            <a:endParaRPr lang="en-US" sz="950" dirty="0"/>
          </a:p>
        </p:txBody>
      </p:sp>
      <p:sp>
        <p:nvSpPr>
          <p:cNvPr id="23" name="Shape 21"/>
          <p:cNvSpPr/>
          <p:nvPr/>
        </p:nvSpPr>
        <p:spPr>
          <a:xfrm>
            <a:off x="548640" y="3703320"/>
            <a:ext cx="11073384" cy="1371600"/>
          </a:xfrm>
          <a:prstGeom prst="roundRect">
            <a:avLst>
              <a:gd name="adj" fmla="val 6000"/>
            </a:avLst>
          </a:prstGeom>
          <a:solidFill>
            <a:srgbClr val="FBE9E1"/>
          </a:solidFill>
          <a:ln/>
          <a:effectLst>
            <a:outerShdw sx="100000" sy="100000" kx="0" ky="0" algn="bl" rotWithShape="0" blurRad="88900" dist="25400" dir="5400000">
              <a:srgbClr val="0A2942">
                <a:alpha val="16000"/>
              </a:srgbClr>
            </a:outerShdw>
          </a:effectLst>
        </p:spPr>
      </p:sp>
      <p:sp>
        <p:nvSpPr>
          <p:cNvPr id="24" name="Shape 22"/>
          <p:cNvSpPr/>
          <p:nvPr/>
        </p:nvSpPr>
        <p:spPr>
          <a:xfrm>
            <a:off x="822960" y="3959352"/>
            <a:ext cx="566928" cy="566928"/>
          </a:xfrm>
          <a:prstGeom prst="ellipse">
            <a:avLst/>
          </a:prstGeom>
          <a:solidFill>
            <a:srgbClr val="D9541E"/>
          </a:solidFill>
          <a:ln/>
        </p:spPr>
      </p:sp>
      <p:pic>
        <p:nvPicPr>
          <p:cNvPr id="25" name="Image 0" descr="preencoded.png">    </p:cNvPr>
          <p:cNvPicPr>
            <a:picLocks noChangeAspect="1"/>
          </p:cNvPicPr>
          <p:nvPr/>
        </p:nvPicPr>
        <p:blipFill>
          <a:blip r:embed="rId1"/>
          <a:stretch>
            <a:fillRect/>
          </a:stretch>
        </p:blipFill>
        <p:spPr>
          <a:xfrm>
            <a:off x="970361" y="4106753"/>
            <a:ext cx="272125" cy="272125"/>
          </a:xfrm>
          <a:prstGeom prst="rect">
            <a:avLst/>
          </a:prstGeom>
        </p:spPr>
      </p:pic>
      <p:sp>
        <p:nvSpPr>
          <p:cNvPr id="26" name="Text 23"/>
          <p:cNvSpPr/>
          <p:nvPr/>
        </p:nvSpPr>
        <p:spPr>
          <a:xfrm>
            <a:off x="1600200" y="3886200"/>
            <a:ext cx="9784080" cy="36576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Le piège de vocabulaire (question de jury classique)</a:t>
            </a:r>
            <a:endParaRPr lang="en-US" sz="1400" dirty="0"/>
          </a:p>
        </p:txBody>
      </p:sp>
      <p:sp>
        <p:nvSpPr>
          <p:cNvPr id="27" name="Text 24"/>
          <p:cNvSpPr/>
          <p:nvPr/>
        </p:nvSpPr>
        <p:spPr>
          <a:xfrm>
            <a:off x="1600200" y="4251960"/>
            <a:ext cx="9738360" cy="73152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Dans la petite circulation, c'est L'ARTÈRE pulmonaire qui transporte le sang pauvre en O₂, et LA VEINE pulmonaire qui transporte le sang riche. Une artère n'est pas définie par son contenu, mais par le fait qu'elle SORT du cœur.</a:t>
            </a:r>
            <a:endParaRPr lang="en-US" sz="1200" dirty="0"/>
          </a:p>
        </p:txBody>
      </p:sp>
      <p:sp>
        <p:nvSpPr>
          <p:cNvPr id="28" name="Shape 25"/>
          <p:cNvSpPr/>
          <p:nvPr/>
        </p:nvSpPr>
        <p:spPr>
          <a:xfrm>
            <a:off x="548640" y="5303520"/>
            <a:ext cx="11073384" cy="822960"/>
          </a:xfrm>
          <a:prstGeom prst="roundRect">
            <a:avLst>
              <a:gd name="adj" fmla="val 10000"/>
            </a:avLst>
          </a:prstGeom>
          <a:solidFill>
            <a:srgbClr val="E7F3EC"/>
          </a:solidFill>
          <a:ln/>
          <a:effectLst>
            <a:outerShdw sx="100000" sy="100000" kx="0" ky="0" algn="bl" rotWithShape="0" blurRad="88900" dist="25400" dir="5400000">
              <a:srgbClr val="0A2942">
                <a:alpha val="16000"/>
              </a:srgbClr>
            </a:outerShdw>
          </a:effectLst>
        </p:spPr>
      </p:sp>
      <p:sp>
        <p:nvSpPr>
          <p:cNvPr id="29" name="Text 26"/>
          <p:cNvSpPr/>
          <p:nvPr/>
        </p:nvSpPr>
        <p:spPr>
          <a:xfrm>
            <a:off x="822960" y="5349240"/>
            <a:ext cx="10515600" cy="731520"/>
          </a:xfrm>
          <a:prstGeom prst="rect">
            <a:avLst/>
          </a:prstGeom>
          <a:noFill/>
          <a:ln/>
        </p:spPr>
        <p:txBody>
          <a:bodyPr wrap="square" lIns="0" tIns="0" rIns="0" bIns="0" rtlCol="0" anchor="ctr"/>
          <a:lstStyle/>
          <a:p>
            <a:pPr indent="0" marL="0">
              <a:lnSpc>
                <a:spcPct val="110000"/>
              </a:lnSpc>
              <a:buNone/>
            </a:pPr>
            <a:r>
              <a:rPr lang="en-US" sz="1200" b="1" dirty="0">
                <a:solidFill>
                  <a:srgbClr val="2C8C5A"/>
                </a:solidFill>
                <a:latin typeface="Calibri" pitchFamily="34" charset="0"/>
                <a:ea typeface="Calibri" pitchFamily="34" charset="-122"/>
                <a:cs typeface="Calibri" pitchFamily="34" charset="-120"/>
              </a:rPr>
              <a:t>Transition : </a:t>
            </a:r>
            <a:pPr indent="0" marL="0">
              <a:lnSpc>
                <a:spcPct val="110000"/>
              </a:lnSpc>
              <a:buNone/>
            </a:pPr>
            <a:r>
              <a:rPr lang="en-US" sz="1200" dirty="0">
                <a:solidFill>
                  <a:srgbClr val="1F3347"/>
                </a:solidFill>
                <a:latin typeface="Calibri" pitchFamily="34" charset="0"/>
                <a:ea typeface="Calibri" pitchFamily="34" charset="-122"/>
                <a:cs typeface="Calibri" pitchFamily="34" charset="-120"/>
              </a:rPr>
              <a:t>voilà le fonctionnement normal, en surface, en respirant. La partie 5 montre ce que l'apnée vient bousculer là-dedans — c'est le cœur de notre métier.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réflexe d'immersion : un plan de rationnement automatique</a:t>
            </a:r>
            <a:endParaRPr lang="en-US" sz="2800" dirty="0"/>
          </a:p>
        </p:txBody>
      </p:sp>
      <p:sp>
        <p:nvSpPr>
          <p:cNvPr id="4" name="Shape 2"/>
          <p:cNvSpPr/>
          <p:nvPr/>
        </p:nvSpPr>
        <p:spPr>
          <a:xfrm>
            <a:off x="548640" y="1417320"/>
            <a:ext cx="3246120" cy="4160520"/>
          </a:xfrm>
          <a:prstGeom prst="roundRect">
            <a:avLst>
              <a:gd name="adj" fmla="val 2535"/>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04672" y="1600200"/>
            <a:ext cx="2743200" cy="274320"/>
          </a:xfrm>
          <a:prstGeom prst="rect">
            <a:avLst/>
          </a:prstGeom>
          <a:noFill/>
          <a:ln/>
        </p:spPr>
        <p:txBody>
          <a:bodyPr wrap="square" lIns="0" tIns="0" rIns="0" bIns="0" rtlCol="0" anchor="ctr"/>
          <a:lstStyle/>
          <a:p>
            <a:pPr indent="0" marL="0">
              <a:buNone/>
            </a:pPr>
            <a:r>
              <a:rPr lang="en-US" sz="1100" b="1" spc="200" kern="0" dirty="0">
                <a:solidFill>
                  <a:srgbClr val="065A82"/>
                </a:solidFill>
                <a:latin typeface="Calibri" pitchFamily="34" charset="0"/>
                <a:ea typeface="Calibri" pitchFamily="34" charset="-122"/>
                <a:cs typeface="Calibri" pitchFamily="34" charset="-120"/>
              </a:rPr>
              <a:t>DÉCLENCHEURS</a:t>
            </a:r>
            <a:endParaRPr lang="en-US" sz="1100" dirty="0"/>
          </a:p>
        </p:txBody>
      </p:sp>
      <p:sp>
        <p:nvSpPr>
          <p:cNvPr id="6" name="Shape 4"/>
          <p:cNvSpPr/>
          <p:nvPr/>
        </p:nvSpPr>
        <p:spPr>
          <a:xfrm>
            <a:off x="822960" y="1993392"/>
            <a:ext cx="457200" cy="457200"/>
          </a:xfrm>
          <a:prstGeom prst="ellipse">
            <a:avLst/>
          </a:prstGeom>
          <a:solidFill>
            <a:srgbClr val="1C7293"/>
          </a:solidFill>
          <a:ln/>
        </p:spPr>
      </p:sp>
      <p:pic>
        <p:nvPicPr>
          <p:cNvPr id="7" name="Image 0" descr="preencoded.png">    </p:cNvPr>
          <p:cNvPicPr>
            <a:picLocks noChangeAspect="1"/>
          </p:cNvPicPr>
          <p:nvPr/>
        </p:nvPicPr>
        <p:blipFill>
          <a:blip r:embed="rId1"/>
          <a:stretch>
            <a:fillRect/>
          </a:stretch>
        </p:blipFill>
        <p:spPr>
          <a:xfrm>
            <a:off x="941832" y="2112264"/>
            <a:ext cx="219456" cy="219456"/>
          </a:xfrm>
          <a:prstGeom prst="rect">
            <a:avLst/>
          </a:prstGeom>
        </p:spPr>
      </p:pic>
      <p:sp>
        <p:nvSpPr>
          <p:cNvPr id="8" name="Text 5"/>
          <p:cNvSpPr/>
          <p:nvPr/>
        </p:nvSpPr>
        <p:spPr>
          <a:xfrm>
            <a:off x="1426464" y="1901952"/>
            <a:ext cx="2240280" cy="685800"/>
          </a:xfrm>
          <a:prstGeom prst="rect">
            <a:avLst/>
          </a:prstGeom>
          <a:noFill/>
          <a:ln/>
        </p:spPr>
        <p:txBody>
          <a:bodyPr wrap="square" lIns="0" tIns="0" rIns="0" bIns="0" rtlCol="0" anchor="ctr"/>
          <a:lstStyle/>
          <a:p>
            <a:pPr indent="0" marL="0">
              <a:lnSpc>
                <a:spcPct val="102000"/>
              </a:lnSpc>
              <a:buNone/>
            </a:pPr>
            <a:r>
              <a:rPr lang="en-US" sz="1050" dirty="0">
                <a:solidFill>
                  <a:srgbClr val="1F3347"/>
                </a:solidFill>
                <a:latin typeface="Calibri" pitchFamily="34" charset="0"/>
                <a:ea typeface="Calibri" pitchFamily="34" charset="-122"/>
                <a:cs typeface="Calibri" pitchFamily="34" charset="-120"/>
              </a:rPr>
              <a:t>Immersion du visage (nerf trijumeau : nez, yeux, front)</a:t>
            </a:r>
            <a:endParaRPr lang="en-US" sz="1050" dirty="0"/>
          </a:p>
        </p:txBody>
      </p:sp>
      <p:sp>
        <p:nvSpPr>
          <p:cNvPr id="9" name="Shape 6"/>
          <p:cNvSpPr/>
          <p:nvPr/>
        </p:nvSpPr>
        <p:spPr>
          <a:xfrm>
            <a:off x="822960" y="2889504"/>
            <a:ext cx="457200" cy="457200"/>
          </a:xfrm>
          <a:prstGeom prst="ellipse">
            <a:avLst/>
          </a:prstGeom>
          <a:solidFill>
            <a:srgbClr val="1C7293"/>
          </a:solidFill>
          <a:ln/>
        </p:spPr>
      </p:sp>
      <p:pic>
        <p:nvPicPr>
          <p:cNvPr id="10" name="Image 1" descr="preencoded.png">    </p:cNvPr>
          <p:cNvPicPr>
            <a:picLocks noChangeAspect="1"/>
          </p:cNvPicPr>
          <p:nvPr/>
        </p:nvPicPr>
        <p:blipFill>
          <a:blip r:embed="rId2"/>
          <a:stretch>
            <a:fillRect/>
          </a:stretch>
        </p:blipFill>
        <p:spPr>
          <a:xfrm>
            <a:off x="941832" y="3008376"/>
            <a:ext cx="219456" cy="219456"/>
          </a:xfrm>
          <a:prstGeom prst="rect">
            <a:avLst/>
          </a:prstGeom>
        </p:spPr>
      </p:pic>
      <p:sp>
        <p:nvSpPr>
          <p:cNvPr id="11" name="Text 7"/>
          <p:cNvSpPr/>
          <p:nvPr/>
        </p:nvSpPr>
        <p:spPr>
          <a:xfrm>
            <a:off x="1426464" y="2798064"/>
            <a:ext cx="2240280" cy="685800"/>
          </a:xfrm>
          <a:prstGeom prst="rect">
            <a:avLst/>
          </a:prstGeom>
          <a:noFill/>
          <a:ln/>
        </p:spPr>
        <p:txBody>
          <a:bodyPr wrap="square" lIns="0" tIns="0" rIns="0" bIns="0" rtlCol="0" anchor="ctr"/>
          <a:lstStyle/>
          <a:p>
            <a:pPr indent="0" marL="0">
              <a:lnSpc>
                <a:spcPct val="102000"/>
              </a:lnSpc>
              <a:buNone/>
            </a:pPr>
            <a:r>
              <a:rPr lang="en-US" sz="1050" dirty="0">
                <a:solidFill>
                  <a:srgbClr val="1F3347"/>
                </a:solidFill>
                <a:latin typeface="Calibri" pitchFamily="34" charset="0"/>
                <a:ea typeface="Calibri" pitchFamily="34" charset="-122"/>
                <a:cs typeface="Calibri" pitchFamily="34" charset="-120"/>
              </a:rPr>
              <a:t>Eau froide : réponse amplifiée</a:t>
            </a:r>
            <a:endParaRPr lang="en-US" sz="1050" dirty="0"/>
          </a:p>
        </p:txBody>
      </p:sp>
      <p:sp>
        <p:nvSpPr>
          <p:cNvPr id="12" name="Shape 8"/>
          <p:cNvSpPr/>
          <p:nvPr/>
        </p:nvSpPr>
        <p:spPr>
          <a:xfrm>
            <a:off x="822960" y="3785616"/>
            <a:ext cx="457200" cy="457200"/>
          </a:xfrm>
          <a:prstGeom prst="ellipse">
            <a:avLst/>
          </a:prstGeom>
          <a:solidFill>
            <a:srgbClr val="1C7293"/>
          </a:solidFill>
          <a:ln/>
        </p:spPr>
      </p:sp>
      <p:pic>
        <p:nvPicPr>
          <p:cNvPr id="13" name="Image 2" descr="preencoded.png">    </p:cNvPr>
          <p:cNvPicPr>
            <a:picLocks noChangeAspect="1"/>
          </p:cNvPicPr>
          <p:nvPr/>
        </p:nvPicPr>
        <p:blipFill>
          <a:blip r:embed="rId3"/>
          <a:stretch>
            <a:fillRect/>
          </a:stretch>
        </p:blipFill>
        <p:spPr>
          <a:xfrm>
            <a:off x="941832" y="3904488"/>
            <a:ext cx="219456" cy="219456"/>
          </a:xfrm>
          <a:prstGeom prst="rect">
            <a:avLst/>
          </a:prstGeom>
        </p:spPr>
      </p:pic>
      <p:sp>
        <p:nvSpPr>
          <p:cNvPr id="14" name="Text 9"/>
          <p:cNvSpPr/>
          <p:nvPr/>
        </p:nvSpPr>
        <p:spPr>
          <a:xfrm>
            <a:off x="1426464" y="3694176"/>
            <a:ext cx="2240280" cy="685800"/>
          </a:xfrm>
          <a:prstGeom prst="rect">
            <a:avLst/>
          </a:prstGeom>
          <a:noFill/>
          <a:ln/>
        </p:spPr>
        <p:txBody>
          <a:bodyPr wrap="square" lIns="0" tIns="0" rIns="0" bIns="0" rtlCol="0" anchor="ctr"/>
          <a:lstStyle/>
          <a:p>
            <a:pPr indent="0" marL="0">
              <a:lnSpc>
                <a:spcPct val="102000"/>
              </a:lnSpc>
              <a:buNone/>
            </a:pPr>
            <a:r>
              <a:rPr lang="en-US" sz="1050" dirty="0">
                <a:solidFill>
                  <a:srgbClr val="1F3347"/>
                </a:solidFill>
                <a:latin typeface="Calibri" pitchFamily="34" charset="0"/>
                <a:ea typeface="Calibri" pitchFamily="34" charset="-122"/>
                <a:cs typeface="Calibri" pitchFamily="34" charset="-120"/>
              </a:rPr>
              <a:t>L'apnée elle-même (récepteurs pleuraux à l'étirement)</a:t>
            </a:r>
            <a:endParaRPr lang="en-US" sz="1050" dirty="0"/>
          </a:p>
        </p:txBody>
      </p:sp>
      <p:sp>
        <p:nvSpPr>
          <p:cNvPr id="15" name="Shape 10"/>
          <p:cNvSpPr/>
          <p:nvPr/>
        </p:nvSpPr>
        <p:spPr>
          <a:xfrm>
            <a:off x="822960" y="4681728"/>
            <a:ext cx="457200" cy="457200"/>
          </a:xfrm>
          <a:prstGeom prst="ellipse">
            <a:avLst/>
          </a:prstGeom>
          <a:solidFill>
            <a:srgbClr val="1C7293"/>
          </a:solidFill>
          <a:ln/>
        </p:spPr>
      </p:sp>
      <p:pic>
        <p:nvPicPr>
          <p:cNvPr id="16" name="Image 3" descr="preencoded.png">    </p:cNvPr>
          <p:cNvPicPr>
            <a:picLocks noChangeAspect="1"/>
          </p:cNvPicPr>
          <p:nvPr/>
        </p:nvPicPr>
        <p:blipFill>
          <a:blip r:embed="rId4"/>
          <a:stretch>
            <a:fillRect/>
          </a:stretch>
        </p:blipFill>
        <p:spPr>
          <a:xfrm>
            <a:off x="941832" y="4800600"/>
            <a:ext cx="219456" cy="219456"/>
          </a:xfrm>
          <a:prstGeom prst="rect">
            <a:avLst/>
          </a:prstGeom>
        </p:spPr>
      </p:pic>
      <p:sp>
        <p:nvSpPr>
          <p:cNvPr id="17" name="Text 11"/>
          <p:cNvSpPr/>
          <p:nvPr/>
        </p:nvSpPr>
        <p:spPr>
          <a:xfrm>
            <a:off x="1426464" y="4590288"/>
            <a:ext cx="2240280" cy="685800"/>
          </a:xfrm>
          <a:prstGeom prst="rect">
            <a:avLst/>
          </a:prstGeom>
          <a:noFill/>
          <a:ln/>
        </p:spPr>
        <p:txBody>
          <a:bodyPr wrap="square" lIns="0" tIns="0" rIns="0" bIns="0" rtlCol="0" anchor="ctr"/>
          <a:lstStyle/>
          <a:p>
            <a:pPr indent="0" marL="0">
              <a:lnSpc>
                <a:spcPct val="102000"/>
              </a:lnSpc>
              <a:buNone/>
            </a:pPr>
            <a:r>
              <a:rPr lang="en-US" sz="1050" dirty="0">
                <a:solidFill>
                  <a:srgbClr val="1F3347"/>
                </a:solidFill>
                <a:latin typeface="Calibri" pitchFamily="34" charset="0"/>
                <a:ea typeface="Calibri" pitchFamily="34" charset="-122"/>
                <a:cs typeface="Calibri" pitchFamily="34" charset="-120"/>
              </a:rPr>
              <a:t>La profondeur (pression)</a:t>
            </a:r>
            <a:endParaRPr lang="en-US" sz="1050" dirty="0"/>
          </a:p>
        </p:txBody>
      </p:sp>
      <p:sp>
        <p:nvSpPr>
          <p:cNvPr id="18" name="Shape 12"/>
          <p:cNvSpPr/>
          <p:nvPr/>
        </p:nvSpPr>
        <p:spPr>
          <a:xfrm>
            <a:off x="3840480" y="3474720"/>
            <a:ext cx="411480" cy="0"/>
          </a:xfrm>
          <a:prstGeom prst="line">
            <a:avLst/>
          </a:prstGeom>
          <a:noFill/>
          <a:ln w="31750">
            <a:solidFill>
              <a:srgbClr val="1C7293"/>
            </a:solidFill>
            <a:prstDash val="solid"/>
            <a:tailEnd type="triangle"/>
          </a:ln>
        </p:spPr>
      </p:sp>
      <p:sp>
        <p:nvSpPr>
          <p:cNvPr id="19" name="Shape 13"/>
          <p:cNvSpPr/>
          <p:nvPr/>
        </p:nvSpPr>
        <p:spPr>
          <a:xfrm>
            <a:off x="4297680" y="2651760"/>
            <a:ext cx="1691640" cy="1691640"/>
          </a:xfrm>
          <a:prstGeom prst="ellipse">
            <a:avLst/>
          </a:prstGeom>
          <a:solidFill>
            <a:srgbClr val="065A82"/>
          </a:solidFill>
          <a:ln w="38100">
            <a:solidFill>
              <a:srgbClr val="FFFFFF"/>
            </a:solidFill>
            <a:prstDash val="solid"/>
          </a:ln>
          <a:effectLst>
            <a:outerShdw sx="100000" sy="100000" kx="0" ky="0" algn="bl" rotWithShape="0" blurRad="88900" dist="25400" dir="5400000">
              <a:srgbClr val="0A2942">
                <a:alpha val="16000"/>
              </a:srgbClr>
            </a:outerShdw>
          </a:effectLst>
        </p:spPr>
      </p:sp>
      <p:sp>
        <p:nvSpPr>
          <p:cNvPr id="20" name="Text 14"/>
          <p:cNvSpPr/>
          <p:nvPr/>
        </p:nvSpPr>
        <p:spPr>
          <a:xfrm>
            <a:off x="4297680" y="2651760"/>
            <a:ext cx="1691640" cy="1691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RÉFLEXE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D'IMMERSION</a:t>
            </a:r>
            <a:endParaRPr lang="en-US" sz="1200" dirty="0"/>
          </a:p>
        </p:txBody>
      </p:sp>
      <p:sp>
        <p:nvSpPr>
          <p:cNvPr id="21" name="Text 15"/>
          <p:cNvSpPr/>
          <p:nvPr/>
        </p:nvSpPr>
        <p:spPr>
          <a:xfrm>
            <a:off x="4114800" y="4434840"/>
            <a:ext cx="2057400" cy="457200"/>
          </a:xfrm>
          <a:prstGeom prst="rect">
            <a:avLst/>
          </a:prstGeom>
          <a:noFill/>
          <a:ln/>
        </p:spPr>
        <p:txBody>
          <a:bodyPr wrap="square" lIns="0" tIns="0" rIns="0" bIns="0" rtlCol="0" anchor="ctr"/>
          <a:lstStyle/>
          <a:p>
            <a:pPr algn="ctr" indent="0" marL="0">
              <a:lnSpc>
                <a:spcPct val="100000"/>
              </a:lnSpc>
              <a:buNone/>
            </a:pPr>
            <a:r>
              <a:rPr lang="en-US" sz="900" i="1" dirty="0">
                <a:solidFill>
                  <a:srgbClr val="5B7288"/>
                </a:solidFill>
                <a:latin typeface="Calibri" pitchFamily="34" charset="0"/>
                <a:ea typeface="Calibri" pitchFamily="34" charset="-122"/>
                <a:cs typeface="Calibri" pitchFamily="34" charset="-120"/>
              </a:rPr>
              <a:t>mécanisme nerveux</a:t>
            </a:r>
            <a:endParaRPr lang="en-US" sz="900" dirty="0"/>
          </a:p>
          <a:p>
            <a:pPr algn="ctr" indent="0" marL="0">
              <a:lnSpc>
                <a:spcPct val="100000"/>
              </a:lnSpc>
              <a:buNone/>
            </a:pPr>
            <a:r>
              <a:rPr lang="en-US" sz="900" i="1" dirty="0">
                <a:solidFill>
                  <a:srgbClr val="5B7288"/>
                </a:solidFill>
                <a:latin typeface="Calibri" pitchFamily="34" charset="0"/>
                <a:ea typeface="Calibri" pitchFamily="34" charset="-122"/>
                <a:cs typeface="Calibri" pitchFamily="34" charset="-120"/>
              </a:rPr>
              <a:t>(nerf vague)</a:t>
            </a:r>
            <a:endParaRPr lang="en-US" sz="900" dirty="0"/>
          </a:p>
        </p:txBody>
      </p:sp>
      <p:sp>
        <p:nvSpPr>
          <p:cNvPr id="22" name="Shape 16"/>
          <p:cNvSpPr/>
          <p:nvPr/>
        </p:nvSpPr>
        <p:spPr>
          <a:xfrm>
            <a:off x="6035040" y="3493008"/>
            <a:ext cx="457200" cy="-1618488"/>
          </a:xfrm>
          <a:prstGeom prst="line">
            <a:avLst/>
          </a:prstGeom>
          <a:noFill/>
          <a:ln w="25400">
            <a:solidFill>
              <a:srgbClr val="1C7293"/>
            </a:solidFill>
            <a:prstDash val="solid"/>
          </a:ln>
        </p:spPr>
      </p:sp>
      <p:sp>
        <p:nvSpPr>
          <p:cNvPr id="23" name="Shape 17"/>
          <p:cNvSpPr/>
          <p:nvPr/>
        </p:nvSpPr>
        <p:spPr>
          <a:xfrm>
            <a:off x="6537960" y="1417320"/>
            <a:ext cx="5074920" cy="941832"/>
          </a:xfrm>
          <a:prstGeom prst="roundRect">
            <a:avLst>
              <a:gd name="adj" fmla="val 8738"/>
            </a:avLst>
          </a:prstGeom>
          <a:solidFill>
            <a:srgbClr val="F2F7FB"/>
          </a:solidFill>
          <a:ln/>
          <a:effectLst>
            <a:outerShdw sx="100000" sy="100000" kx="0" ky="0" algn="bl" rotWithShape="0" blurRad="88900" dist="25400" dir="5400000">
              <a:srgbClr val="0A2942">
                <a:alpha val="16000"/>
              </a:srgbClr>
            </a:outerShdw>
          </a:effectLst>
        </p:spPr>
      </p:sp>
      <p:sp>
        <p:nvSpPr>
          <p:cNvPr id="24" name="Shape 18"/>
          <p:cNvSpPr/>
          <p:nvPr/>
        </p:nvSpPr>
        <p:spPr>
          <a:xfrm>
            <a:off x="6720840" y="1627632"/>
            <a:ext cx="475488" cy="475488"/>
          </a:xfrm>
          <a:prstGeom prst="ellipse">
            <a:avLst/>
          </a:prstGeom>
          <a:solidFill>
            <a:srgbClr val="065A82"/>
          </a:solidFill>
          <a:ln/>
        </p:spPr>
      </p:sp>
      <p:pic>
        <p:nvPicPr>
          <p:cNvPr id="25" name="Image 4" descr="preencoded.png">    </p:cNvPr>
          <p:cNvPicPr>
            <a:picLocks noChangeAspect="1"/>
          </p:cNvPicPr>
          <p:nvPr/>
        </p:nvPicPr>
        <p:blipFill>
          <a:blip r:embed="rId5"/>
          <a:stretch>
            <a:fillRect/>
          </a:stretch>
        </p:blipFill>
        <p:spPr>
          <a:xfrm>
            <a:off x="6844467" y="1751259"/>
            <a:ext cx="228234" cy="228234"/>
          </a:xfrm>
          <a:prstGeom prst="rect">
            <a:avLst/>
          </a:prstGeom>
        </p:spPr>
      </p:pic>
      <p:sp>
        <p:nvSpPr>
          <p:cNvPr id="26" name="Text 19"/>
          <p:cNvSpPr/>
          <p:nvPr/>
        </p:nvSpPr>
        <p:spPr>
          <a:xfrm>
            <a:off x="7360920" y="1508760"/>
            <a:ext cx="4160520" cy="347472"/>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1 · Bradycardie</a:t>
            </a:r>
            <a:endParaRPr lang="en-US" sz="1200" dirty="0"/>
          </a:p>
        </p:txBody>
      </p:sp>
      <p:sp>
        <p:nvSpPr>
          <p:cNvPr id="27" name="Text 20"/>
          <p:cNvSpPr/>
          <p:nvPr/>
        </p:nvSpPr>
        <p:spPr>
          <a:xfrm>
            <a:off x="7360920" y="1847088"/>
            <a:ext cx="4160520" cy="475488"/>
          </a:xfrm>
          <a:prstGeom prst="rect">
            <a:avLst/>
          </a:prstGeom>
          <a:noFill/>
          <a:ln/>
        </p:spPr>
        <p:txBody>
          <a:bodyPr wrap="square" lIns="0" tIns="0" rIns="0" bIns="0" rtlCol="0" anchor="t"/>
          <a:lstStyle/>
          <a:p>
            <a:pPr indent="0" marL="0">
              <a:lnSpc>
                <a:spcPct val="102000"/>
              </a:lnSpc>
              <a:buNone/>
            </a:pPr>
            <a:r>
              <a:rPr lang="en-US" sz="1000" dirty="0">
                <a:solidFill>
                  <a:srgbClr val="5B7288"/>
                </a:solidFill>
                <a:latin typeface="Calibri" pitchFamily="34" charset="0"/>
                <a:ea typeface="Calibri" pitchFamily="34" charset="-122"/>
                <a:cs typeface="Calibri" pitchFamily="34" charset="-120"/>
              </a:rPr>
              <a:t>Le cœur ralentit d'environ 30 % — l'O₂ est épargné</a:t>
            </a:r>
            <a:endParaRPr lang="en-US" sz="1000" dirty="0"/>
          </a:p>
        </p:txBody>
      </p:sp>
      <p:sp>
        <p:nvSpPr>
          <p:cNvPr id="28" name="Shape 21"/>
          <p:cNvSpPr/>
          <p:nvPr/>
        </p:nvSpPr>
        <p:spPr>
          <a:xfrm>
            <a:off x="6035040" y="3493008"/>
            <a:ext cx="457200" cy="-548640"/>
          </a:xfrm>
          <a:prstGeom prst="line">
            <a:avLst/>
          </a:prstGeom>
          <a:noFill/>
          <a:ln w="25400">
            <a:solidFill>
              <a:srgbClr val="1C7293"/>
            </a:solidFill>
            <a:prstDash val="solid"/>
          </a:ln>
        </p:spPr>
      </p:sp>
      <p:sp>
        <p:nvSpPr>
          <p:cNvPr id="29" name="Shape 22"/>
          <p:cNvSpPr/>
          <p:nvPr/>
        </p:nvSpPr>
        <p:spPr>
          <a:xfrm>
            <a:off x="6537960" y="2487168"/>
            <a:ext cx="5074920" cy="941832"/>
          </a:xfrm>
          <a:prstGeom prst="roundRect">
            <a:avLst>
              <a:gd name="adj" fmla="val 8738"/>
            </a:avLst>
          </a:prstGeom>
          <a:solidFill>
            <a:srgbClr val="F2F7FB"/>
          </a:solidFill>
          <a:ln/>
          <a:effectLst>
            <a:outerShdw sx="100000" sy="100000" kx="0" ky="0" algn="bl" rotWithShape="0" blurRad="88900" dist="25400" dir="5400000">
              <a:srgbClr val="0A2942">
                <a:alpha val="16000"/>
              </a:srgbClr>
            </a:outerShdw>
          </a:effectLst>
        </p:spPr>
      </p:sp>
      <p:sp>
        <p:nvSpPr>
          <p:cNvPr id="30" name="Shape 23"/>
          <p:cNvSpPr/>
          <p:nvPr/>
        </p:nvSpPr>
        <p:spPr>
          <a:xfrm>
            <a:off x="6720840" y="2697480"/>
            <a:ext cx="475488" cy="475488"/>
          </a:xfrm>
          <a:prstGeom prst="ellipse">
            <a:avLst/>
          </a:prstGeom>
          <a:solidFill>
            <a:srgbClr val="065A82"/>
          </a:solidFill>
          <a:ln/>
        </p:spPr>
      </p:sp>
      <p:pic>
        <p:nvPicPr>
          <p:cNvPr id="31" name="Image 5" descr="preencoded.png">    </p:cNvPr>
          <p:cNvPicPr>
            <a:picLocks noChangeAspect="1"/>
          </p:cNvPicPr>
          <p:nvPr/>
        </p:nvPicPr>
        <p:blipFill>
          <a:blip r:embed="rId6"/>
          <a:stretch>
            <a:fillRect/>
          </a:stretch>
        </p:blipFill>
        <p:spPr>
          <a:xfrm>
            <a:off x="6844467" y="2821107"/>
            <a:ext cx="228234" cy="228234"/>
          </a:xfrm>
          <a:prstGeom prst="rect">
            <a:avLst/>
          </a:prstGeom>
        </p:spPr>
      </p:pic>
      <p:sp>
        <p:nvSpPr>
          <p:cNvPr id="32" name="Text 24"/>
          <p:cNvSpPr/>
          <p:nvPr/>
        </p:nvSpPr>
        <p:spPr>
          <a:xfrm>
            <a:off x="7360920" y="2578608"/>
            <a:ext cx="4160520" cy="347472"/>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2 · Vasoconstriction périphérique</a:t>
            </a:r>
            <a:endParaRPr lang="en-US" sz="1200" dirty="0"/>
          </a:p>
        </p:txBody>
      </p:sp>
      <p:sp>
        <p:nvSpPr>
          <p:cNvPr id="33" name="Text 25"/>
          <p:cNvSpPr/>
          <p:nvPr/>
        </p:nvSpPr>
        <p:spPr>
          <a:xfrm>
            <a:off x="7360920" y="2916936"/>
            <a:ext cx="4160520" cy="475488"/>
          </a:xfrm>
          <a:prstGeom prst="rect">
            <a:avLst/>
          </a:prstGeom>
          <a:noFill/>
          <a:ln/>
        </p:spPr>
        <p:txBody>
          <a:bodyPr wrap="square" lIns="0" tIns="0" rIns="0" bIns="0" rtlCol="0" anchor="t"/>
          <a:lstStyle/>
          <a:p>
            <a:pPr indent="0" marL="0">
              <a:lnSpc>
                <a:spcPct val="102000"/>
              </a:lnSpc>
              <a:buNone/>
            </a:pPr>
            <a:r>
              <a:rPr lang="en-US" sz="1000" dirty="0">
                <a:solidFill>
                  <a:srgbClr val="5B7288"/>
                </a:solidFill>
                <a:latin typeface="Calibri" pitchFamily="34" charset="0"/>
                <a:ea typeface="Calibri" pitchFamily="34" charset="-122"/>
                <a:cs typeface="Calibri" pitchFamily="34" charset="-120"/>
              </a:rPr>
              <a:t>Bras, jambes, peau se ferment : le sang reflue vers thorax et cerveau</a:t>
            </a:r>
            <a:endParaRPr lang="en-US" sz="1000" dirty="0"/>
          </a:p>
        </p:txBody>
      </p:sp>
      <p:sp>
        <p:nvSpPr>
          <p:cNvPr id="34" name="Shape 26"/>
          <p:cNvSpPr/>
          <p:nvPr/>
        </p:nvSpPr>
        <p:spPr>
          <a:xfrm>
            <a:off x="6035040" y="3493008"/>
            <a:ext cx="457200" cy="521208"/>
          </a:xfrm>
          <a:prstGeom prst="line">
            <a:avLst/>
          </a:prstGeom>
          <a:noFill/>
          <a:ln w="25400">
            <a:solidFill>
              <a:srgbClr val="1C7293"/>
            </a:solidFill>
            <a:prstDash val="solid"/>
          </a:ln>
        </p:spPr>
      </p:sp>
      <p:sp>
        <p:nvSpPr>
          <p:cNvPr id="35" name="Shape 27"/>
          <p:cNvSpPr/>
          <p:nvPr/>
        </p:nvSpPr>
        <p:spPr>
          <a:xfrm>
            <a:off x="6537960" y="3557016"/>
            <a:ext cx="5074920" cy="941832"/>
          </a:xfrm>
          <a:prstGeom prst="roundRect">
            <a:avLst>
              <a:gd name="adj" fmla="val 8738"/>
            </a:avLst>
          </a:prstGeom>
          <a:solidFill>
            <a:srgbClr val="F2F7FB"/>
          </a:solidFill>
          <a:ln/>
          <a:effectLst>
            <a:outerShdw sx="100000" sy="100000" kx="0" ky="0" algn="bl" rotWithShape="0" blurRad="88900" dist="25400" dir="5400000">
              <a:srgbClr val="0A2942">
                <a:alpha val="16000"/>
              </a:srgbClr>
            </a:outerShdw>
          </a:effectLst>
        </p:spPr>
      </p:sp>
      <p:sp>
        <p:nvSpPr>
          <p:cNvPr id="36" name="Shape 28"/>
          <p:cNvSpPr/>
          <p:nvPr/>
        </p:nvSpPr>
        <p:spPr>
          <a:xfrm>
            <a:off x="6720840" y="3767328"/>
            <a:ext cx="475488" cy="475488"/>
          </a:xfrm>
          <a:prstGeom prst="ellipse">
            <a:avLst/>
          </a:prstGeom>
          <a:solidFill>
            <a:srgbClr val="065A82"/>
          </a:solidFill>
          <a:ln/>
        </p:spPr>
      </p:sp>
      <p:pic>
        <p:nvPicPr>
          <p:cNvPr id="37" name="Image 6" descr="preencoded.png">    </p:cNvPr>
          <p:cNvPicPr>
            <a:picLocks noChangeAspect="1"/>
          </p:cNvPicPr>
          <p:nvPr/>
        </p:nvPicPr>
        <p:blipFill>
          <a:blip r:embed="rId7"/>
          <a:stretch>
            <a:fillRect/>
          </a:stretch>
        </p:blipFill>
        <p:spPr>
          <a:xfrm>
            <a:off x="6844467" y="3890955"/>
            <a:ext cx="228234" cy="228234"/>
          </a:xfrm>
          <a:prstGeom prst="rect">
            <a:avLst/>
          </a:prstGeom>
        </p:spPr>
      </p:pic>
      <p:sp>
        <p:nvSpPr>
          <p:cNvPr id="38" name="Text 29"/>
          <p:cNvSpPr/>
          <p:nvPr/>
        </p:nvSpPr>
        <p:spPr>
          <a:xfrm>
            <a:off x="7360920" y="3648456"/>
            <a:ext cx="4160520" cy="347472"/>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3 · Baisse du débit cardiaque</a:t>
            </a:r>
            <a:endParaRPr lang="en-US" sz="1200" dirty="0"/>
          </a:p>
        </p:txBody>
      </p:sp>
      <p:sp>
        <p:nvSpPr>
          <p:cNvPr id="39" name="Text 30"/>
          <p:cNvSpPr/>
          <p:nvPr/>
        </p:nvSpPr>
        <p:spPr>
          <a:xfrm>
            <a:off x="7360920" y="3986784"/>
            <a:ext cx="4160520" cy="475488"/>
          </a:xfrm>
          <a:prstGeom prst="rect">
            <a:avLst/>
          </a:prstGeom>
          <a:noFill/>
          <a:ln/>
        </p:spPr>
        <p:txBody>
          <a:bodyPr wrap="square" lIns="0" tIns="0" rIns="0" bIns="0" rtlCol="0" anchor="t"/>
          <a:lstStyle/>
          <a:p>
            <a:pPr indent="0" marL="0">
              <a:lnSpc>
                <a:spcPct val="102000"/>
              </a:lnSpc>
              <a:buNone/>
            </a:pPr>
            <a:r>
              <a:rPr lang="en-US" sz="1000" dirty="0">
                <a:solidFill>
                  <a:srgbClr val="5B7288"/>
                </a:solidFill>
                <a:latin typeface="Calibri" pitchFamily="34" charset="0"/>
                <a:ea typeface="Calibri" pitchFamily="34" charset="-122"/>
                <a:cs typeface="Calibri" pitchFamily="34" charset="-120"/>
              </a:rPr>
              <a:t>Moins de travail de pompe, moins de consommation</a:t>
            </a:r>
            <a:endParaRPr lang="en-US" sz="1000" dirty="0"/>
          </a:p>
        </p:txBody>
      </p:sp>
      <p:sp>
        <p:nvSpPr>
          <p:cNvPr id="40" name="Shape 31"/>
          <p:cNvSpPr/>
          <p:nvPr/>
        </p:nvSpPr>
        <p:spPr>
          <a:xfrm>
            <a:off x="6035040" y="3493008"/>
            <a:ext cx="457200" cy="1591056"/>
          </a:xfrm>
          <a:prstGeom prst="line">
            <a:avLst/>
          </a:prstGeom>
          <a:noFill/>
          <a:ln w="25400">
            <a:solidFill>
              <a:srgbClr val="1C7293"/>
            </a:solidFill>
            <a:prstDash val="solid"/>
          </a:ln>
        </p:spPr>
      </p:sp>
      <p:sp>
        <p:nvSpPr>
          <p:cNvPr id="41" name="Shape 32"/>
          <p:cNvSpPr/>
          <p:nvPr/>
        </p:nvSpPr>
        <p:spPr>
          <a:xfrm>
            <a:off x="6537960" y="4626864"/>
            <a:ext cx="5074920" cy="941832"/>
          </a:xfrm>
          <a:prstGeom prst="roundRect">
            <a:avLst>
              <a:gd name="adj" fmla="val 8738"/>
            </a:avLst>
          </a:prstGeom>
          <a:solidFill>
            <a:srgbClr val="F2F7FB"/>
          </a:solidFill>
          <a:ln/>
          <a:effectLst>
            <a:outerShdw sx="100000" sy="100000" kx="0" ky="0" algn="bl" rotWithShape="0" blurRad="88900" dist="25400" dir="5400000">
              <a:srgbClr val="0A2942">
                <a:alpha val="16000"/>
              </a:srgbClr>
            </a:outerShdw>
          </a:effectLst>
        </p:spPr>
      </p:sp>
      <p:sp>
        <p:nvSpPr>
          <p:cNvPr id="42" name="Shape 33"/>
          <p:cNvSpPr/>
          <p:nvPr/>
        </p:nvSpPr>
        <p:spPr>
          <a:xfrm>
            <a:off x="6720840" y="4837176"/>
            <a:ext cx="475488" cy="475488"/>
          </a:xfrm>
          <a:prstGeom prst="ellipse">
            <a:avLst/>
          </a:prstGeom>
          <a:solidFill>
            <a:srgbClr val="065A82"/>
          </a:solidFill>
          <a:ln/>
        </p:spPr>
      </p:sp>
      <p:pic>
        <p:nvPicPr>
          <p:cNvPr id="43" name="Image 7" descr="preencoded.png">    </p:cNvPr>
          <p:cNvPicPr>
            <a:picLocks noChangeAspect="1"/>
          </p:cNvPicPr>
          <p:nvPr/>
        </p:nvPicPr>
        <p:blipFill>
          <a:blip r:embed="rId8"/>
          <a:stretch>
            <a:fillRect/>
          </a:stretch>
        </p:blipFill>
        <p:spPr>
          <a:xfrm>
            <a:off x="6844467" y="4960803"/>
            <a:ext cx="228234" cy="228234"/>
          </a:xfrm>
          <a:prstGeom prst="rect">
            <a:avLst/>
          </a:prstGeom>
        </p:spPr>
      </p:pic>
      <p:sp>
        <p:nvSpPr>
          <p:cNvPr id="44" name="Text 34"/>
          <p:cNvSpPr/>
          <p:nvPr/>
        </p:nvSpPr>
        <p:spPr>
          <a:xfrm>
            <a:off x="7360920" y="4718304"/>
            <a:ext cx="4160520" cy="347472"/>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4 · Contraction splénique</a:t>
            </a:r>
            <a:endParaRPr lang="en-US" sz="1200" dirty="0"/>
          </a:p>
        </p:txBody>
      </p:sp>
      <p:sp>
        <p:nvSpPr>
          <p:cNvPr id="45" name="Text 35"/>
          <p:cNvSpPr/>
          <p:nvPr/>
        </p:nvSpPr>
        <p:spPr>
          <a:xfrm>
            <a:off x="7360920" y="5056632"/>
            <a:ext cx="4160520" cy="475488"/>
          </a:xfrm>
          <a:prstGeom prst="rect">
            <a:avLst/>
          </a:prstGeom>
          <a:noFill/>
          <a:ln/>
        </p:spPr>
        <p:txBody>
          <a:bodyPr wrap="square" lIns="0" tIns="0" rIns="0" bIns="0" rtlCol="0" anchor="t"/>
          <a:lstStyle/>
          <a:p>
            <a:pPr indent="0" marL="0">
              <a:lnSpc>
                <a:spcPct val="102000"/>
              </a:lnSpc>
              <a:buNone/>
            </a:pPr>
            <a:r>
              <a:rPr lang="en-US" sz="1000" dirty="0">
                <a:solidFill>
                  <a:srgbClr val="5B7288"/>
                </a:solidFill>
                <a:latin typeface="Calibri" pitchFamily="34" charset="0"/>
                <a:ea typeface="Calibri" pitchFamily="34" charset="-122"/>
                <a:cs typeface="Calibri" pitchFamily="34" charset="-120"/>
              </a:rPr>
              <a:t>La rate injecte ses globules rouges de réserve</a:t>
            </a:r>
            <a:endParaRPr lang="en-US" sz="1000" dirty="0"/>
          </a:p>
        </p:txBody>
      </p:sp>
      <p:sp>
        <p:nvSpPr>
          <p:cNvPr id="46" name="Text 36"/>
          <p:cNvSpPr/>
          <p:nvPr/>
        </p:nvSpPr>
        <p:spPr>
          <a:xfrm>
            <a:off x="548640" y="58064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But unique : réserver l'oxygène aux organes qui ne peuvent pas s'en passer — le cerveau et le cœur. Le reste attendra. Connu chez les phoques et dauphins, présent chez l'homme en version atténuée… et entraînable.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bradycardie : le cœur passe en mode économie</a:t>
            </a:r>
            <a:endParaRPr lang="en-US" sz="2800" dirty="0"/>
          </a:p>
        </p:txBody>
      </p:sp>
      <p:sp>
        <p:nvSpPr>
          <p:cNvPr id="4" name="Shape 2"/>
          <p:cNvSpPr/>
          <p:nvPr/>
        </p:nvSpPr>
        <p:spPr>
          <a:xfrm>
            <a:off x="548640" y="1417320"/>
            <a:ext cx="3602736" cy="2286000"/>
          </a:xfrm>
          <a:prstGeom prst="roundRect">
            <a:avLst>
              <a:gd name="adj" fmla="val 3600"/>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54480"/>
            <a:ext cx="3054096" cy="68580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20 s</a:t>
            </a:r>
            <a:endParaRPr lang="en-US" sz="3400" dirty="0"/>
          </a:p>
        </p:txBody>
      </p:sp>
      <p:sp>
        <p:nvSpPr>
          <p:cNvPr id="6" name="Text 4"/>
          <p:cNvSpPr/>
          <p:nvPr/>
        </p:nvSpPr>
        <p:spPr>
          <a:xfrm>
            <a:off x="822960" y="2258568"/>
            <a:ext cx="3054096" cy="347472"/>
          </a:xfrm>
          <a:prstGeom prst="rect">
            <a:avLst/>
          </a:prstGeom>
          <a:noFill/>
          <a:ln/>
        </p:spPr>
        <p:txBody>
          <a:bodyPr wrap="square" lIns="0" tIns="0" rIns="0" bIns="0" rtlCol="0" anchor="ctr"/>
          <a:lstStyle/>
          <a:p>
            <a:pPr indent="0" marL="0">
              <a:buNone/>
            </a:pPr>
            <a:r>
              <a:rPr lang="en-US" sz="1250" b="1" dirty="0">
                <a:solidFill>
                  <a:srgbClr val="1F3347"/>
                </a:solidFill>
                <a:latin typeface="Calibri" pitchFamily="34" charset="0"/>
                <a:ea typeface="Calibri" pitchFamily="34" charset="-122"/>
                <a:cs typeface="Calibri" pitchFamily="34" charset="-120"/>
              </a:rPr>
              <a:t>pour s'installer</a:t>
            </a:r>
            <a:endParaRPr lang="en-US" sz="1250" dirty="0"/>
          </a:p>
        </p:txBody>
      </p:sp>
      <p:sp>
        <p:nvSpPr>
          <p:cNvPr id="7" name="Text 5"/>
          <p:cNvSpPr/>
          <p:nvPr/>
        </p:nvSpPr>
        <p:spPr>
          <a:xfrm>
            <a:off x="822960" y="2624328"/>
            <a:ext cx="3054096" cy="960120"/>
          </a:xfrm>
          <a:prstGeom prst="rect">
            <a:avLst/>
          </a:prstGeom>
          <a:noFill/>
          <a:ln/>
        </p:spPr>
        <p:txBody>
          <a:bodyPr wrap="square" lIns="0" tIns="0" rIns="0" bIns="0" rtlCol="0" anchor="t"/>
          <a:lstStyle/>
          <a:p>
            <a:pPr indent="0" marL="0">
              <a:lnSpc>
                <a:spcPct val="110000"/>
              </a:lnSpc>
              <a:buNone/>
            </a:pPr>
            <a:r>
              <a:rPr lang="en-US" sz="1050" dirty="0">
                <a:solidFill>
                  <a:srgbClr val="5B7288"/>
                </a:solidFill>
                <a:latin typeface="Calibri" pitchFamily="34" charset="0"/>
                <a:ea typeface="Calibri" pitchFamily="34" charset="-122"/>
                <a:cs typeface="Calibri" pitchFamily="34" charset="-120"/>
              </a:rPr>
              <a:t>Débute dès les premières secondes, intensité maximale vers la 20e seconde d'immersion.</a:t>
            </a:r>
            <a:endParaRPr lang="en-US" sz="1050" dirty="0"/>
          </a:p>
        </p:txBody>
      </p:sp>
      <p:sp>
        <p:nvSpPr>
          <p:cNvPr id="8" name="Shape 6"/>
          <p:cNvSpPr/>
          <p:nvPr/>
        </p:nvSpPr>
        <p:spPr>
          <a:xfrm>
            <a:off x="4343400" y="1417320"/>
            <a:ext cx="3602736" cy="2286000"/>
          </a:xfrm>
          <a:prstGeom prst="roundRect">
            <a:avLst>
              <a:gd name="adj" fmla="val 3600"/>
            </a:avLst>
          </a:prstGeom>
          <a:solidFill>
            <a:srgbClr val="F2F7FB"/>
          </a:solidFill>
          <a:ln/>
          <a:effectLst>
            <a:outerShdw sx="100000" sy="100000" kx="0" ky="0" algn="bl" rotWithShape="0" blurRad="88900" dist="25400" dir="5400000">
              <a:srgbClr val="0A2942">
                <a:alpha val="16000"/>
              </a:srgbClr>
            </a:outerShdw>
          </a:effectLst>
        </p:spPr>
      </p:sp>
      <p:sp>
        <p:nvSpPr>
          <p:cNvPr id="9" name="Text 7"/>
          <p:cNvSpPr/>
          <p:nvPr/>
        </p:nvSpPr>
        <p:spPr>
          <a:xfrm>
            <a:off x="4617720" y="1554480"/>
            <a:ext cx="3054096" cy="68580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−30 %</a:t>
            </a:r>
            <a:endParaRPr lang="en-US" sz="3400" dirty="0"/>
          </a:p>
        </p:txBody>
      </p:sp>
      <p:sp>
        <p:nvSpPr>
          <p:cNvPr id="10" name="Text 8"/>
          <p:cNvSpPr/>
          <p:nvPr/>
        </p:nvSpPr>
        <p:spPr>
          <a:xfrm>
            <a:off x="4617720" y="2258568"/>
            <a:ext cx="3054096" cy="347472"/>
          </a:xfrm>
          <a:prstGeom prst="rect">
            <a:avLst/>
          </a:prstGeom>
          <a:noFill/>
          <a:ln/>
        </p:spPr>
        <p:txBody>
          <a:bodyPr wrap="square" lIns="0" tIns="0" rIns="0" bIns="0" rtlCol="0" anchor="ctr"/>
          <a:lstStyle/>
          <a:p>
            <a:pPr indent="0" marL="0">
              <a:buNone/>
            </a:pPr>
            <a:r>
              <a:rPr lang="en-US" sz="1250" b="1" dirty="0">
                <a:solidFill>
                  <a:srgbClr val="1F3347"/>
                </a:solidFill>
                <a:latin typeface="Calibri" pitchFamily="34" charset="0"/>
                <a:ea typeface="Calibri" pitchFamily="34" charset="-122"/>
                <a:cs typeface="Calibri" pitchFamily="34" charset="-120"/>
              </a:rPr>
              <a:t>de fréquence cardiaque</a:t>
            </a:r>
            <a:endParaRPr lang="en-US" sz="1250" dirty="0"/>
          </a:p>
        </p:txBody>
      </p:sp>
      <p:sp>
        <p:nvSpPr>
          <p:cNvPr id="11" name="Text 9"/>
          <p:cNvSpPr/>
          <p:nvPr/>
        </p:nvSpPr>
        <p:spPr>
          <a:xfrm>
            <a:off x="4617720" y="2624328"/>
            <a:ext cx="3054096" cy="960120"/>
          </a:xfrm>
          <a:prstGeom prst="rect">
            <a:avLst/>
          </a:prstGeom>
          <a:noFill/>
          <a:ln/>
        </p:spPr>
        <p:txBody>
          <a:bodyPr wrap="square" lIns="0" tIns="0" rIns="0" bIns="0" rtlCol="0" anchor="t"/>
          <a:lstStyle/>
          <a:p>
            <a:pPr indent="0" marL="0">
              <a:lnSpc>
                <a:spcPct val="110000"/>
              </a:lnSpc>
              <a:buNone/>
            </a:pPr>
            <a:r>
              <a:rPr lang="en-US" sz="1050" dirty="0">
                <a:solidFill>
                  <a:srgbClr val="5B7288"/>
                </a:solidFill>
                <a:latin typeface="Calibri" pitchFamily="34" charset="0"/>
                <a:ea typeface="Calibri" pitchFamily="34" charset="-122"/>
                <a:cs typeface="Calibri" pitchFamily="34" charset="-120"/>
              </a:rPr>
              <a:t>Un cœur à 70 descend vers 50. Chez les sujets très entraînés : plus de 50 % de réduction.</a:t>
            </a:r>
            <a:endParaRPr lang="en-US" sz="1050" dirty="0"/>
          </a:p>
        </p:txBody>
      </p:sp>
      <p:sp>
        <p:nvSpPr>
          <p:cNvPr id="12" name="Shape 10"/>
          <p:cNvSpPr/>
          <p:nvPr/>
        </p:nvSpPr>
        <p:spPr>
          <a:xfrm>
            <a:off x="8138160" y="1417320"/>
            <a:ext cx="3602736" cy="2286000"/>
          </a:xfrm>
          <a:prstGeom prst="roundRect">
            <a:avLst>
              <a:gd name="adj" fmla="val 3600"/>
            </a:avLst>
          </a:prstGeom>
          <a:solidFill>
            <a:srgbClr val="F2F7FB"/>
          </a:solidFill>
          <a:ln/>
          <a:effectLst>
            <a:outerShdw sx="100000" sy="100000" kx="0" ky="0" algn="bl" rotWithShape="0" blurRad="88900" dist="25400" dir="5400000">
              <a:srgbClr val="0A2942">
                <a:alpha val="16000"/>
              </a:srgbClr>
            </a:outerShdw>
          </a:effectLst>
        </p:spPr>
      </p:sp>
      <p:sp>
        <p:nvSpPr>
          <p:cNvPr id="13" name="Text 11"/>
          <p:cNvSpPr/>
          <p:nvPr/>
        </p:nvSpPr>
        <p:spPr>
          <a:xfrm>
            <a:off x="8412480" y="1554480"/>
            <a:ext cx="3054096" cy="68580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0 m</a:t>
            </a:r>
            <a:endParaRPr lang="en-US" sz="3400" dirty="0"/>
          </a:p>
        </p:txBody>
      </p:sp>
      <p:sp>
        <p:nvSpPr>
          <p:cNvPr id="14" name="Text 12"/>
          <p:cNvSpPr/>
          <p:nvPr/>
        </p:nvSpPr>
        <p:spPr>
          <a:xfrm>
            <a:off x="8412480" y="2258568"/>
            <a:ext cx="3054096" cy="347472"/>
          </a:xfrm>
          <a:prstGeom prst="rect">
            <a:avLst/>
          </a:prstGeom>
          <a:noFill/>
          <a:ln/>
        </p:spPr>
        <p:txBody>
          <a:bodyPr wrap="square" lIns="0" tIns="0" rIns="0" bIns="0" rtlCol="0" anchor="ctr"/>
          <a:lstStyle/>
          <a:p>
            <a:pPr indent="0" marL="0">
              <a:buNone/>
            </a:pPr>
            <a:r>
              <a:rPr lang="en-US" sz="1250" b="1" dirty="0">
                <a:solidFill>
                  <a:srgbClr val="1F3347"/>
                </a:solidFill>
                <a:latin typeface="Calibri" pitchFamily="34" charset="0"/>
                <a:ea typeface="Calibri" pitchFamily="34" charset="-122"/>
                <a:cs typeface="Calibri" pitchFamily="34" charset="-120"/>
              </a:rPr>
              <a:t>d'influence de la profondeur</a:t>
            </a:r>
            <a:endParaRPr lang="en-US" sz="1250" dirty="0"/>
          </a:p>
        </p:txBody>
      </p:sp>
      <p:sp>
        <p:nvSpPr>
          <p:cNvPr id="15" name="Text 13"/>
          <p:cNvSpPr/>
          <p:nvPr/>
        </p:nvSpPr>
        <p:spPr>
          <a:xfrm>
            <a:off x="8412480" y="2624328"/>
            <a:ext cx="3054096" cy="960120"/>
          </a:xfrm>
          <a:prstGeom prst="rect">
            <a:avLst/>
          </a:prstGeom>
          <a:noFill/>
          <a:ln/>
        </p:spPr>
        <p:txBody>
          <a:bodyPr wrap="square" lIns="0" tIns="0" rIns="0" bIns="0" rtlCol="0" anchor="t"/>
          <a:lstStyle/>
          <a:p>
            <a:pPr indent="0" marL="0">
              <a:lnSpc>
                <a:spcPct val="110000"/>
              </a:lnSpc>
              <a:buNone/>
            </a:pPr>
            <a:r>
              <a:rPr lang="en-US" sz="1050" dirty="0">
                <a:solidFill>
                  <a:srgbClr val="5B7288"/>
                </a:solidFill>
                <a:latin typeface="Calibri" pitchFamily="34" charset="0"/>
                <a:ea typeface="Calibri" pitchFamily="34" charset="-122"/>
                <a:cs typeface="Calibri" pitchFamily="34" charset="-120"/>
              </a:rPr>
              <a:t>À conditions égales, une plongée à 5 m et une à 30 m donnent à peu près la même bradycardie.</a:t>
            </a:r>
            <a:endParaRPr lang="en-US" sz="1050" dirty="0"/>
          </a:p>
        </p:txBody>
      </p:sp>
      <p:sp>
        <p:nvSpPr>
          <p:cNvPr id="16" name="Shape 14"/>
          <p:cNvSpPr/>
          <p:nvPr/>
        </p:nvSpPr>
        <p:spPr>
          <a:xfrm>
            <a:off x="548640" y="3931920"/>
            <a:ext cx="11073384" cy="2148840"/>
          </a:xfrm>
          <a:prstGeom prst="roundRect">
            <a:avLst>
              <a:gd name="adj" fmla="val 3830"/>
            </a:avLst>
          </a:prstGeom>
          <a:solidFill>
            <a:srgbClr val="E7F3EC"/>
          </a:solidFill>
          <a:ln/>
          <a:effectLst>
            <a:outerShdw sx="100000" sy="100000" kx="0" ky="0" algn="bl" rotWithShape="0" blurRad="88900" dist="25400" dir="5400000">
              <a:srgbClr val="0A2942">
                <a:alpha val="16000"/>
              </a:srgbClr>
            </a:outerShdw>
          </a:effectLst>
        </p:spPr>
      </p:sp>
      <p:sp>
        <p:nvSpPr>
          <p:cNvPr id="17" name="Shape 15"/>
          <p:cNvSpPr/>
          <p:nvPr/>
        </p:nvSpPr>
        <p:spPr>
          <a:xfrm>
            <a:off x="822960" y="4206240"/>
            <a:ext cx="566928" cy="566928"/>
          </a:xfrm>
          <a:prstGeom prst="ellipse">
            <a:avLst/>
          </a:prstGeom>
          <a:solidFill>
            <a:srgbClr val="FFFFFF"/>
          </a:solidFill>
          <a:ln/>
        </p:spPr>
      </p:sp>
      <p:pic>
        <p:nvPicPr>
          <p:cNvPr id="18" name="Image 0" descr="preencoded.png">    </p:cNvPr>
          <p:cNvPicPr>
            <a:picLocks noChangeAspect="1"/>
          </p:cNvPicPr>
          <p:nvPr/>
        </p:nvPicPr>
        <p:blipFill>
          <a:blip r:embed="rId1"/>
          <a:stretch>
            <a:fillRect/>
          </a:stretch>
        </p:blipFill>
        <p:spPr>
          <a:xfrm>
            <a:off x="970361" y="4353641"/>
            <a:ext cx="272125" cy="272125"/>
          </a:xfrm>
          <a:prstGeom prst="rect">
            <a:avLst/>
          </a:prstGeom>
        </p:spPr>
      </p:pic>
      <p:sp>
        <p:nvSpPr>
          <p:cNvPr id="19" name="Text 16"/>
          <p:cNvSpPr/>
          <p:nvPr/>
        </p:nvSpPr>
        <p:spPr>
          <a:xfrm>
            <a:off x="1600200" y="4133088"/>
            <a:ext cx="9784080" cy="365760"/>
          </a:xfrm>
          <a:prstGeom prst="rect">
            <a:avLst/>
          </a:prstGeom>
          <a:noFill/>
          <a:ln/>
        </p:spPr>
        <p:txBody>
          <a:bodyPr wrap="square" lIns="0" tIns="0" rIns="0" bIns="0" rtlCol="0" anchor="ctr"/>
          <a:lstStyle/>
          <a:p>
            <a:pPr indent="0" marL="0">
              <a:buNone/>
            </a:pPr>
            <a:r>
              <a:rPr lang="en-US" sz="1400" b="1" dirty="0">
                <a:solidFill>
                  <a:srgbClr val="2C8C5A"/>
                </a:solidFill>
                <a:latin typeface="Calibri" pitchFamily="34" charset="0"/>
                <a:ea typeface="Calibri" pitchFamily="34" charset="-122"/>
                <a:cs typeface="Calibri" pitchFamily="34" charset="-120"/>
              </a:rPr>
              <a:t>Trois consignes de séance qui en découlent directement</a:t>
            </a:r>
            <a:endParaRPr lang="en-US" sz="1400" dirty="0"/>
          </a:p>
        </p:txBody>
      </p:sp>
      <p:sp>
        <p:nvSpPr>
          <p:cNvPr id="20" name="Text 17"/>
          <p:cNvSpPr/>
          <p:nvPr/>
        </p:nvSpPr>
        <p:spPr>
          <a:xfrm>
            <a:off x="1600200" y="4553712"/>
            <a:ext cx="9692640" cy="1463040"/>
          </a:xfrm>
          <a:prstGeom prst="rect">
            <a:avLst/>
          </a:prstGeom>
          <a:noFill/>
          <a:ln/>
        </p:spPr>
        <p:txBody>
          <a:bodyPr wrap="square" lIns="0" tIns="0" rIns="0" bIns="0" rtlCol="0" anchor="t"/>
          <a:lstStyle/>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L'immersion progressive et la mise en condition ne sont pas un rituel : c'est le temps d'installation du réflexe. Vingt secondes, ça se respecte.</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L'effort violent et le Valsalva forcé cassent le bénéfice (tachycardie) : d'où le palmage souple et la béance tubaire volontaire.</a:t>
            </a:r>
            <a:endParaRPr lang="en-US" sz="1200" dirty="0"/>
          </a:p>
          <a:p>
            <a:pPr marL="127000" indent="-127000">
              <a:spcAft>
                <a:spcPts val="500"/>
              </a:spcAft>
              <a:buSzPct val="100000"/>
              <a:buChar char="•"/>
            </a:pPr>
            <a:r>
              <a:rPr lang="en-US" sz="1200" dirty="0">
                <a:solidFill>
                  <a:srgbClr val="1F3347"/>
                </a:solidFill>
                <a:latin typeface="Calibri" pitchFamily="34" charset="0"/>
                <a:ea typeface="Calibri" pitchFamily="34" charset="-122"/>
                <a:cs typeface="Calibri" pitchFamily="34" charset="-120"/>
              </a:rPr>
              <a:t>À l'émersion, une tachycardie transitoire (pic vers 30 s) est normale et attendue : ne pas affoler un élève qui la ressent.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vasoconstriction : la périphérie se ferme, les lactates arrivent</a:t>
            </a:r>
            <a:endParaRPr lang="en-US" sz="2800" dirty="0"/>
          </a:p>
        </p:txBody>
      </p:sp>
      <p:sp>
        <p:nvSpPr>
          <p:cNvPr id="4" name="Shape 2"/>
          <p:cNvSpPr/>
          <p:nvPr/>
        </p:nvSpPr>
        <p:spPr>
          <a:xfrm>
            <a:off x="548640" y="1463040"/>
            <a:ext cx="2672334" cy="1874520"/>
          </a:xfrm>
          <a:prstGeom prst="roundRect">
            <a:avLst>
              <a:gd name="adj" fmla="val 3902"/>
            </a:avLst>
          </a:prstGeom>
          <a:solidFill>
            <a:srgbClr val="065A82"/>
          </a:solidFill>
          <a:ln/>
          <a:effectLst>
            <a:outerShdw sx="100000" sy="100000" kx="0" ky="0" algn="bl" rotWithShape="0" blurRad="88900" dist="25400" dir="5400000">
              <a:srgbClr val="0A2942">
                <a:alpha val="16000"/>
              </a:srgbClr>
            </a:outerShdw>
          </a:effectLst>
        </p:spPr>
      </p:sp>
      <p:sp>
        <p:nvSpPr>
          <p:cNvPr id="5" name="Text 3"/>
          <p:cNvSpPr/>
          <p:nvPr/>
        </p:nvSpPr>
        <p:spPr>
          <a:xfrm>
            <a:off x="731520" y="160934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Vaisseaux périphériques fermés</a:t>
            </a:r>
            <a:endParaRPr lang="en-US" sz="1150" dirty="0"/>
          </a:p>
        </p:txBody>
      </p:sp>
      <p:sp>
        <p:nvSpPr>
          <p:cNvPr id="6" name="Text 4"/>
          <p:cNvSpPr/>
          <p:nvPr/>
        </p:nvSpPr>
        <p:spPr>
          <a:xfrm>
            <a:off x="731520" y="2176272"/>
            <a:ext cx="2306574" cy="10149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Bras, jambes, peau — grosses artères comprises. Le sang reflue vers le thorax.</a:t>
            </a:r>
            <a:endParaRPr lang="en-US" sz="980" dirty="0"/>
          </a:p>
        </p:txBody>
      </p:sp>
      <p:sp>
        <p:nvSpPr>
          <p:cNvPr id="7" name="Text 5"/>
          <p:cNvSpPr/>
          <p:nvPr/>
        </p:nvSpPr>
        <p:spPr>
          <a:xfrm>
            <a:off x="3193542" y="217170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3348990" y="1463040"/>
            <a:ext cx="2672334" cy="1874520"/>
          </a:xfrm>
          <a:prstGeom prst="roundRect">
            <a:avLst>
              <a:gd name="adj" fmla="val 3902"/>
            </a:avLst>
          </a:prstGeom>
          <a:solidFill>
            <a:srgbClr val="1C7293"/>
          </a:solidFill>
          <a:ln/>
          <a:effectLst>
            <a:outerShdw sx="100000" sy="100000" kx="0" ky="0" algn="bl" rotWithShape="0" blurRad="88900" dist="25400" dir="5400000">
              <a:srgbClr val="0A2942">
                <a:alpha val="16000"/>
              </a:srgbClr>
            </a:outerShdw>
          </a:effectLst>
        </p:spPr>
      </p:sp>
      <p:sp>
        <p:nvSpPr>
          <p:cNvPr id="9" name="Text 7"/>
          <p:cNvSpPr/>
          <p:nvPr/>
        </p:nvSpPr>
        <p:spPr>
          <a:xfrm>
            <a:off x="3531870" y="160934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Muscles privés d'O₂</a:t>
            </a:r>
            <a:endParaRPr lang="en-US" sz="1150" dirty="0"/>
          </a:p>
        </p:txBody>
      </p:sp>
      <p:sp>
        <p:nvSpPr>
          <p:cNvPr id="10" name="Text 8"/>
          <p:cNvSpPr/>
          <p:nvPr/>
        </p:nvSpPr>
        <p:spPr>
          <a:xfrm>
            <a:off x="3531870" y="2176272"/>
            <a:ext cx="2306574" cy="10149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Ils continuent pourtant de travailler… en anaérobiose (sans oxygène).</a:t>
            </a:r>
            <a:endParaRPr lang="en-US" sz="980" dirty="0"/>
          </a:p>
        </p:txBody>
      </p:sp>
      <p:sp>
        <p:nvSpPr>
          <p:cNvPr id="11" name="Text 9"/>
          <p:cNvSpPr/>
          <p:nvPr/>
        </p:nvSpPr>
        <p:spPr>
          <a:xfrm>
            <a:off x="5993892" y="217170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6149340" y="1463040"/>
            <a:ext cx="2672334" cy="1874520"/>
          </a:xfrm>
          <a:prstGeom prst="roundRect">
            <a:avLst>
              <a:gd name="adj" fmla="val 3902"/>
            </a:avLst>
          </a:prstGeom>
          <a:solidFill>
            <a:srgbClr val="C77F0A"/>
          </a:solidFill>
          <a:ln/>
          <a:effectLst>
            <a:outerShdw sx="100000" sy="100000" kx="0" ky="0" algn="bl" rotWithShape="0" blurRad="88900" dist="25400" dir="5400000">
              <a:srgbClr val="0A2942">
                <a:alpha val="16000"/>
              </a:srgbClr>
            </a:outerShdw>
          </a:effectLst>
        </p:spPr>
      </p:sp>
      <p:sp>
        <p:nvSpPr>
          <p:cNvPr id="13" name="Text 11"/>
          <p:cNvSpPr/>
          <p:nvPr/>
        </p:nvSpPr>
        <p:spPr>
          <a:xfrm>
            <a:off x="6332220" y="160934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Production d'acide lactique</a:t>
            </a:r>
            <a:endParaRPr lang="en-US" sz="1150" dirty="0"/>
          </a:p>
        </p:txBody>
      </p:sp>
      <p:sp>
        <p:nvSpPr>
          <p:cNvPr id="14" name="Text 12"/>
          <p:cNvSpPr/>
          <p:nvPr/>
        </p:nvSpPr>
        <p:spPr>
          <a:xfrm>
            <a:off x="6332220" y="2176272"/>
            <a:ext cx="2306574" cy="10149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Jambes lourdes, cuisses qui brûlent, fatigue persistante : de la chimie, pas un manque d'entraînement.</a:t>
            </a:r>
            <a:endParaRPr lang="en-US" sz="980" dirty="0"/>
          </a:p>
        </p:txBody>
      </p:sp>
      <p:sp>
        <p:nvSpPr>
          <p:cNvPr id="15" name="Text 13"/>
          <p:cNvSpPr/>
          <p:nvPr/>
        </p:nvSpPr>
        <p:spPr>
          <a:xfrm>
            <a:off x="8794242" y="217170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949690" y="1463040"/>
            <a:ext cx="2672334" cy="1874520"/>
          </a:xfrm>
          <a:prstGeom prst="roundRect">
            <a:avLst>
              <a:gd name="adj" fmla="val 3902"/>
            </a:avLst>
          </a:prstGeom>
          <a:solidFill>
            <a:srgbClr val="2C8C5A"/>
          </a:solidFill>
          <a:ln/>
          <a:effectLst>
            <a:outerShdw sx="100000" sy="100000" kx="0" ky="0" algn="bl" rotWithShape="0" blurRad="88900" dist="25400" dir="5400000">
              <a:srgbClr val="0A2942">
                <a:alpha val="16000"/>
              </a:srgbClr>
            </a:outerShdw>
          </a:effectLst>
        </p:spPr>
      </p:sp>
      <p:sp>
        <p:nvSpPr>
          <p:cNvPr id="17" name="Text 15"/>
          <p:cNvSpPr/>
          <p:nvPr/>
        </p:nvSpPr>
        <p:spPr>
          <a:xfrm>
            <a:off x="9132570" y="160934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Évacuation : en respirant</a:t>
            </a:r>
            <a:endParaRPr lang="en-US" sz="1150" dirty="0"/>
          </a:p>
        </p:txBody>
      </p:sp>
      <p:sp>
        <p:nvSpPr>
          <p:cNvPr id="18" name="Text 16"/>
          <p:cNvSpPr/>
          <p:nvPr/>
        </p:nvSpPr>
        <p:spPr>
          <a:xfrm>
            <a:off x="9132570" y="2176272"/>
            <a:ext cx="2306574" cy="10149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Les lactates ne s'éliminent qu'à la récupération, en surface, en ventilant.</a:t>
            </a:r>
            <a:endParaRPr lang="en-US" sz="980" dirty="0"/>
          </a:p>
        </p:txBody>
      </p:sp>
      <p:sp>
        <p:nvSpPr>
          <p:cNvPr id="19" name="Shape 17"/>
          <p:cNvSpPr/>
          <p:nvPr/>
        </p:nvSpPr>
        <p:spPr>
          <a:xfrm>
            <a:off x="548640" y="3749040"/>
            <a:ext cx="5440680" cy="2331720"/>
          </a:xfrm>
          <a:prstGeom prst="roundRect">
            <a:avLst>
              <a:gd name="adj" fmla="val 3529"/>
            </a:avLst>
          </a:prstGeom>
          <a:solidFill>
            <a:srgbClr val="DCEBF5"/>
          </a:solidFill>
          <a:ln/>
          <a:effectLst>
            <a:outerShdw sx="100000" sy="100000" kx="0" ky="0" algn="bl" rotWithShape="0" blurRad="88900" dist="25400" dir="5400000">
              <a:srgbClr val="0A2942">
                <a:alpha val="16000"/>
              </a:srgbClr>
            </a:outerShdw>
          </a:effectLst>
        </p:spPr>
      </p:sp>
      <p:sp>
        <p:nvSpPr>
          <p:cNvPr id="20" name="Shape 18"/>
          <p:cNvSpPr/>
          <p:nvPr/>
        </p:nvSpPr>
        <p:spPr>
          <a:xfrm>
            <a:off x="822960" y="4023360"/>
            <a:ext cx="548640" cy="548640"/>
          </a:xfrm>
          <a:prstGeom prst="ellipse">
            <a:avLst/>
          </a:prstGeom>
          <a:solidFill>
            <a:srgbClr val="065A82"/>
          </a:solidFill>
          <a:ln/>
        </p:spPr>
      </p:sp>
      <p:pic>
        <p:nvPicPr>
          <p:cNvPr id="21" name="Image 0" descr="preencoded.png">    </p:cNvPr>
          <p:cNvPicPr>
            <a:picLocks noChangeAspect="1"/>
          </p:cNvPicPr>
          <p:nvPr/>
        </p:nvPicPr>
        <p:blipFill>
          <a:blip r:embed="rId1"/>
          <a:stretch>
            <a:fillRect/>
          </a:stretch>
        </p:blipFill>
        <p:spPr>
          <a:xfrm>
            <a:off x="965606" y="4166006"/>
            <a:ext cx="263347" cy="263347"/>
          </a:xfrm>
          <a:prstGeom prst="rect">
            <a:avLst/>
          </a:prstGeom>
        </p:spPr>
      </p:pic>
      <p:sp>
        <p:nvSpPr>
          <p:cNvPr id="22" name="Text 19"/>
          <p:cNvSpPr/>
          <p:nvPr/>
        </p:nvSpPr>
        <p:spPr>
          <a:xfrm>
            <a:off x="1554480" y="4005072"/>
            <a:ext cx="4297680" cy="54864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L'image du phoque</a:t>
            </a:r>
            <a:endParaRPr lang="en-US" sz="1350" dirty="0"/>
          </a:p>
        </p:txBody>
      </p:sp>
      <p:sp>
        <p:nvSpPr>
          <p:cNvPr id="23" name="Text 20"/>
          <p:cNvSpPr/>
          <p:nvPr/>
        </p:nvSpPr>
        <p:spPr>
          <a:xfrm>
            <a:off x="822960" y="4590288"/>
            <a:ext cx="4892040" cy="137160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Chez le phoque en plongée, la vasoconstriction est si complète que la section d'un membre ne provoque pas d'hémorragie : plus aucun sang n'y circule. Chez l'homme, le mécanisme est le même, en version atténuée.</a:t>
            </a:r>
            <a:endParaRPr lang="en-US" sz="1150" dirty="0"/>
          </a:p>
        </p:txBody>
      </p:sp>
      <p:sp>
        <p:nvSpPr>
          <p:cNvPr id="24" name="Shape 21"/>
          <p:cNvSpPr/>
          <p:nvPr/>
        </p:nvSpPr>
        <p:spPr>
          <a:xfrm>
            <a:off x="6181344" y="3749040"/>
            <a:ext cx="5440680" cy="2331720"/>
          </a:xfrm>
          <a:prstGeom prst="roundRect">
            <a:avLst>
              <a:gd name="adj" fmla="val 3529"/>
            </a:avLst>
          </a:prstGeom>
          <a:solidFill>
            <a:srgbClr val="E7F3EC"/>
          </a:solidFill>
          <a:ln/>
          <a:effectLst>
            <a:outerShdw sx="100000" sy="100000" kx="0" ky="0" algn="bl" rotWithShape="0" blurRad="88900" dist="25400" dir="5400000">
              <a:srgbClr val="0A2942">
                <a:alpha val="16000"/>
              </a:srgbClr>
            </a:outerShdw>
          </a:effectLst>
        </p:spPr>
      </p:sp>
      <p:sp>
        <p:nvSpPr>
          <p:cNvPr id="25" name="Shape 22"/>
          <p:cNvSpPr/>
          <p:nvPr/>
        </p:nvSpPr>
        <p:spPr>
          <a:xfrm>
            <a:off x="6455664" y="4023360"/>
            <a:ext cx="548640" cy="548640"/>
          </a:xfrm>
          <a:prstGeom prst="ellipse">
            <a:avLst/>
          </a:prstGeom>
          <a:solidFill>
            <a:srgbClr val="FFFFFF"/>
          </a:solidFill>
          <a:ln/>
        </p:spPr>
      </p:sp>
      <p:pic>
        <p:nvPicPr>
          <p:cNvPr id="26" name="Image 1" descr="preencoded.png">    </p:cNvPr>
          <p:cNvPicPr>
            <a:picLocks noChangeAspect="1"/>
          </p:cNvPicPr>
          <p:nvPr/>
        </p:nvPicPr>
        <p:blipFill>
          <a:blip r:embed="rId2"/>
          <a:stretch>
            <a:fillRect/>
          </a:stretch>
        </p:blipFill>
        <p:spPr>
          <a:xfrm>
            <a:off x="6598310" y="4166006"/>
            <a:ext cx="263347" cy="263347"/>
          </a:xfrm>
          <a:prstGeom prst="rect">
            <a:avLst/>
          </a:prstGeom>
        </p:spPr>
      </p:pic>
      <p:sp>
        <p:nvSpPr>
          <p:cNvPr id="27" name="Text 23"/>
          <p:cNvSpPr/>
          <p:nvPr/>
        </p:nvSpPr>
        <p:spPr>
          <a:xfrm>
            <a:off x="7187184" y="4005072"/>
            <a:ext cx="4297680" cy="548640"/>
          </a:xfrm>
          <a:prstGeom prst="rect">
            <a:avLst/>
          </a:prstGeom>
          <a:noFill/>
          <a:ln/>
        </p:spPr>
        <p:txBody>
          <a:bodyPr wrap="square" lIns="0" tIns="0" rIns="0" bIns="0" rtlCol="0" anchor="ctr"/>
          <a:lstStyle/>
          <a:p>
            <a:pPr indent="0" marL="0">
              <a:buNone/>
            </a:pPr>
            <a:r>
              <a:rPr lang="en-US" sz="1350" b="1" dirty="0">
                <a:solidFill>
                  <a:srgbClr val="2C8C5A"/>
                </a:solidFill>
                <a:latin typeface="Calibri" pitchFamily="34" charset="0"/>
                <a:ea typeface="Calibri" pitchFamily="34" charset="-122"/>
                <a:cs typeface="Calibri" pitchFamily="34" charset="-120"/>
              </a:rPr>
              <a:t>Ce que ça impose en séance</a:t>
            </a:r>
            <a:endParaRPr lang="en-US" sz="1350" dirty="0"/>
          </a:p>
        </p:txBody>
      </p:sp>
      <p:sp>
        <p:nvSpPr>
          <p:cNvPr id="28" name="Text 24"/>
          <p:cNvSpPr/>
          <p:nvPr/>
        </p:nvSpPr>
        <p:spPr>
          <a:xfrm>
            <a:off x="6455664" y="4572000"/>
            <a:ext cx="4937760" cy="141732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Palmage économe, pas puissant : plus l'effort est intense, plus il entre en conflit avec la vasoconstriction — et plus il produit de lactates.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Des récupérations réelles entre les apnées, qu'on ne grignote pas : un débutant en dette d'O₂ progresse mal et souffre.</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Déclencher le réflexe volontairement : la pédagogie du visage dans l'eau</a:t>
            </a:r>
            <a:endParaRPr lang="en-US" sz="2800" dirty="0"/>
          </a:p>
        </p:txBody>
      </p:sp>
      <p:sp>
        <p:nvSpPr>
          <p:cNvPr id="4" name="Shape 2"/>
          <p:cNvSpPr/>
          <p:nvPr/>
        </p:nvSpPr>
        <p:spPr>
          <a:xfrm>
            <a:off x="548640" y="1417320"/>
            <a:ext cx="11073384" cy="1481328"/>
          </a:xfrm>
          <a:prstGeom prst="roundRect">
            <a:avLst>
              <a:gd name="adj" fmla="val 5556"/>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08760"/>
            <a:ext cx="3108960" cy="1280160"/>
          </a:xfrm>
          <a:prstGeom prst="rect">
            <a:avLst/>
          </a:prstGeom>
          <a:noFill/>
          <a:ln/>
        </p:spPr>
        <p:txBody>
          <a:bodyPr wrap="square" lIns="0" tIns="0" rIns="0" bIns="0" rtlCol="0" anchor="ctr"/>
          <a:lstStyle/>
          <a:p>
            <a:pPr indent="0" marL="0">
              <a:lnSpc>
                <a:spcPct val="105000"/>
              </a:lnSpc>
              <a:buNone/>
            </a:pPr>
            <a:r>
              <a:rPr lang="en-US" sz="1250" b="1" dirty="0">
                <a:solidFill>
                  <a:srgbClr val="065A82"/>
                </a:solidFill>
                <a:latin typeface="Calibri" pitchFamily="34" charset="0"/>
                <a:ea typeface="Calibri" pitchFamily="34" charset="-122"/>
                <a:cs typeface="Calibri" pitchFamily="34" charset="-120"/>
              </a:rPr>
              <a:t>Stimulus nº 1 : l'immersion de la face</a:t>
            </a:r>
            <a:endParaRPr lang="en-US" sz="1250" dirty="0"/>
          </a:p>
        </p:txBody>
      </p:sp>
      <p:sp>
        <p:nvSpPr>
          <p:cNvPr id="6" name="Text 4"/>
          <p:cNvSpPr/>
          <p:nvPr/>
        </p:nvSpPr>
        <p:spPr>
          <a:xfrm>
            <a:off x="4069080" y="1527048"/>
            <a:ext cx="4206240" cy="1280160"/>
          </a:xfrm>
          <a:prstGeom prst="rect">
            <a:avLst/>
          </a:prstGeom>
          <a:noFill/>
          <a:ln/>
        </p:spPr>
        <p:txBody>
          <a:bodyPr wrap="square" lIns="0" tIns="0" rIns="0" bIns="0" rtlCol="0" anchor="ctr"/>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Récepteurs concentrés autour du nez, des yeux et du front (nerf trijumeau). Deux facteurs : la température de l'eau (bradycardie plus marquée en eau fraîche) et le simple contact de l'eau sur la peau.</a:t>
            </a:r>
            <a:endParaRPr lang="en-US" sz="1050" dirty="0"/>
          </a:p>
        </p:txBody>
      </p:sp>
      <p:sp>
        <p:nvSpPr>
          <p:cNvPr id="7" name="Shape 5"/>
          <p:cNvSpPr/>
          <p:nvPr/>
        </p:nvSpPr>
        <p:spPr>
          <a:xfrm>
            <a:off x="8458200" y="1563624"/>
            <a:ext cx="2971800" cy="1188720"/>
          </a:xfrm>
          <a:prstGeom prst="roundRect">
            <a:avLst>
              <a:gd name="adj" fmla="val 5385"/>
            </a:avLst>
          </a:prstGeom>
          <a:solidFill>
            <a:srgbClr val="E7F3EC"/>
          </a:solidFill>
          <a:ln/>
        </p:spPr>
      </p:sp>
      <p:sp>
        <p:nvSpPr>
          <p:cNvPr id="8" name="Text 6"/>
          <p:cNvSpPr/>
          <p:nvPr/>
        </p:nvSpPr>
        <p:spPr>
          <a:xfrm>
            <a:off x="8595360" y="1600200"/>
            <a:ext cx="2697480" cy="1115568"/>
          </a:xfrm>
          <a:prstGeom prst="rect">
            <a:avLst/>
          </a:prstGeom>
          <a:noFill/>
          <a:ln/>
        </p:spPr>
        <p:txBody>
          <a:bodyPr wrap="square" lIns="0" tIns="0" rIns="0" bIns="0" rtlCol="0" anchor="ctr"/>
          <a:lstStyle/>
          <a:p>
            <a:pPr indent="0" marL="0">
              <a:lnSpc>
                <a:spcPct val="105000"/>
              </a:lnSpc>
              <a:buNone/>
            </a:pPr>
            <a:r>
              <a:rPr lang="en-US" sz="980" b="1" dirty="0">
                <a:solidFill>
                  <a:srgbClr val="2C8C5A"/>
                </a:solidFill>
                <a:latin typeface="Calibri" pitchFamily="34" charset="0"/>
                <a:ea typeface="Calibri" pitchFamily="34" charset="-122"/>
                <a:cs typeface="Calibri" pitchFamily="34" charset="-120"/>
              </a:rPr>
              <a:t>→ Pendant la préparation, on met le visage à l'eau : ce n'est pas que du relâchement, c'est un déclencheur physiologique.</a:t>
            </a:r>
            <a:endParaRPr lang="en-US" sz="980" dirty="0"/>
          </a:p>
        </p:txBody>
      </p:sp>
      <p:sp>
        <p:nvSpPr>
          <p:cNvPr id="9" name="Shape 7"/>
          <p:cNvSpPr/>
          <p:nvPr/>
        </p:nvSpPr>
        <p:spPr>
          <a:xfrm>
            <a:off x="548640" y="3044952"/>
            <a:ext cx="11073384" cy="1481328"/>
          </a:xfrm>
          <a:prstGeom prst="roundRect">
            <a:avLst>
              <a:gd name="adj" fmla="val 5556"/>
            </a:avLst>
          </a:prstGeom>
          <a:solidFill>
            <a:srgbClr val="F2F7FB"/>
          </a:solidFill>
          <a:ln/>
          <a:effectLst>
            <a:outerShdw sx="100000" sy="100000" kx="0" ky="0" algn="bl" rotWithShape="0" blurRad="88900" dist="25400" dir="5400000">
              <a:srgbClr val="0A2942">
                <a:alpha val="16000"/>
              </a:srgbClr>
            </a:outerShdw>
          </a:effectLst>
        </p:spPr>
      </p:sp>
      <p:sp>
        <p:nvSpPr>
          <p:cNvPr id="10" name="Text 8"/>
          <p:cNvSpPr/>
          <p:nvPr/>
        </p:nvSpPr>
        <p:spPr>
          <a:xfrm>
            <a:off x="822960" y="3136392"/>
            <a:ext cx="3108960" cy="1280160"/>
          </a:xfrm>
          <a:prstGeom prst="rect">
            <a:avLst/>
          </a:prstGeom>
          <a:noFill/>
          <a:ln/>
        </p:spPr>
        <p:txBody>
          <a:bodyPr wrap="square" lIns="0" tIns="0" rIns="0" bIns="0" rtlCol="0" anchor="ctr"/>
          <a:lstStyle/>
          <a:p>
            <a:pPr indent="0" marL="0">
              <a:lnSpc>
                <a:spcPct val="105000"/>
              </a:lnSpc>
              <a:buNone/>
            </a:pPr>
            <a:r>
              <a:rPr lang="en-US" sz="1250" b="1" dirty="0">
                <a:solidFill>
                  <a:srgbClr val="065A82"/>
                </a:solidFill>
                <a:latin typeface="Calibri" pitchFamily="34" charset="0"/>
                <a:ea typeface="Calibri" pitchFamily="34" charset="-122"/>
                <a:cs typeface="Calibri" pitchFamily="34" charset="-120"/>
              </a:rPr>
              <a:t>Stimulus nº 2 : l'apnée elle-même</a:t>
            </a:r>
            <a:endParaRPr lang="en-US" sz="1250" dirty="0"/>
          </a:p>
        </p:txBody>
      </p:sp>
      <p:sp>
        <p:nvSpPr>
          <p:cNvPr id="11" name="Text 9"/>
          <p:cNvSpPr/>
          <p:nvPr/>
        </p:nvSpPr>
        <p:spPr>
          <a:xfrm>
            <a:off x="4069080" y="3154680"/>
            <a:ext cx="4206240" cy="1280160"/>
          </a:xfrm>
          <a:prstGeom prst="rect">
            <a:avLst/>
          </a:prstGeom>
          <a:noFill/>
          <a:ln/>
        </p:spPr>
        <p:txBody>
          <a:bodyPr wrap="square" lIns="0" tIns="0" rIns="0" bIns="0" rtlCol="0" anchor="ctr"/>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Une simple apnée inspiratoire, même hors de l'eau, provoque déjà une bradycardie — ressentie par des récepteurs à l'étirement situés dans la plèvre. Intensité liée au remplissage pulmonaire et à l'entraînement.</a:t>
            </a:r>
            <a:endParaRPr lang="en-US" sz="1050" dirty="0"/>
          </a:p>
        </p:txBody>
      </p:sp>
      <p:sp>
        <p:nvSpPr>
          <p:cNvPr id="12" name="Shape 10"/>
          <p:cNvSpPr/>
          <p:nvPr/>
        </p:nvSpPr>
        <p:spPr>
          <a:xfrm>
            <a:off x="8458200" y="3191256"/>
            <a:ext cx="2971800" cy="1188720"/>
          </a:xfrm>
          <a:prstGeom prst="roundRect">
            <a:avLst>
              <a:gd name="adj" fmla="val 5385"/>
            </a:avLst>
          </a:prstGeom>
          <a:solidFill>
            <a:srgbClr val="E7F3EC"/>
          </a:solidFill>
          <a:ln/>
        </p:spPr>
      </p:sp>
      <p:sp>
        <p:nvSpPr>
          <p:cNvPr id="13" name="Text 11"/>
          <p:cNvSpPr/>
          <p:nvPr/>
        </p:nvSpPr>
        <p:spPr>
          <a:xfrm>
            <a:off x="8595360" y="3227832"/>
            <a:ext cx="2697480" cy="1115568"/>
          </a:xfrm>
          <a:prstGeom prst="rect">
            <a:avLst/>
          </a:prstGeom>
          <a:noFill/>
          <a:ln/>
        </p:spPr>
        <p:txBody>
          <a:bodyPr wrap="square" lIns="0" tIns="0" rIns="0" bIns="0" rtlCol="0" anchor="ctr"/>
          <a:lstStyle/>
          <a:p>
            <a:pPr indent="0" marL="0">
              <a:lnSpc>
                <a:spcPct val="105000"/>
              </a:lnSpc>
              <a:buNone/>
            </a:pPr>
            <a:r>
              <a:rPr lang="en-US" sz="980" b="1" dirty="0">
                <a:solidFill>
                  <a:srgbClr val="2C8C5A"/>
                </a:solidFill>
                <a:latin typeface="Calibri" pitchFamily="34" charset="0"/>
                <a:ea typeface="Calibri" pitchFamily="34" charset="-122"/>
                <a:cs typeface="Calibri" pitchFamily="34" charset="-120"/>
              </a:rPr>
              <a:t>→ Les statiques face immergée sont plus efficaces que les apnées sèches.</a:t>
            </a:r>
            <a:endParaRPr lang="en-US" sz="980" dirty="0"/>
          </a:p>
        </p:txBody>
      </p:sp>
      <p:sp>
        <p:nvSpPr>
          <p:cNvPr id="14" name="Shape 12"/>
          <p:cNvSpPr/>
          <p:nvPr/>
        </p:nvSpPr>
        <p:spPr>
          <a:xfrm>
            <a:off x="548640" y="4672584"/>
            <a:ext cx="11073384" cy="1481328"/>
          </a:xfrm>
          <a:prstGeom prst="roundRect">
            <a:avLst>
              <a:gd name="adj" fmla="val 5556"/>
            </a:avLst>
          </a:prstGeom>
          <a:solidFill>
            <a:srgbClr val="F2F7FB"/>
          </a:solidFill>
          <a:ln/>
          <a:effectLst>
            <a:outerShdw sx="100000" sy="100000" kx="0" ky="0" algn="bl" rotWithShape="0" blurRad="88900" dist="25400" dir="5400000">
              <a:srgbClr val="0A2942">
                <a:alpha val="16000"/>
              </a:srgbClr>
            </a:outerShdw>
          </a:effectLst>
        </p:spPr>
      </p:sp>
      <p:sp>
        <p:nvSpPr>
          <p:cNvPr id="15" name="Text 13"/>
          <p:cNvSpPr/>
          <p:nvPr/>
        </p:nvSpPr>
        <p:spPr>
          <a:xfrm>
            <a:off x="822960" y="4764024"/>
            <a:ext cx="3108960" cy="1280160"/>
          </a:xfrm>
          <a:prstGeom prst="rect">
            <a:avLst/>
          </a:prstGeom>
          <a:noFill/>
          <a:ln/>
        </p:spPr>
        <p:txBody>
          <a:bodyPr wrap="square" lIns="0" tIns="0" rIns="0" bIns="0" rtlCol="0" anchor="ctr"/>
          <a:lstStyle/>
          <a:p>
            <a:pPr indent="0" marL="0">
              <a:lnSpc>
                <a:spcPct val="105000"/>
              </a:lnSpc>
              <a:buNone/>
            </a:pPr>
            <a:r>
              <a:rPr lang="en-US" sz="1250" b="1" dirty="0">
                <a:solidFill>
                  <a:srgbClr val="065A82"/>
                </a:solidFill>
                <a:latin typeface="Calibri" pitchFamily="34" charset="0"/>
                <a:ea typeface="Calibri" pitchFamily="34" charset="-122"/>
                <a:cs typeface="Calibri" pitchFamily="34" charset="-120"/>
              </a:rPr>
              <a:t>Le casseur de réflexe : le Valsalva</a:t>
            </a:r>
            <a:endParaRPr lang="en-US" sz="1250" dirty="0"/>
          </a:p>
        </p:txBody>
      </p:sp>
      <p:sp>
        <p:nvSpPr>
          <p:cNvPr id="16" name="Text 14"/>
          <p:cNvSpPr/>
          <p:nvPr/>
        </p:nvSpPr>
        <p:spPr>
          <a:xfrm>
            <a:off x="4069080" y="4782312"/>
            <a:ext cx="4206240" cy="1280160"/>
          </a:xfrm>
          <a:prstGeom prst="rect">
            <a:avLst/>
          </a:prstGeom>
          <a:noFill/>
          <a:ln/>
        </p:spPr>
        <p:txBody>
          <a:bodyPr wrap="square" lIns="0" tIns="0" rIns="0" bIns="0" rtlCol="0" anchor="ctr"/>
          <a:lstStyle/>
          <a:p>
            <a:pPr indent="0" marL="0">
              <a:lnSpc>
                <a:spcPct val="108000"/>
              </a:lnSpc>
              <a:buNone/>
            </a:pPr>
            <a:r>
              <a:rPr lang="en-US" sz="1050" dirty="0">
                <a:solidFill>
                  <a:srgbClr val="1F3347"/>
                </a:solidFill>
                <a:latin typeface="Calibri" pitchFamily="34" charset="0"/>
                <a:ea typeface="Calibri" pitchFamily="34" charset="-122"/>
                <a:cs typeface="Calibri" pitchFamily="34" charset="-120"/>
              </a:rPr>
              <a:t>Un Valsalva forcé remplace la bradycardie par une tachycardie — il coûte un effort ET annule le bénéfice cardiaque.</a:t>
            </a:r>
            <a:endParaRPr lang="en-US" sz="1050" dirty="0"/>
          </a:p>
        </p:txBody>
      </p:sp>
      <p:sp>
        <p:nvSpPr>
          <p:cNvPr id="17" name="Shape 15"/>
          <p:cNvSpPr/>
          <p:nvPr/>
        </p:nvSpPr>
        <p:spPr>
          <a:xfrm>
            <a:off x="8458200" y="4818888"/>
            <a:ext cx="2971800" cy="1188720"/>
          </a:xfrm>
          <a:prstGeom prst="roundRect">
            <a:avLst>
              <a:gd name="adj" fmla="val 5385"/>
            </a:avLst>
          </a:prstGeom>
          <a:solidFill>
            <a:srgbClr val="E7F3EC"/>
          </a:solidFill>
          <a:ln/>
        </p:spPr>
      </p:sp>
      <p:sp>
        <p:nvSpPr>
          <p:cNvPr id="18" name="Text 16"/>
          <p:cNvSpPr/>
          <p:nvPr/>
        </p:nvSpPr>
        <p:spPr>
          <a:xfrm>
            <a:off x="8595360" y="4855464"/>
            <a:ext cx="2697480" cy="1115568"/>
          </a:xfrm>
          <a:prstGeom prst="rect">
            <a:avLst/>
          </a:prstGeom>
          <a:noFill/>
          <a:ln/>
        </p:spPr>
        <p:txBody>
          <a:bodyPr wrap="square" lIns="0" tIns="0" rIns="0" bIns="0" rtlCol="0" anchor="ctr"/>
          <a:lstStyle/>
          <a:p>
            <a:pPr indent="0" marL="0">
              <a:lnSpc>
                <a:spcPct val="105000"/>
              </a:lnSpc>
              <a:buNone/>
            </a:pPr>
            <a:r>
              <a:rPr lang="en-US" sz="980" b="1" dirty="0">
                <a:solidFill>
                  <a:srgbClr val="2C8C5A"/>
                </a:solidFill>
                <a:latin typeface="Calibri" pitchFamily="34" charset="0"/>
                <a:ea typeface="Calibri" pitchFamily="34" charset="-122"/>
                <a:cs typeface="Calibri" pitchFamily="34" charset="-120"/>
              </a:rPr>
              <a:t>→ Argument de plus pour enseigner la BTV et la compensation douce.</a:t>
            </a:r>
            <a:endParaRPr lang="en-US" sz="9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contraction splénique : le turbo caché de la rate</a:t>
            </a:r>
            <a:endParaRPr lang="en-US" sz="2800" dirty="0"/>
          </a:p>
        </p:txBody>
      </p:sp>
      <p:sp>
        <p:nvSpPr>
          <p:cNvPr id="4" name="Shape 2"/>
          <p:cNvSpPr/>
          <p:nvPr/>
        </p:nvSpPr>
        <p:spPr>
          <a:xfrm>
            <a:off x="548640" y="1417320"/>
            <a:ext cx="5943600" cy="2834640"/>
          </a:xfrm>
          <a:prstGeom prst="roundRect">
            <a:avLst>
              <a:gd name="adj" fmla="val 2903"/>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673352"/>
            <a:ext cx="548640" cy="54864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965606" y="1815998"/>
            <a:ext cx="263347" cy="263347"/>
          </a:xfrm>
          <a:prstGeom prst="rect">
            <a:avLst/>
          </a:prstGeom>
        </p:spPr>
      </p:pic>
      <p:sp>
        <p:nvSpPr>
          <p:cNvPr id="7" name="Text 4"/>
          <p:cNvSpPr/>
          <p:nvPr/>
        </p:nvSpPr>
        <p:spPr>
          <a:xfrm>
            <a:off x="1600200" y="1673352"/>
            <a:ext cx="4663440" cy="548640"/>
          </a:xfrm>
          <a:prstGeom prst="rect">
            <a:avLst/>
          </a:prstGeom>
          <a:noFill/>
          <a:ln/>
        </p:spPr>
        <p:txBody>
          <a:bodyPr wrap="square" lIns="0" tIns="0" rIns="0" bIns="0" rtlCol="0" anchor="ctr"/>
          <a:lstStyle/>
          <a:p>
            <a:pPr indent="0" marL="0">
              <a:buNone/>
            </a:pPr>
            <a:r>
              <a:rPr lang="en-US" sz="1450" b="1" dirty="0">
                <a:solidFill>
                  <a:srgbClr val="1F3347"/>
                </a:solidFill>
                <a:latin typeface="Calibri" pitchFamily="34" charset="0"/>
                <a:ea typeface="Calibri" pitchFamily="34" charset="-122"/>
                <a:cs typeface="Calibri" pitchFamily="34" charset="-120"/>
              </a:rPr>
              <a:t>Un réservoir de globules rouges</a:t>
            </a:r>
            <a:endParaRPr lang="en-US" sz="1450" dirty="0"/>
          </a:p>
        </p:txBody>
      </p:sp>
      <p:sp>
        <p:nvSpPr>
          <p:cNvPr id="8" name="Text 5"/>
          <p:cNvSpPr/>
          <p:nvPr/>
        </p:nvSpPr>
        <p:spPr>
          <a:xfrm>
            <a:off x="868680" y="2286000"/>
            <a:ext cx="5394960" cy="187452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Chez le fœtus, la rate fabrique les globules rouges ; après la naissance, elle en garde un stock compressible, très concentré</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En apnée, elle se contracte et réinjecte ce sang dans la circulation veineuse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Hématocrite : ≈ +6 % (jusqu'à +10 % mesurés au niveau du cœur) → durée d'apnée allongée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Démontré en comparant sujets normaux et splénectomisés</a:t>
            </a:r>
            <a:endParaRPr lang="en-US" sz="1150" dirty="0"/>
          </a:p>
        </p:txBody>
      </p:sp>
      <p:sp>
        <p:nvSpPr>
          <p:cNvPr id="9" name="Shape 6"/>
          <p:cNvSpPr/>
          <p:nvPr/>
        </p:nvSpPr>
        <p:spPr>
          <a:xfrm>
            <a:off x="6675120" y="1417320"/>
            <a:ext cx="4946904" cy="2834640"/>
          </a:xfrm>
          <a:prstGeom prst="roundRect">
            <a:avLst>
              <a:gd name="adj" fmla="val 2903"/>
            </a:avLst>
          </a:prstGeom>
          <a:solidFill>
            <a:srgbClr val="DCEBF5"/>
          </a:solidFill>
          <a:ln/>
          <a:effectLst>
            <a:outerShdw sx="100000" sy="100000" kx="0" ky="0" algn="bl" rotWithShape="0" blurRad="88900" dist="25400" dir="5400000">
              <a:srgbClr val="0A2942">
                <a:alpha val="16000"/>
              </a:srgbClr>
            </a:outerShdw>
          </a:effectLst>
        </p:spPr>
      </p:sp>
      <p:sp>
        <p:nvSpPr>
          <p:cNvPr id="10" name="Text 7"/>
          <p:cNvSpPr/>
          <p:nvPr/>
        </p:nvSpPr>
        <p:spPr>
          <a:xfrm>
            <a:off x="6949440" y="1645920"/>
            <a:ext cx="4389120" cy="822960"/>
          </a:xfrm>
          <a:prstGeom prst="rect">
            <a:avLst/>
          </a:prstGeom>
          <a:noFill/>
          <a:ln/>
        </p:spPr>
        <p:txBody>
          <a:bodyPr wrap="square" lIns="0" tIns="0" rIns="0" bIns="0" rtlCol="0" anchor="ctr"/>
          <a:lstStyle/>
          <a:p>
            <a:pPr indent="0" marL="0">
              <a:buNone/>
            </a:pPr>
            <a:r>
              <a:rPr lang="en-US" sz="4400" b="1" dirty="0">
                <a:solidFill>
                  <a:srgbClr val="065A82"/>
                </a:solidFill>
                <a:latin typeface="Cambria" pitchFamily="34" charset="0"/>
                <a:ea typeface="Cambria" pitchFamily="34" charset="-122"/>
                <a:cs typeface="Cambria" pitchFamily="34" charset="-120"/>
              </a:rPr>
              <a:t>≈ 60 min</a:t>
            </a:r>
            <a:endParaRPr lang="en-US" sz="4400" dirty="0"/>
          </a:p>
        </p:txBody>
      </p:sp>
      <p:sp>
        <p:nvSpPr>
          <p:cNvPr id="11" name="Text 8"/>
          <p:cNvSpPr/>
          <p:nvPr/>
        </p:nvSpPr>
        <p:spPr>
          <a:xfrm>
            <a:off x="6949440" y="2514600"/>
            <a:ext cx="4389120" cy="365760"/>
          </a:xfrm>
          <a:prstGeom prst="rect">
            <a:avLst/>
          </a:prstGeom>
          <a:noFill/>
          <a:ln/>
        </p:spPr>
        <p:txBody>
          <a:bodyPr wrap="square" lIns="0" tIns="0" rIns="0" bIns="0" rtlCol="0" anchor="ctr"/>
          <a:lstStyle/>
          <a:p>
            <a:pPr indent="0" marL="0">
              <a:buNone/>
            </a:pPr>
            <a:r>
              <a:rPr lang="en-US" sz="1250" b="1" dirty="0">
                <a:solidFill>
                  <a:srgbClr val="1F3347"/>
                </a:solidFill>
                <a:latin typeface="Calibri" pitchFamily="34" charset="0"/>
                <a:ea typeface="Calibri" pitchFamily="34" charset="-122"/>
                <a:cs typeface="Calibri" pitchFamily="34" charset="-120"/>
              </a:rPr>
              <a:t>de persistance de l'effet après l'apnée</a:t>
            </a:r>
            <a:endParaRPr lang="en-US" sz="1250" dirty="0"/>
          </a:p>
        </p:txBody>
      </p:sp>
      <p:sp>
        <p:nvSpPr>
          <p:cNvPr id="12" name="Text 9"/>
          <p:cNvSpPr/>
          <p:nvPr/>
        </p:nvSpPr>
        <p:spPr>
          <a:xfrm>
            <a:off x="6949440" y="2926080"/>
            <a:ext cx="4389120" cy="1188720"/>
          </a:xfrm>
          <a:prstGeom prst="rect">
            <a:avLst/>
          </a:prstGeom>
          <a:noFill/>
          <a:ln/>
        </p:spPr>
        <p:txBody>
          <a:bodyPr wrap="square" lIns="0" tIns="0" rIns="0" bIns="0" rtlCol="0" anchor="t"/>
          <a:lstStyle/>
          <a:p>
            <a:pPr indent="0" marL="0">
              <a:lnSpc>
                <a:spcPct val="112000"/>
              </a:lnSpc>
              <a:buNone/>
            </a:pPr>
            <a:r>
              <a:rPr lang="en-US" sz="1100" dirty="0">
                <a:solidFill>
                  <a:srgbClr val="5B7288"/>
                </a:solidFill>
                <a:latin typeface="Calibri" pitchFamily="34" charset="0"/>
                <a:ea typeface="Calibri" pitchFamily="34" charset="-122"/>
                <a:cs typeface="Calibri" pitchFamily="34" charset="-120"/>
              </a:rPr>
              <a:t>Un apnéiste est physiologiquement mieux disposé après quelques apnées qu'à la première : le réflexe est installé, la rate a livré sa réserve — et l'effet dure une heure.</a:t>
            </a:r>
            <a:endParaRPr lang="en-US" sz="1100" dirty="0"/>
          </a:p>
        </p:txBody>
      </p:sp>
      <p:sp>
        <p:nvSpPr>
          <p:cNvPr id="13" name="Shape 10"/>
          <p:cNvSpPr/>
          <p:nvPr/>
        </p:nvSpPr>
        <p:spPr>
          <a:xfrm>
            <a:off x="548640" y="4526280"/>
            <a:ext cx="11073384" cy="1554480"/>
          </a:xfrm>
          <a:prstGeom prst="roundRect">
            <a:avLst>
              <a:gd name="adj" fmla="val 5294"/>
            </a:avLst>
          </a:prstGeom>
          <a:solidFill>
            <a:srgbClr val="E7F3EC"/>
          </a:solidFill>
          <a:ln/>
          <a:effectLst>
            <a:outerShdw sx="100000" sy="100000" kx="0" ky="0" algn="bl" rotWithShape="0" blurRad="88900" dist="25400" dir="5400000">
              <a:srgbClr val="0A2942">
                <a:alpha val="16000"/>
              </a:srgbClr>
            </a:outerShdw>
          </a:effectLst>
        </p:spPr>
      </p:sp>
      <p:sp>
        <p:nvSpPr>
          <p:cNvPr id="14" name="Shape 11"/>
          <p:cNvSpPr/>
          <p:nvPr/>
        </p:nvSpPr>
        <p:spPr>
          <a:xfrm>
            <a:off x="822960" y="4800600"/>
            <a:ext cx="566928" cy="566928"/>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970361" y="4948001"/>
            <a:ext cx="272125" cy="272125"/>
          </a:xfrm>
          <a:prstGeom prst="rect">
            <a:avLst/>
          </a:prstGeom>
        </p:spPr>
      </p:pic>
      <p:sp>
        <p:nvSpPr>
          <p:cNvPr id="16" name="Text 12"/>
          <p:cNvSpPr/>
          <p:nvPr/>
        </p:nvSpPr>
        <p:spPr>
          <a:xfrm>
            <a:off x="1600200" y="4709160"/>
            <a:ext cx="9784080" cy="365760"/>
          </a:xfrm>
          <a:prstGeom prst="rect">
            <a:avLst/>
          </a:prstGeom>
          <a:noFill/>
          <a:ln/>
        </p:spPr>
        <p:txBody>
          <a:bodyPr wrap="square" lIns="0" tIns="0" rIns="0" bIns="0" rtlCol="0" anchor="ctr"/>
          <a:lstStyle/>
          <a:p>
            <a:pPr indent="0" marL="0">
              <a:buNone/>
            </a:pPr>
            <a:r>
              <a:rPr lang="en-US" sz="1400" b="1" dirty="0">
                <a:solidFill>
                  <a:srgbClr val="2C8C5A"/>
                </a:solidFill>
                <a:latin typeface="Calibri" pitchFamily="34" charset="0"/>
                <a:ea typeface="Calibri" pitchFamily="34" charset="-122"/>
                <a:cs typeface="Calibri" pitchFamily="34" charset="-120"/>
              </a:rPr>
              <a:t>Les deux conséquences pratiques</a:t>
            </a:r>
            <a:endParaRPr lang="en-US" sz="1400" dirty="0"/>
          </a:p>
        </p:txBody>
      </p:sp>
      <p:sp>
        <p:nvSpPr>
          <p:cNvPr id="17" name="Text 13"/>
          <p:cNvSpPr/>
          <p:nvPr/>
        </p:nvSpPr>
        <p:spPr>
          <a:xfrm>
            <a:off x="1600200" y="5093208"/>
            <a:ext cx="9692640" cy="868680"/>
          </a:xfrm>
          <a:prstGeom prst="rect">
            <a:avLst/>
          </a:prstGeom>
          <a:noFill/>
          <a:ln/>
        </p:spPr>
        <p:txBody>
          <a:bodyPr wrap="square" lIns="0" tIns="0" rIns="0" bIns="0" rtlCol="0" anchor="t"/>
          <a:lstStyle/>
          <a:p>
            <a:pPr indent="0" marL="0">
              <a:lnSpc>
                <a:spcPct val="115000"/>
              </a:lnSpc>
              <a:buNone/>
            </a:pPr>
            <a:r>
              <a:rPr lang="en-US" sz="1250" b="1" dirty="0">
                <a:solidFill>
                  <a:srgbClr val="1F3347"/>
                </a:solidFill>
                <a:latin typeface="Calibri" pitchFamily="34" charset="0"/>
                <a:ea typeface="Calibri" pitchFamily="34" charset="-122"/>
                <a:cs typeface="Calibri" pitchFamily="34" charset="-120"/>
              </a:rPr>
              <a:t>L'échauffement par apnées progressives n'est pas un rituel, c'est de la physiologie. </a:t>
            </a:r>
            <a:pPr indent="0" marL="0">
              <a:lnSpc>
                <a:spcPct val="115000"/>
              </a:lnSpc>
              <a:buNone/>
            </a:pPr>
            <a:r>
              <a:rPr lang="en-US" sz="1250" dirty="0">
                <a:solidFill>
                  <a:srgbClr val="1F3347"/>
                </a:solidFill>
                <a:latin typeface="Calibri" pitchFamily="34" charset="0"/>
                <a:ea typeface="Calibri" pitchFamily="34" charset="-122"/>
                <a:cs typeface="Calibri" pitchFamily="34" charset="-120"/>
              </a:rPr>
              <a:t>Et côté sécurité : la première apnée d'une séance n'est JAMAIS celle où l'on cherche une performance.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plongée verticale : le graphique à savoir redessiner</a:t>
            </a:r>
            <a:endParaRPr lang="en-US" sz="2800" dirty="0"/>
          </a:p>
        </p:txBody>
      </p:sp>
      <p:graphicFrame>
        <p:nvGraphicFramePr>
          <p:cNvPr id="4" name="Chart 0" descr=""/>
          <p:cNvGraphicFramePr/>
          <p:nvPr/>
        </p:nvGraphicFramePr>
        <p:xfrm>
          <a:off x="548640" y="14173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417320"/>
            <a:ext cx="3840480" cy="1444752"/>
          </a:xfrm>
          <a:prstGeom prst="roundRect">
            <a:avLst>
              <a:gd name="adj" fmla="val 5696"/>
            </a:avLst>
          </a:prstGeom>
          <a:solidFill>
            <a:srgbClr val="DCEBF5"/>
          </a:solidFill>
          <a:ln/>
          <a:effectLst>
            <a:outerShdw sx="100000" sy="100000" kx="0" ky="0" algn="bl" rotWithShape="0" blurRad="88900" dist="25400" dir="5400000">
              <a:srgbClr val="0A2942">
                <a:alpha val="16000"/>
              </a:srgbClr>
            </a:outerShdw>
          </a:effectLst>
        </p:spPr>
      </p:sp>
      <p:sp>
        <p:nvSpPr>
          <p:cNvPr id="6" name="Text 3"/>
          <p:cNvSpPr/>
          <p:nvPr/>
        </p:nvSpPr>
        <p:spPr>
          <a:xfrm>
            <a:off x="8028432" y="1527048"/>
            <a:ext cx="3383280" cy="29260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Au fond : l'euphorie</a:t>
            </a:r>
            <a:endParaRPr lang="en-US" sz="1250" dirty="0"/>
          </a:p>
        </p:txBody>
      </p:sp>
      <p:sp>
        <p:nvSpPr>
          <p:cNvPr id="7" name="Text 4"/>
          <p:cNvSpPr/>
          <p:nvPr/>
        </p:nvSpPr>
        <p:spPr>
          <a:xfrm>
            <a:off x="8028432" y="1837944"/>
            <a:ext cx="3383280" cy="969264"/>
          </a:xfrm>
          <a:prstGeom prst="rect">
            <a:avLst/>
          </a:prstGeom>
          <a:noFill/>
          <a:ln/>
        </p:spPr>
        <p:txBody>
          <a:bodyPr wrap="square" lIns="0" tIns="0" rIns="0" bIns="0" rtlCol="0" anchor="t"/>
          <a:lstStyle/>
          <a:p>
            <a:pPr indent="0" marL="0">
              <a:lnSpc>
                <a:spcPct val="108000"/>
              </a:lnSpc>
              <a:buNone/>
            </a:pPr>
            <a:r>
              <a:rPr lang="en-US" sz="980" dirty="0">
                <a:solidFill>
                  <a:srgbClr val="1F3347"/>
                </a:solidFill>
                <a:latin typeface="Calibri" pitchFamily="34" charset="0"/>
                <a:ea typeface="Calibri" pitchFamily="34" charset="-122"/>
                <a:cs typeface="Calibri" pitchFamily="34" charset="-120"/>
              </a:rPr>
              <a:t>La pression fait MONTER la PpO₂ (jusqu'à ≈ 200) : on se sent bien, on veut rester. Dalton, pas une impression.</a:t>
            </a:r>
            <a:endParaRPr lang="en-US" sz="980" dirty="0"/>
          </a:p>
        </p:txBody>
      </p:sp>
      <p:sp>
        <p:nvSpPr>
          <p:cNvPr id="8" name="Shape 5"/>
          <p:cNvSpPr/>
          <p:nvPr/>
        </p:nvSpPr>
        <p:spPr>
          <a:xfrm>
            <a:off x="7772400" y="3026664"/>
            <a:ext cx="3840480" cy="1444752"/>
          </a:xfrm>
          <a:prstGeom prst="roundRect">
            <a:avLst>
              <a:gd name="adj" fmla="val 5696"/>
            </a:avLst>
          </a:prstGeom>
          <a:solidFill>
            <a:srgbClr val="FBE9E1"/>
          </a:solidFill>
          <a:ln/>
          <a:effectLst>
            <a:outerShdw sx="100000" sy="100000" kx="0" ky="0" algn="bl" rotWithShape="0" blurRad="88900" dist="25400" dir="5400000">
              <a:srgbClr val="0A2942">
                <a:alpha val="16000"/>
              </a:srgbClr>
            </a:outerShdw>
          </a:effectLst>
        </p:spPr>
      </p:sp>
      <p:sp>
        <p:nvSpPr>
          <p:cNvPr id="9" name="Text 6"/>
          <p:cNvSpPr/>
          <p:nvPr/>
        </p:nvSpPr>
        <p:spPr>
          <a:xfrm>
            <a:off x="8028432" y="3136392"/>
            <a:ext cx="3383280" cy="292608"/>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À la remontée : l'effondrement</a:t>
            </a:r>
            <a:endParaRPr lang="en-US" sz="1250" dirty="0"/>
          </a:p>
        </p:txBody>
      </p:sp>
      <p:sp>
        <p:nvSpPr>
          <p:cNvPr id="10" name="Text 7"/>
          <p:cNvSpPr/>
          <p:nvPr/>
        </p:nvSpPr>
        <p:spPr>
          <a:xfrm>
            <a:off x="8028432" y="3447288"/>
            <a:ext cx="3383280" cy="969264"/>
          </a:xfrm>
          <a:prstGeom prst="rect">
            <a:avLst/>
          </a:prstGeom>
          <a:noFill/>
          <a:ln/>
        </p:spPr>
        <p:txBody>
          <a:bodyPr wrap="square" lIns="0" tIns="0" rIns="0" bIns="0" rtlCol="0" anchor="t"/>
          <a:lstStyle/>
          <a:p>
            <a:pPr indent="0" marL="0">
              <a:lnSpc>
                <a:spcPct val="108000"/>
              </a:lnSpc>
              <a:buNone/>
            </a:pPr>
            <a:r>
              <a:rPr lang="en-US" sz="980" dirty="0">
                <a:solidFill>
                  <a:srgbClr val="1F3347"/>
                </a:solidFill>
                <a:latin typeface="Calibri" pitchFamily="34" charset="0"/>
                <a:ea typeface="Calibri" pitchFamily="34" charset="-122"/>
                <a:cs typeface="Calibri" pitchFamily="34" charset="-120"/>
              </a:rPr>
              <a:t>Consommation + chute de pression : de 60 à 30 mmHg dans les derniers mètres. C'est le rendez-vous syncopal des 7 m.</a:t>
            </a:r>
            <a:endParaRPr lang="en-US" sz="980" dirty="0"/>
          </a:p>
        </p:txBody>
      </p:sp>
      <p:sp>
        <p:nvSpPr>
          <p:cNvPr id="11" name="Shape 8"/>
          <p:cNvSpPr/>
          <p:nvPr/>
        </p:nvSpPr>
        <p:spPr>
          <a:xfrm>
            <a:off x="7772400" y="4636008"/>
            <a:ext cx="3840480" cy="1444752"/>
          </a:xfrm>
          <a:prstGeom prst="roundRect">
            <a:avLst>
              <a:gd name="adj" fmla="val 5696"/>
            </a:avLst>
          </a:prstGeom>
          <a:solidFill>
            <a:srgbClr val="E7F3EC"/>
          </a:solidFill>
          <a:ln/>
          <a:effectLst>
            <a:outerShdw sx="100000" sy="100000" kx="0" ky="0" algn="bl" rotWithShape="0" blurRad="88900" dist="25400" dir="5400000">
              <a:srgbClr val="0A2942">
                <a:alpha val="16000"/>
              </a:srgbClr>
            </a:outerShdw>
          </a:effectLst>
        </p:spPr>
      </p:sp>
      <p:sp>
        <p:nvSpPr>
          <p:cNvPr id="12" name="Text 9"/>
          <p:cNvSpPr/>
          <p:nvPr/>
        </p:nvSpPr>
        <p:spPr>
          <a:xfrm>
            <a:off x="8028432" y="4745736"/>
            <a:ext cx="3383280" cy="292608"/>
          </a:xfrm>
          <a:prstGeom prst="rect">
            <a:avLst/>
          </a:prstGeom>
          <a:noFill/>
          <a:ln/>
        </p:spPr>
        <p:txBody>
          <a:bodyPr wrap="square" lIns="0" tIns="0" rIns="0" bIns="0" rtlCol="0" anchor="ctr"/>
          <a:lstStyle/>
          <a:p>
            <a:pPr indent="0" marL="0">
              <a:buNone/>
            </a:pPr>
            <a:r>
              <a:rPr lang="en-US" sz="1250" b="1" dirty="0">
                <a:solidFill>
                  <a:srgbClr val="2C8C5A"/>
                </a:solidFill>
                <a:latin typeface="Calibri" pitchFamily="34" charset="0"/>
                <a:ea typeface="Calibri" pitchFamily="34" charset="-122"/>
                <a:cs typeface="Calibri" pitchFamily="34" charset="-120"/>
              </a:rPr>
              <a:t>Trois conséquences cadre</a:t>
            </a:r>
            <a:endParaRPr lang="en-US" sz="1250" dirty="0"/>
          </a:p>
        </p:txBody>
      </p:sp>
      <p:sp>
        <p:nvSpPr>
          <p:cNvPr id="13" name="Text 10"/>
          <p:cNvSpPr/>
          <p:nvPr/>
        </p:nvSpPr>
        <p:spPr>
          <a:xfrm>
            <a:off x="8028432" y="5056632"/>
            <a:ext cx="3383280" cy="969264"/>
          </a:xfrm>
          <a:prstGeom prst="rect">
            <a:avLst/>
          </a:prstGeom>
          <a:noFill/>
          <a:ln/>
        </p:spPr>
        <p:txBody>
          <a:bodyPr wrap="square" lIns="0" tIns="0" rIns="0" bIns="0" rtlCol="0" anchor="t"/>
          <a:lstStyle/>
          <a:p>
            <a:pPr indent="0" marL="0">
              <a:lnSpc>
                <a:spcPct val="108000"/>
              </a:lnSpc>
              <a:buNone/>
            </a:pPr>
            <a:r>
              <a:rPr lang="en-US" sz="980" dirty="0">
                <a:solidFill>
                  <a:srgbClr val="1F3347"/>
                </a:solidFill>
                <a:latin typeface="Calibri" pitchFamily="34" charset="0"/>
                <a:ea typeface="Calibri" pitchFamily="34" charset="-122"/>
                <a:cs typeface="Calibri" pitchFamily="34" charset="-120"/>
              </a:rPr>
              <a:t>Surveiller la fin de remontée + 30 s après la sortie · aller chercher l'apnéiste à mi-profondeur · ne jamais quitter des yeux la première ventilation (≈ 5 s pour réoxygéner le cerveau).</a:t>
            </a:r>
            <a:endParaRPr lang="en-US" sz="9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L'hyperventilation : ce qu'elle fait vraiment</a:t>
            </a:r>
            <a:endParaRPr lang="en-US" sz="2800" dirty="0"/>
          </a:p>
        </p:txBody>
      </p:sp>
      <p:sp>
        <p:nvSpPr>
          <p:cNvPr id="4" name="Shape 2"/>
          <p:cNvSpPr/>
          <p:nvPr/>
        </p:nvSpPr>
        <p:spPr>
          <a:xfrm>
            <a:off x="548640" y="1371600"/>
            <a:ext cx="11073384" cy="1051560"/>
          </a:xfrm>
          <a:prstGeom prst="roundRect">
            <a:avLst>
              <a:gd name="adj" fmla="val 7826"/>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22960" y="1435608"/>
            <a:ext cx="10515600" cy="914400"/>
          </a:xfrm>
          <a:prstGeom prst="rect">
            <a:avLst/>
          </a:prstGeom>
          <a:noFill/>
          <a:ln/>
        </p:spPr>
        <p:txBody>
          <a:bodyPr wrap="square" lIns="0" tIns="0" rIns="0" bIns="0" rtlCol="0" anchor="ctr"/>
          <a:lstStyle/>
          <a:p>
            <a:pPr indent="0" marL="0">
              <a:lnSpc>
                <a:spcPct val="112000"/>
              </a:lnSpc>
              <a:buNone/>
            </a:pPr>
            <a:r>
              <a:rPr lang="en-US" sz="1250" b="1" dirty="0">
                <a:solidFill>
                  <a:srgbClr val="065A82"/>
                </a:solidFill>
                <a:latin typeface="Calibri" pitchFamily="34" charset="0"/>
                <a:ea typeface="Calibri" pitchFamily="34" charset="-122"/>
                <a:cs typeface="Calibri" pitchFamily="34" charset="-120"/>
              </a:rPr>
              <a:t>Définition : </a:t>
            </a:r>
            <a:pPr indent="0" marL="0">
              <a:lnSpc>
                <a:spcPct val="112000"/>
              </a:lnSpc>
              <a:buNone/>
            </a:pPr>
            <a:r>
              <a:rPr lang="en-US" sz="1250" dirty="0">
                <a:solidFill>
                  <a:srgbClr val="1F3347"/>
                </a:solidFill>
                <a:latin typeface="Calibri" pitchFamily="34" charset="0"/>
                <a:ea typeface="Calibri" pitchFamily="34" charset="-122"/>
                <a:cs typeface="Calibri" pitchFamily="34" charset="-120"/>
              </a:rPr>
              <a:t>ventilation supérieure aux besoins — en fréquence, en amplitude, ou les deux. L'intuition de l'élève : « je ventile plus, donc j'embarque plus d'oxygène ». C'est faux : l'hémoglobine est déjà saturée à 97 % (98 % au mieux après hyperventilation).</a:t>
            </a:r>
            <a:endParaRPr lang="en-US" sz="1250" dirty="0"/>
          </a:p>
        </p:txBody>
      </p:sp>
      <p:sp>
        <p:nvSpPr>
          <p:cNvPr id="6" name="Shape 4"/>
          <p:cNvSpPr/>
          <p:nvPr/>
        </p:nvSpPr>
        <p:spPr>
          <a:xfrm>
            <a:off x="548640" y="2697480"/>
            <a:ext cx="2672334" cy="1920240"/>
          </a:xfrm>
          <a:prstGeom prst="roundRect">
            <a:avLst>
              <a:gd name="adj" fmla="val 3810"/>
            </a:avLst>
          </a:prstGeom>
          <a:solidFill>
            <a:srgbClr val="1C7293"/>
          </a:solidFill>
          <a:ln/>
          <a:effectLst>
            <a:outerShdw sx="100000" sy="100000" kx="0" ky="0" algn="bl" rotWithShape="0" blurRad="88900" dist="25400" dir="5400000">
              <a:srgbClr val="0A2942">
                <a:alpha val="16000"/>
              </a:srgbClr>
            </a:outerShdw>
          </a:effectLst>
        </p:spPr>
      </p:sp>
      <p:sp>
        <p:nvSpPr>
          <p:cNvPr id="7" name="Text 5"/>
          <p:cNvSpPr/>
          <p:nvPr/>
        </p:nvSpPr>
        <p:spPr>
          <a:xfrm>
            <a:off x="731520" y="284378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Hyperventilation</a:t>
            </a:r>
            <a:endParaRPr lang="en-US" sz="1150" dirty="0"/>
          </a:p>
        </p:txBody>
      </p:sp>
      <p:sp>
        <p:nvSpPr>
          <p:cNvPr id="8" name="Text 6"/>
          <p:cNvSpPr/>
          <p:nvPr/>
        </p:nvSpPr>
        <p:spPr>
          <a:xfrm>
            <a:off x="731520" y="3410712"/>
            <a:ext cx="2306574" cy="106070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L'O₂ ne monte pas (réservoir plein)… mais le CO₂ est lessivé</a:t>
            </a:r>
            <a:endParaRPr lang="en-US" sz="980" dirty="0"/>
          </a:p>
        </p:txBody>
      </p:sp>
      <p:sp>
        <p:nvSpPr>
          <p:cNvPr id="9" name="Text 7"/>
          <p:cNvSpPr/>
          <p:nvPr/>
        </p:nvSpPr>
        <p:spPr>
          <a:xfrm>
            <a:off x="3193542" y="342900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3348990" y="2697480"/>
            <a:ext cx="2672334" cy="1920240"/>
          </a:xfrm>
          <a:prstGeom prst="roundRect">
            <a:avLst>
              <a:gd name="adj" fmla="val 3810"/>
            </a:avLst>
          </a:prstGeom>
          <a:solidFill>
            <a:srgbClr val="C77F0A"/>
          </a:solidFill>
          <a:ln/>
          <a:effectLst>
            <a:outerShdw sx="100000" sy="100000" kx="0" ky="0" algn="bl" rotWithShape="0" blurRad="88900" dist="25400" dir="5400000">
              <a:srgbClr val="0A2942">
                <a:alpha val="16000"/>
              </a:srgbClr>
            </a:outerShdw>
          </a:effectLst>
        </p:spPr>
      </p:sp>
      <p:sp>
        <p:nvSpPr>
          <p:cNvPr id="11" name="Text 9"/>
          <p:cNvSpPr/>
          <p:nvPr/>
        </p:nvSpPr>
        <p:spPr>
          <a:xfrm>
            <a:off x="3531870" y="284378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Hypocapnie + alcalose</a:t>
            </a:r>
            <a:endParaRPr lang="en-US" sz="1150" dirty="0"/>
          </a:p>
        </p:txBody>
      </p:sp>
      <p:sp>
        <p:nvSpPr>
          <p:cNvPr id="12" name="Text 10"/>
          <p:cNvSpPr/>
          <p:nvPr/>
        </p:nvSpPr>
        <p:spPr>
          <a:xfrm>
            <a:off x="3531870" y="3410712"/>
            <a:ext cx="2306574" cy="106070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pH ↑ : fourmillements, vertiges, euphorie — dus au MANQUE de CO₂, pas à un excès d'O₂</a:t>
            </a:r>
            <a:endParaRPr lang="en-US" sz="980" dirty="0"/>
          </a:p>
        </p:txBody>
      </p:sp>
      <p:sp>
        <p:nvSpPr>
          <p:cNvPr id="13" name="Text 11"/>
          <p:cNvSpPr/>
          <p:nvPr/>
        </p:nvSpPr>
        <p:spPr>
          <a:xfrm>
            <a:off x="5993892" y="342900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4" name="Shape 12"/>
          <p:cNvSpPr/>
          <p:nvPr/>
        </p:nvSpPr>
        <p:spPr>
          <a:xfrm>
            <a:off x="6149340" y="2697480"/>
            <a:ext cx="2672334" cy="1920240"/>
          </a:xfrm>
          <a:prstGeom prst="roundRect">
            <a:avLst>
              <a:gd name="adj" fmla="val 3810"/>
            </a:avLst>
          </a:prstGeom>
          <a:solidFill>
            <a:srgbClr val="D9541E"/>
          </a:solidFill>
          <a:ln/>
          <a:effectLst>
            <a:outerShdw sx="100000" sy="100000" kx="0" ky="0" algn="bl" rotWithShape="0" blurRad="88900" dist="25400" dir="5400000">
              <a:srgbClr val="0A2942">
                <a:alpha val="16000"/>
              </a:srgbClr>
            </a:outerShdw>
          </a:effectLst>
        </p:spPr>
      </p:sp>
      <p:sp>
        <p:nvSpPr>
          <p:cNvPr id="15" name="Text 13"/>
          <p:cNvSpPr/>
          <p:nvPr/>
        </p:nvSpPr>
        <p:spPr>
          <a:xfrm>
            <a:off x="6332220" y="284378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Alarme débranchée</a:t>
            </a:r>
            <a:endParaRPr lang="en-US" sz="1150" dirty="0"/>
          </a:p>
        </p:txBody>
      </p:sp>
      <p:sp>
        <p:nvSpPr>
          <p:cNvPr id="16" name="Text 14"/>
          <p:cNvSpPr/>
          <p:nvPr/>
        </p:nvSpPr>
        <p:spPr>
          <a:xfrm>
            <a:off x="6332220" y="3410712"/>
            <a:ext cx="2306574" cy="106070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Le besoin de respirer part de plus bas : les centres bulbaires sont « dupés »</a:t>
            </a:r>
            <a:endParaRPr lang="en-US" sz="980" dirty="0"/>
          </a:p>
        </p:txBody>
      </p:sp>
      <p:sp>
        <p:nvSpPr>
          <p:cNvPr id="17" name="Text 15"/>
          <p:cNvSpPr/>
          <p:nvPr/>
        </p:nvSpPr>
        <p:spPr>
          <a:xfrm>
            <a:off x="8794242" y="342900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8949690" y="2697480"/>
            <a:ext cx="2672334" cy="1920240"/>
          </a:xfrm>
          <a:prstGeom prst="roundRect">
            <a:avLst>
              <a:gd name="adj" fmla="val 3810"/>
            </a:avLst>
          </a:prstGeom>
          <a:solidFill>
            <a:srgbClr val="8C2F0B"/>
          </a:solidFill>
          <a:ln/>
          <a:effectLst>
            <a:outerShdw sx="100000" sy="100000" kx="0" ky="0" algn="bl" rotWithShape="0" blurRad="88900" dist="25400" dir="5400000">
              <a:srgbClr val="0A2942">
                <a:alpha val="16000"/>
              </a:srgbClr>
            </a:outerShdw>
          </a:effectLst>
        </p:spPr>
      </p:sp>
      <p:sp>
        <p:nvSpPr>
          <p:cNvPr id="19" name="Text 17"/>
          <p:cNvSpPr/>
          <p:nvPr/>
        </p:nvSpPr>
        <p:spPr>
          <a:xfrm>
            <a:off x="9132570" y="284378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L'O₂ chute, lui, normalement</a:t>
            </a:r>
            <a:endParaRPr lang="en-US" sz="1150" dirty="0"/>
          </a:p>
        </p:txBody>
      </p:sp>
      <p:sp>
        <p:nvSpPr>
          <p:cNvPr id="20" name="Text 18"/>
          <p:cNvSpPr/>
          <p:nvPr/>
        </p:nvSpPr>
        <p:spPr>
          <a:xfrm>
            <a:off x="9132570" y="3410712"/>
            <a:ext cx="2306574" cy="106070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La syncope peut survenir AVANT toute envie de respirer</a:t>
            </a:r>
            <a:endParaRPr lang="en-US" sz="980" dirty="0"/>
          </a:p>
        </p:txBody>
      </p:sp>
      <p:sp>
        <p:nvSpPr>
          <p:cNvPr id="21" name="Shape 19"/>
          <p:cNvSpPr/>
          <p:nvPr/>
        </p:nvSpPr>
        <p:spPr>
          <a:xfrm>
            <a:off x="548640" y="4983480"/>
            <a:ext cx="11073384" cy="1143000"/>
          </a:xfrm>
          <a:prstGeom prst="roundRect">
            <a:avLst>
              <a:gd name="adj" fmla="val 7200"/>
            </a:avLst>
          </a:prstGeom>
          <a:solidFill>
            <a:srgbClr val="FBE9E1"/>
          </a:solidFill>
          <a:ln/>
          <a:effectLst>
            <a:outerShdw sx="100000" sy="100000" kx="0" ky="0" algn="bl" rotWithShape="0" blurRad="88900" dist="25400" dir="5400000">
              <a:srgbClr val="0A2942">
                <a:alpha val="16000"/>
              </a:srgbClr>
            </a:outerShdw>
          </a:effectLst>
        </p:spPr>
      </p:sp>
      <p:sp>
        <p:nvSpPr>
          <p:cNvPr id="22" name="Shape 20"/>
          <p:cNvSpPr/>
          <p:nvPr/>
        </p:nvSpPr>
        <p:spPr>
          <a:xfrm>
            <a:off x="822960" y="5212080"/>
            <a:ext cx="566928" cy="566928"/>
          </a:xfrm>
          <a:prstGeom prst="ellipse">
            <a:avLst/>
          </a:prstGeom>
          <a:solidFill>
            <a:srgbClr val="D9541E"/>
          </a:solidFill>
          <a:ln/>
        </p:spPr>
      </p:sp>
      <p:pic>
        <p:nvPicPr>
          <p:cNvPr id="23" name="Image 0" descr="preencoded.png">    </p:cNvPr>
          <p:cNvPicPr>
            <a:picLocks noChangeAspect="1"/>
          </p:cNvPicPr>
          <p:nvPr/>
        </p:nvPicPr>
        <p:blipFill>
          <a:blip r:embed="rId1"/>
          <a:stretch>
            <a:fillRect/>
          </a:stretch>
        </p:blipFill>
        <p:spPr>
          <a:xfrm>
            <a:off x="970361" y="5359481"/>
            <a:ext cx="272125" cy="272125"/>
          </a:xfrm>
          <a:prstGeom prst="rect">
            <a:avLst/>
          </a:prstGeom>
        </p:spPr>
      </p:pic>
      <p:sp>
        <p:nvSpPr>
          <p:cNvPr id="24" name="Text 21"/>
          <p:cNvSpPr/>
          <p:nvPr/>
        </p:nvSpPr>
        <p:spPr>
          <a:xfrm>
            <a:off x="1600200" y="5029200"/>
            <a:ext cx="9738360" cy="1051560"/>
          </a:xfrm>
          <a:prstGeom prst="rect">
            <a:avLst/>
          </a:prstGeom>
          <a:noFill/>
          <a:ln/>
        </p:spPr>
        <p:txBody>
          <a:bodyPr wrap="square" lIns="0" tIns="0" rIns="0" bIns="0" rtlCol="0" anchor="ctr"/>
          <a:lstStyle/>
          <a:p>
            <a:pPr indent="0" marL="0">
              <a:lnSpc>
                <a:spcPct val="112000"/>
              </a:lnSpc>
              <a:buNone/>
            </a:pPr>
            <a:r>
              <a:rPr lang="en-US" sz="1400" b="1" i="1" dirty="0">
                <a:solidFill>
                  <a:srgbClr val="9C3A10"/>
                </a:solidFill>
                <a:latin typeface="Calibri" pitchFamily="34" charset="0"/>
                <a:ea typeface="Calibri" pitchFamily="34" charset="-122"/>
                <a:cs typeface="Calibri" pitchFamily="34" charset="-120"/>
              </a:rPr>
              <a:t>« Vous ne gagnez pas de l'oxygène. Vous gagnez du silence. »  </a:t>
            </a:r>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C'est débrancher le voyant de réserve d'essence en pensant avoir fait le plein : on roule plus longtemps sans inquiétude, et on tombe en panne sans prévenir.</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preuve par les courbes : l'ordre des seuils s'inverse</a:t>
            </a:r>
            <a:endParaRPr lang="en-US" sz="2800" dirty="0"/>
          </a:p>
        </p:txBody>
      </p:sp>
      <p:graphicFrame>
        <p:nvGraphicFramePr>
          <p:cNvPr id="4" name="Chart 0" descr=""/>
          <p:cNvGraphicFramePr/>
          <p:nvPr/>
        </p:nvGraphicFramePr>
        <p:xfrm>
          <a:off x="548640" y="14173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417320"/>
            <a:ext cx="3840480" cy="1444752"/>
          </a:xfrm>
          <a:prstGeom prst="roundRect">
            <a:avLst>
              <a:gd name="adj" fmla="val 5696"/>
            </a:avLst>
          </a:prstGeom>
          <a:solidFill>
            <a:srgbClr val="DCEBF5"/>
          </a:solidFill>
          <a:ln/>
          <a:effectLst>
            <a:outerShdw sx="100000" sy="100000" kx="0" ky="0" algn="bl" rotWithShape="0" blurRad="88900" dist="25400" dir="5400000">
              <a:srgbClr val="0A2942">
                <a:alpha val="16000"/>
              </a:srgbClr>
            </a:outerShdw>
          </a:effectLst>
        </p:spPr>
      </p:sp>
      <p:sp>
        <p:nvSpPr>
          <p:cNvPr id="6" name="Text 3"/>
          <p:cNvSpPr/>
          <p:nvPr/>
        </p:nvSpPr>
        <p:spPr>
          <a:xfrm>
            <a:off x="8028432" y="1527048"/>
            <a:ext cx="3383280" cy="292608"/>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Les 3 seuils à connaître</a:t>
            </a:r>
            <a:endParaRPr lang="en-US" sz="1250" dirty="0"/>
          </a:p>
        </p:txBody>
      </p:sp>
      <p:sp>
        <p:nvSpPr>
          <p:cNvPr id="7" name="Text 4"/>
          <p:cNvSpPr/>
          <p:nvPr/>
        </p:nvSpPr>
        <p:spPr>
          <a:xfrm>
            <a:off x="8028432" y="1837944"/>
            <a:ext cx="3383280" cy="969264"/>
          </a:xfrm>
          <a:prstGeom prst="rect">
            <a:avLst/>
          </a:prstGeom>
          <a:noFill/>
          <a:ln/>
        </p:spPr>
        <p:txBody>
          <a:bodyPr wrap="square" lIns="0" tIns="0" rIns="0" bIns="0" rtlCol="0" anchor="t"/>
          <a:lstStyle/>
          <a:p>
            <a:pPr indent="0" marL="0">
              <a:lnSpc>
                <a:spcPct val="106000"/>
              </a:lnSpc>
              <a:buNone/>
            </a:pPr>
            <a:r>
              <a:rPr lang="en-US" sz="960" dirty="0">
                <a:solidFill>
                  <a:srgbClr val="1F3347"/>
                </a:solidFill>
                <a:latin typeface="Calibri" pitchFamily="34" charset="0"/>
                <a:ea typeface="Calibri" pitchFamily="34" charset="-122"/>
                <a:cs typeface="Calibri" pitchFamily="34" charset="-120"/>
              </a:rPr>
              <a:t>PpCO₂ &gt; 52 mmHg : rupture d'apnée (envie irrésistible) · PpO₂ &lt; 50 : troubles de la mémoire · PpO₂ &lt; 30 : perte de connaissance.</a:t>
            </a:r>
            <a:endParaRPr lang="en-US" sz="960" dirty="0"/>
          </a:p>
        </p:txBody>
      </p:sp>
      <p:sp>
        <p:nvSpPr>
          <p:cNvPr id="8" name="Shape 5"/>
          <p:cNvSpPr/>
          <p:nvPr/>
        </p:nvSpPr>
        <p:spPr>
          <a:xfrm>
            <a:off x="7772400" y="3026664"/>
            <a:ext cx="3840480" cy="1444752"/>
          </a:xfrm>
          <a:prstGeom prst="roundRect">
            <a:avLst>
              <a:gd name="adj" fmla="val 5696"/>
            </a:avLst>
          </a:prstGeom>
          <a:solidFill>
            <a:srgbClr val="E7F3EC"/>
          </a:solidFill>
          <a:ln/>
          <a:effectLst>
            <a:outerShdw sx="100000" sy="100000" kx="0" ky="0" algn="bl" rotWithShape="0" blurRad="88900" dist="25400" dir="5400000">
              <a:srgbClr val="0A2942">
                <a:alpha val="16000"/>
              </a:srgbClr>
            </a:outerShdw>
          </a:effectLst>
        </p:spPr>
      </p:sp>
      <p:sp>
        <p:nvSpPr>
          <p:cNvPr id="9" name="Text 6"/>
          <p:cNvSpPr/>
          <p:nvPr/>
        </p:nvSpPr>
        <p:spPr>
          <a:xfrm>
            <a:off x="8028432" y="3136392"/>
            <a:ext cx="3383280" cy="292608"/>
          </a:xfrm>
          <a:prstGeom prst="rect">
            <a:avLst/>
          </a:prstGeom>
          <a:noFill/>
          <a:ln/>
        </p:spPr>
        <p:txBody>
          <a:bodyPr wrap="square" lIns="0" tIns="0" rIns="0" bIns="0" rtlCol="0" anchor="ctr"/>
          <a:lstStyle/>
          <a:p>
            <a:pPr indent="0" marL="0">
              <a:buNone/>
            </a:pPr>
            <a:r>
              <a:rPr lang="en-US" sz="1250" b="1" dirty="0">
                <a:solidFill>
                  <a:srgbClr val="2C8C5A"/>
                </a:solidFill>
                <a:latin typeface="Calibri" pitchFamily="34" charset="0"/>
                <a:ea typeface="Calibri" pitchFamily="34" charset="-122"/>
                <a:cs typeface="Calibri" pitchFamily="34" charset="-120"/>
              </a:rPr>
              <a:t>Ventilation normale</a:t>
            </a:r>
            <a:endParaRPr lang="en-US" sz="1250" dirty="0"/>
          </a:p>
        </p:txBody>
      </p:sp>
      <p:sp>
        <p:nvSpPr>
          <p:cNvPr id="10" name="Text 7"/>
          <p:cNvSpPr/>
          <p:nvPr/>
        </p:nvSpPr>
        <p:spPr>
          <a:xfrm>
            <a:off x="8028432" y="3447288"/>
            <a:ext cx="3383280" cy="969264"/>
          </a:xfrm>
          <a:prstGeom prst="rect">
            <a:avLst/>
          </a:prstGeom>
          <a:noFill/>
          <a:ln/>
        </p:spPr>
        <p:txBody>
          <a:bodyPr wrap="square" lIns="0" tIns="0" rIns="0" bIns="0" rtlCol="0" anchor="t"/>
          <a:lstStyle/>
          <a:p>
            <a:pPr indent="0" marL="0">
              <a:lnSpc>
                <a:spcPct val="106000"/>
              </a:lnSpc>
              <a:buNone/>
            </a:pPr>
            <a:r>
              <a:rPr lang="en-US" sz="960" dirty="0">
                <a:solidFill>
                  <a:srgbClr val="1F3347"/>
                </a:solidFill>
                <a:latin typeface="Calibri" pitchFamily="34" charset="0"/>
                <a:ea typeface="Calibri" pitchFamily="34" charset="-122"/>
                <a:cs typeface="Calibri" pitchFamily="34" charset="-120"/>
              </a:rPr>
              <a:t>Le CO₂ (départ 40) atteint son seuil AVANT que l'O₂ n'atteigne le sien : l'alarme sonne à temps, l'apnéiste remonte.</a:t>
            </a:r>
            <a:endParaRPr lang="en-US" sz="960" dirty="0"/>
          </a:p>
        </p:txBody>
      </p:sp>
      <p:sp>
        <p:nvSpPr>
          <p:cNvPr id="11" name="Shape 8"/>
          <p:cNvSpPr/>
          <p:nvPr/>
        </p:nvSpPr>
        <p:spPr>
          <a:xfrm>
            <a:off x="7772400" y="4636008"/>
            <a:ext cx="3840480" cy="1444752"/>
          </a:xfrm>
          <a:prstGeom prst="roundRect">
            <a:avLst>
              <a:gd name="adj" fmla="val 5696"/>
            </a:avLst>
          </a:prstGeom>
          <a:solidFill>
            <a:srgbClr val="FBE9E1"/>
          </a:solidFill>
          <a:ln/>
          <a:effectLst>
            <a:outerShdw sx="100000" sy="100000" kx="0" ky="0" algn="bl" rotWithShape="0" blurRad="88900" dist="25400" dir="5400000">
              <a:srgbClr val="0A2942">
                <a:alpha val="16000"/>
              </a:srgbClr>
            </a:outerShdw>
          </a:effectLst>
        </p:spPr>
      </p:sp>
      <p:sp>
        <p:nvSpPr>
          <p:cNvPr id="12" name="Text 9"/>
          <p:cNvSpPr/>
          <p:nvPr/>
        </p:nvSpPr>
        <p:spPr>
          <a:xfrm>
            <a:off x="8028432" y="4745736"/>
            <a:ext cx="3383280" cy="292608"/>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Après hyperventilation</a:t>
            </a:r>
            <a:endParaRPr lang="en-US" sz="1250" dirty="0"/>
          </a:p>
        </p:txBody>
      </p:sp>
      <p:sp>
        <p:nvSpPr>
          <p:cNvPr id="13" name="Text 10"/>
          <p:cNvSpPr/>
          <p:nvPr/>
        </p:nvSpPr>
        <p:spPr>
          <a:xfrm>
            <a:off x="8028432" y="5056632"/>
            <a:ext cx="3383280" cy="969264"/>
          </a:xfrm>
          <a:prstGeom prst="rect">
            <a:avLst/>
          </a:prstGeom>
          <a:noFill/>
          <a:ln/>
        </p:spPr>
        <p:txBody>
          <a:bodyPr wrap="square" lIns="0" tIns="0" rIns="0" bIns="0" rtlCol="0" anchor="t"/>
          <a:lstStyle/>
          <a:p>
            <a:pPr indent="0" marL="0">
              <a:lnSpc>
                <a:spcPct val="106000"/>
              </a:lnSpc>
              <a:buNone/>
            </a:pPr>
            <a:r>
              <a:rPr lang="en-US" sz="960" dirty="0">
                <a:solidFill>
                  <a:srgbClr val="1F3347"/>
                </a:solidFill>
                <a:latin typeface="Calibri" pitchFamily="34" charset="0"/>
                <a:ea typeface="Calibri" pitchFamily="34" charset="-122"/>
                <a:cs typeface="Calibri" pitchFamily="34" charset="-120"/>
              </a:rPr>
              <a:t>Le CO₂ part de 25 : il lui faut bien plus de temps. L'O₂ chute à la même vitesse… et croise son seuil LE PREMIER. L'ordre s'est inversé : c'est la syncope.</a:t>
            </a:r>
            <a:endParaRPr lang="en-US" sz="9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5 · L'ORGANISME EN APNÉE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Synthèse de la partie 1 : les trois phrases à retenir</a:t>
            </a:r>
            <a:endParaRPr lang="en-US" sz="2800" dirty="0"/>
          </a:p>
        </p:txBody>
      </p:sp>
      <p:sp>
        <p:nvSpPr>
          <p:cNvPr id="4" name="Shape 2"/>
          <p:cNvSpPr/>
          <p:nvPr/>
        </p:nvSpPr>
        <p:spPr>
          <a:xfrm>
            <a:off x="548640" y="1417320"/>
            <a:ext cx="11073384" cy="1371600"/>
          </a:xfrm>
          <a:prstGeom prst="roundRect">
            <a:avLst>
              <a:gd name="adj" fmla="val 6000"/>
            </a:avLst>
          </a:prstGeom>
          <a:solidFill>
            <a:srgbClr val="DCEBF5"/>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783080"/>
            <a:ext cx="640080" cy="640080"/>
          </a:xfrm>
          <a:prstGeom prst="ellipse">
            <a:avLst/>
          </a:prstGeom>
          <a:solidFill>
            <a:srgbClr val="065A82"/>
          </a:solidFill>
          <a:ln/>
        </p:spPr>
      </p:sp>
      <p:sp>
        <p:nvSpPr>
          <p:cNvPr id="6" name="Text 4"/>
          <p:cNvSpPr/>
          <p:nvPr/>
        </p:nvSpPr>
        <p:spPr>
          <a:xfrm>
            <a:off x="822960" y="17830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91640" y="1563624"/>
            <a:ext cx="9692640" cy="566928"/>
          </a:xfrm>
          <a:prstGeom prst="rect">
            <a:avLst/>
          </a:prstGeom>
          <a:noFill/>
          <a:ln/>
        </p:spPr>
        <p:txBody>
          <a:bodyPr wrap="square" lIns="0" tIns="0" rIns="0" bIns="0" rtlCol="0" anchor="ctr"/>
          <a:lstStyle/>
          <a:p>
            <a:pPr indent="0" marL="0">
              <a:lnSpc>
                <a:spcPct val="100000"/>
              </a:lnSpc>
              <a:buNone/>
            </a:pPr>
            <a:r>
              <a:rPr lang="en-US" sz="1350" b="1" dirty="0">
                <a:solidFill>
                  <a:srgbClr val="1F3347"/>
                </a:solidFill>
                <a:latin typeface="Calibri" pitchFamily="34" charset="0"/>
                <a:ea typeface="Calibri" pitchFamily="34" charset="-122"/>
                <a:cs typeface="Calibri" pitchFamily="34" charset="-120"/>
              </a:rPr>
              <a:t>Au fond on se sent bien parce que la pression concentre l'oxygène — et c'est en remontant que ça casse.</a:t>
            </a:r>
            <a:endParaRPr lang="en-US" sz="1350" dirty="0"/>
          </a:p>
        </p:txBody>
      </p:sp>
      <p:sp>
        <p:nvSpPr>
          <p:cNvPr id="8" name="Text 6"/>
          <p:cNvSpPr/>
          <p:nvPr/>
        </p:nvSpPr>
        <p:spPr>
          <a:xfrm>
            <a:off x="1691640" y="2167128"/>
            <a:ext cx="9692640" cy="548640"/>
          </a:xfrm>
          <a:prstGeom prst="rect">
            <a:avLst/>
          </a:prstGeom>
          <a:noFill/>
          <a:ln/>
        </p:spPr>
        <p:txBody>
          <a:bodyPr wrap="square" lIns="0" tIns="0" rIns="0" bIns="0" rtlCol="0" anchor="t"/>
          <a:lstStyle/>
          <a:p>
            <a:pPr indent="0" marL="0">
              <a:lnSpc>
                <a:spcPct val="105000"/>
              </a:lnSpc>
              <a:buNone/>
            </a:pPr>
            <a:r>
              <a:rPr lang="en-US" sz="1100" dirty="0">
                <a:solidFill>
                  <a:srgbClr val="5B7288"/>
                </a:solidFill>
                <a:latin typeface="Calibri" pitchFamily="34" charset="0"/>
                <a:ea typeface="Calibri" pitchFamily="34" charset="-122"/>
                <a:cs typeface="Calibri" pitchFamily="34" charset="-120"/>
              </a:rPr>
              <a:t>Dalton + consommation : le rendez-vous syncopal se joue dans les derniers mètres. La surveillance aussi.</a:t>
            </a:r>
            <a:endParaRPr lang="en-US" sz="1100" dirty="0"/>
          </a:p>
        </p:txBody>
      </p:sp>
      <p:sp>
        <p:nvSpPr>
          <p:cNvPr id="9" name="Shape 7"/>
          <p:cNvSpPr/>
          <p:nvPr/>
        </p:nvSpPr>
        <p:spPr>
          <a:xfrm>
            <a:off x="548640" y="2953512"/>
            <a:ext cx="11073384" cy="1371600"/>
          </a:xfrm>
          <a:prstGeom prst="roundRect">
            <a:avLst>
              <a:gd name="adj" fmla="val 6000"/>
            </a:avLst>
          </a:prstGeom>
          <a:solidFill>
            <a:srgbClr val="DCEBF5"/>
          </a:solidFill>
          <a:ln/>
          <a:effectLst>
            <a:outerShdw sx="100000" sy="100000" kx="0" ky="0" algn="bl" rotWithShape="0" blurRad="88900" dist="25400" dir="5400000">
              <a:srgbClr val="0A2942">
                <a:alpha val="16000"/>
              </a:srgbClr>
            </a:outerShdw>
          </a:effectLst>
        </p:spPr>
      </p:sp>
      <p:sp>
        <p:nvSpPr>
          <p:cNvPr id="10" name="Shape 8"/>
          <p:cNvSpPr/>
          <p:nvPr/>
        </p:nvSpPr>
        <p:spPr>
          <a:xfrm>
            <a:off x="822960" y="3319272"/>
            <a:ext cx="640080" cy="640080"/>
          </a:xfrm>
          <a:prstGeom prst="ellipse">
            <a:avLst/>
          </a:prstGeom>
          <a:solidFill>
            <a:srgbClr val="065A82"/>
          </a:solidFill>
          <a:ln/>
        </p:spPr>
      </p:sp>
      <p:sp>
        <p:nvSpPr>
          <p:cNvPr id="11" name="Text 9"/>
          <p:cNvSpPr/>
          <p:nvPr/>
        </p:nvSpPr>
        <p:spPr>
          <a:xfrm>
            <a:off x="822960" y="331927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91640" y="3099816"/>
            <a:ext cx="9692640" cy="566928"/>
          </a:xfrm>
          <a:prstGeom prst="rect">
            <a:avLst/>
          </a:prstGeom>
          <a:noFill/>
          <a:ln/>
        </p:spPr>
        <p:txBody>
          <a:bodyPr wrap="square" lIns="0" tIns="0" rIns="0" bIns="0" rtlCol="0" anchor="ctr"/>
          <a:lstStyle/>
          <a:p>
            <a:pPr indent="0" marL="0">
              <a:lnSpc>
                <a:spcPct val="100000"/>
              </a:lnSpc>
              <a:buNone/>
            </a:pPr>
            <a:r>
              <a:rPr lang="en-US" sz="1350" b="1" dirty="0">
                <a:solidFill>
                  <a:srgbClr val="1F3347"/>
                </a:solidFill>
                <a:latin typeface="Calibri" pitchFamily="34" charset="0"/>
                <a:ea typeface="Calibri" pitchFamily="34" charset="-122"/>
                <a:cs typeface="Calibri" pitchFamily="34" charset="-120"/>
              </a:rPr>
              <a:t>C'est le CO₂ qui donne envie de respirer ; c'est le manque d'O₂ qui fait tomber.</a:t>
            </a:r>
            <a:endParaRPr lang="en-US" sz="1350" dirty="0"/>
          </a:p>
        </p:txBody>
      </p:sp>
      <p:sp>
        <p:nvSpPr>
          <p:cNvPr id="13" name="Text 11"/>
          <p:cNvSpPr/>
          <p:nvPr/>
        </p:nvSpPr>
        <p:spPr>
          <a:xfrm>
            <a:off x="1691640" y="3703320"/>
            <a:ext cx="9692640" cy="548640"/>
          </a:xfrm>
          <a:prstGeom prst="rect">
            <a:avLst/>
          </a:prstGeom>
          <a:noFill/>
          <a:ln/>
        </p:spPr>
        <p:txBody>
          <a:bodyPr wrap="square" lIns="0" tIns="0" rIns="0" bIns="0" rtlCol="0" anchor="t"/>
          <a:lstStyle/>
          <a:p>
            <a:pPr indent="0" marL="0">
              <a:lnSpc>
                <a:spcPct val="105000"/>
              </a:lnSpc>
              <a:buNone/>
            </a:pPr>
            <a:r>
              <a:rPr lang="en-US" sz="1100" dirty="0">
                <a:solidFill>
                  <a:srgbClr val="5B7288"/>
                </a:solidFill>
                <a:latin typeface="Calibri" pitchFamily="34" charset="0"/>
                <a:ea typeface="Calibri" pitchFamily="34" charset="-122"/>
                <a:cs typeface="Calibri" pitchFamily="34" charset="-120"/>
              </a:rPr>
              <a:t>Deux gaz, deux horloges : l'alarme ne surveille pas le vrai danger. Toutes les règles de sécurité en découlent.</a:t>
            </a:r>
            <a:endParaRPr lang="en-US" sz="1100" dirty="0"/>
          </a:p>
        </p:txBody>
      </p:sp>
      <p:sp>
        <p:nvSpPr>
          <p:cNvPr id="14" name="Shape 12"/>
          <p:cNvSpPr/>
          <p:nvPr/>
        </p:nvSpPr>
        <p:spPr>
          <a:xfrm>
            <a:off x="548640" y="4489704"/>
            <a:ext cx="11073384" cy="1371600"/>
          </a:xfrm>
          <a:prstGeom prst="roundRect">
            <a:avLst>
              <a:gd name="adj" fmla="val 6000"/>
            </a:avLst>
          </a:prstGeom>
          <a:solidFill>
            <a:srgbClr val="DCEBF5"/>
          </a:solidFill>
          <a:ln/>
          <a:effectLst>
            <a:outerShdw sx="100000" sy="100000" kx="0" ky="0" algn="bl" rotWithShape="0" blurRad="88900" dist="25400" dir="5400000">
              <a:srgbClr val="0A2942">
                <a:alpha val="16000"/>
              </a:srgbClr>
            </a:outerShdw>
          </a:effectLst>
        </p:spPr>
      </p:sp>
      <p:sp>
        <p:nvSpPr>
          <p:cNvPr id="15" name="Shape 13"/>
          <p:cNvSpPr/>
          <p:nvPr/>
        </p:nvSpPr>
        <p:spPr>
          <a:xfrm>
            <a:off x="822960" y="4855464"/>
            <a:ext cx="640080" cy="640080"/>
          </a:xfrm>
          <a:prstGeom prst="ellipse">
            <a:avLst/>
          </a:prstGeom>
          <a:solidFill>
            <a:srgbClr val="065A82"/>
          </a:solidFill>
          <a:ln/>
        </p:spPr>
      </p:sp>
      <p:sp>
        <p:nvSpPr>
          <p:cNvPr id="16" name="Text 14"/>
          <p:cNvSpPr/>
          <p:nvPr/>
        </p:nvSpPr>
        <p:spPr>
          <a:xfrm>
            <a:off x="822960" y="485546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91640" y="4636008"/>
            <a:ext cx="9692640" cy="566928"/>
          </a:xfrm>
          <a:prstGeom prst="rect">
            <a:avLst/>
          </a:prstGeom>
          <a:noFill/>
          <a:ln/>
        </p:spPr>
        <p:txBody>
          <a:bodyPr wrap="square" lIns="0" tIns="0" rIns="0" bIns="0" rtlCol="0" anchor="ctr"/>
          <a:lstStyle/>
          <a:p>
            <a:pPr indent="0" marL="0">
              <a:lnSpc>
                <a:spcPct val="100000"/>
              </a:lnSpc>
              <a:buNone/>
            </a:pPr>
            <a:r>
              <a:rPr lang="en-US" sz="1350" b="1" dirty="0">
                <a:solidFill>
                  <a:srgbClr val="1F3347"/>
                </a:solidFill>
                <a:latin typeface="Calibri" pitchFamily="34" charset="0"/>
                <a:ea typeface="Calibri" pitchFamily="34" charset="-122"/>
                <a:cs typeface="Calibri" pitchFamily="34" charset="-120"/>
              </a:rPr>
              <a:t>L'hyperventilation ne remplit pas le réservoir : elle coupe l'alarme.</a:t>
            </a:r>
            <a:endParaRPr lang="en-US" sz="1350" dirty="0"/>
          </a:p>
        </p:txBody>
      </p:sp>
      <p:sp>
        <p:nvSpPr>
          <p:cNvPr id="18" name="Text 16"/>
          <p:cNvSpPr/>
          <p:nvPr/>
        </p:nvSpPr>
        <p:spPr>
          <a:xfrm>
            <a:off x="1691640" y="5239512"/>
            <a:ext cx="9692640" cy="548640"/>
          </a:xfrm>
          <a:prstGeom prst="rect">
            <a:avLst/>
          </a:prstGeom>
          <a:noFill/>
          <a:ln/>
        </p:spPr>
        <p:txBody>
          <a:bodyPr wrap="square" lIns="0" tIns="0" rIns="0" bIns="0" rtlCol="0" anchor="t"/>
          <a:lstStyle/>
          <a:p>
            <a:pPr indent="0" marL="0">
              <a:lnSpc>
                <a:spcPct val="105000"/>
              </a:lnSpc>
              <a:buNone/>
            </a:pPr>
            <a:r>
              <a:rPr lang="en-US" sz="1100" dirty="0">
                <a:solidFill>
                  <a:srgbClr val="5B7288"/>
                </a:solidFill>
                <a:latin typeface="Calibri" pitchFamily="34" charset="0"/>
                <a:ea typeface="Calibri" pitchFamily="34" charset="-122"/>
                <a:cs typeface="Calibri" pitchFamily="34" charset="-120"/>
              </a:rPr>
              <a:t>Hémoglobine déjà saturée à 97 % ; le CO₂ lessivé retarde l'envie de respirer sans retarder la syncope. Proscrite, et on sait expliquer pourquoi.</a:t>
            </a:r>
            <a:endParaRPr lang="en-US" sz="1100" dirty="0"/>
          </a:p>
        </p:txBody>
      </p:sp>
      <p:sp>
        <p:nvSpPr>
          <p:cNvPr id="19" name="Text 17"/>
          <p:cNvSpPr/>
          <p:nvPr/>
        </p:nvSpPr>
        <p:spPr>
          <a:xfrm>
            <a:off x="548640" y="60350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Exercice avant la pause : deux stagiaires expliquent chacun une de ces phrases à un « débutant », en deux minutes, sans jargon.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2942"/>
        </a:solidFill>
      </p:bgPr>
    </p:bg>
    <p:spTree>
      <p:nvGrpSpPr>
        <p:cNvPr id="1" name=""/>
        <p:cNvGrpSpPr/>
        <p:nvPr/>
      </p:nvGrpSpPr>
      <p:grpSpPr>
        <a:xfrm>
          <a:off x="0" y="0"/>
          <a:ext cx="0" cy="0"/>
          <a:chOff x="0" y="0"/>
          <a:chExt cx="0" cy="0"/>
        </a:xfrm>
      </p:grpSpPr>
      <p:sp>
        <p:nvSpPr>
          <p:cNvPr id="2" name="Shape 0"/>
          <p:cNvSpPr/>
          <p:nvPr/>
        </p:nvSpPr>
        <p:spPr>
          <a:xfrm>
            <a:off x="9692640" y="-1737360"/>
            <a:ext cx="5120640" cy="5120640"/>
          </a:xfrm>
          <a:prstGeom prst="ellipse">
            <a:avLst/>
          </a:prstGeom>
          <a:solidFill>
            <a:srgbClr val="7A3A16">
              <a:alpha val="55000"/>
            </a:srgbClr>
          </a:solidFill>
          <a:ln/>
        </p:spPr>
      </p:sp>
      <p:sp>
        <p:nvSpPr>
          <p:cNvPr id="3" name="Shape 1"/>
          <p:cNvSpPr/>
          <p:nvPr/>
        </p:nvSpPr>
        <p:spPr>
          <a:xfrm>
            <a:off x="-1554480" y="4297680"/>
            <a:ext cx="4389120" cy="4389120"/>
          </a:xfrm>
          <a:prstGeom prst="ellipse">
            <a:avLst/>
          </a:prstGeom>
          <a:solidFill>
            <a:srgbClr val="1C7293">
              <a:alpha val="35000"/>
            </a:srgbClr>
          </a:solidFill>
          <a:ln/>
        </p:spPr>
      </p:sp>
      <p:sp>
        <p:nvSpPr>
          <p:cNvPr id="4" name="Text 2"/>
          <p:cNvSpPr/>
          <p:nvPr/>
        </p:nvSpPr>
        <p:spPr>
          <a:xfrm>
            <a:off x="685800" y="1920240"/>
            <a:ext cx="10789920" cy="457200"/>
          </a:xfrm>
          <a:prstGeom prst="rect">
            <a:avLst/>
          </a:prstGeom>
          <a:noFill/>
          <a:ln/>
        </p:spPr>
        <p:txBody>
          <a:bodyPr wrap="square" lIns="0" tIns="0" rIns="0" bIns="0" rtlCol="0" anchor="ctr"/>
          <a:lstStyle/>
          <a:p>
            <a:pPr indent="0" marL="0">
              <a:buNone/>
            </a:pPr>
            <a:r>
              <a:rPr lang="en-US" sz="1800" b="1" spc="600" kern="0" dirty="0">
                <a:solidFill>
                  <a:srgbClr val="F2B48C"/>
                </a:solidFill>
                <a:latin typeface="Calibri" pitchFamily="34" charset="0"/>
                <a:ea typeface="Calibri" pitchFamily="34" charset="-122"/>
                <a:cs typeface="Calibri" pitchFamily="34" charset="-120"/>
              </a:rPr>
              <a:t>PARTIE 2</a:t>
            </a:r>
            <a:endParaRPr lang="en-US" sz="1800" dirty="0"/>
          </a:p>
        </p:txBody>
      </p:sp>
      <p:sp>
        <p:nvSpPr>
          <p:cNvPr id="5" name="Text 3"/>
          <p:cNvSpPr/>
          <p:nvPr/>
        </p:nvSpPr>
        <p:spPr>
          <a:xfrm>
            <a:off x="658368" y="2423160"/>
            <a:ext cx="1078992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Les accidents</a:t>
            </a:r>
            <a:endParaRPr lang="en-US" sz="4400" dirty="0"/>
          </a:p>
        </p:txBody>
      </p:sp>
      <p:sp>
        <p:nvSpPr>
          <p:cNvPr id="6" name="Text 4"/>
          <p:cNvSpPr/>
          <p:nvPr/>
        </p:nvSpPr>
        <p:spPr>
          <a:xfrm>
            <a:off x="685800" y="3611880"/>
            <a:ext cx="10515600" cy="457200"/>
          </a:xfrm>
          <a:prstGeom prst="rect">
            <a:avLst/>
          </a:prstGeom>
          <a:noFill/>
          <a:ln/>
        </p:spPr>
        <p:txBody>
          <a:bodyPr wrap="square" lIns="0" tIns="0" rIns="0" bIns="0" rtlCol="0" anchor="ctr"/>
          <a:lstStyle/>
          <a:p>
            <a:pPr indent="0" marL="0">
              <a:buNone/>
            </a:pPr>
            <a:r>
              <a:rPr lang="en-US" sz="1600" dirty="0">
                <a:solidFill>
                  <a:srgbClr val="DCEBF5"/>
                </a:solidFill>
                <a:latin typeface="Calibri" pitchFamily="34" charset="0"/>
                <a:ea typeface="Calibri" pitchFamily="34" charset="-122"/>
                <a:cs typeface="Calibri" pitchFamily="34" charset="-120"/>
              </a:rPr>
              <a:t>Barotraumatismes · syncope hypoxique · taravana · hypothermie &amp; autres</a:t>
            </a:r>
            <a:endParaRPr lang="en-US" sz="1600" dirty="0"/>
          </a:p>
        </p:txBody>
      </p:sp>
      <p:sp>
        <p:nvSpPr>
          <p:cNvPr id="7" name="Shape 5"/>
          <p:cNvSpPr/>
          <p:nvPr/>
        </p:nvSpPr>
        <p:spPr>
          <a:xfrm>
            <a:off x="685800" y="4434840"/>
            <a:ext cx="887882" cy="384048"/>
          </a:xfrm>
          <a:prstGeom prst="roundRect">
            <a:avLst>
              <a:gd name="adj" fmla="val 35714"/>
            </a:avLst>
          </a:prstGeom>
          <a:solidFill>
            <a:srgbClr val="10395C"/>
          </a:solidFill>
          <a:ln w="12700">
            <a:solidFill>
              <a:srgbClr val="C86A35"/>
            </a:solidFill>
            <a:prstDash val="solid"/>
          </a:ln>
        </p:spPr>
      </p:sp>
      <p:sp>
        <p:nvSpPr>
          <p:cNvPr id="8" name="Text 6"/>
          <p:cNvSpPr/>
          <p:nvPr/>
        </p:nvSpPr>
        <p:spPr>
          <a:xfrm>
            <a:off x="685800" y="4434840"/>
            <a:ext cx="887882"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Oreille</a:t>
            </a:r>
            <a:endParaRPr lang="en-US" sz="1050" dirty="0"/>
          </a:p>
        </p:txBody>
      </p:sp>
      <p:sp>
        <p:nvSpPr>
          <p:cNvPr id="9" name="Shape 7"/>
          <p:cNvSpPr/>
          <p:nvPr/>
        </p:nvSpPr>
        <p:spPr>
          <a:xfrm>
            <a:off x="1738274" y="4434840"/>
            <a:ext cx="717804" cy="384048"/>
          </a:xfrm>
          <a:prstGeom prst="roundRect">
            <a:avLst>
              <a:gd name="adj" fmla="val 35714"/>
            </a:avLst>
          </a:prstGeom>
          <a:solidFill>
            <a:srgbClr val="10395C"/>
          </a:solidFill>
          <a:ln w="12700">
            <a:solidFill>
              <a:srgbClr val="C86A35"/>
            </a:solidFill>
            <a:prstDash val="solid"/>
          </a:ln>
        </p:spPr>
      </p:sp>
      <p:sp>
        <p:nvSpPr>
          <p:cNvPr id="10" name="Text 8"/>
          <p:cNvSpPr/>
          <p:nvPr/>
        </p:nvSpPr>
        <p:spPr>
          <a:xfrm>
            <a:off x="1738274" y="4434840"/>
            <a:ext cx="717804"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Sinus</a:t>
            </a:r>
            <a:endParaRPr lang="en-US" sz="1050" dirty="0"/>
          </a:p>
        </p:txBody>
      </p:sp>
      <p:sp>
        <p:nvSpPr>
          <p:cNvPr id="11" name="Shape 9"/>
          <p:cNvSpPr/>
          <p:nvPr/>
        </p:nvSpPr>
        <p:spPr>
          <a:xfrm>
            <a:off x="2620670" y="4434840"/>
            <a:ext cx="1823314" cy="384048"/>
          </a:xfrm>
          <a:prstGeom prst="roundRect">
            <a:avLst>
              <a:gd name="adj" fmla="val 35714"/>
            </a:avLst>
          </a:prstGeom>
          <a:solidFill>
            <a:srgbClr val="10395C"/>
          </a:solidFill>
          <a:ln w="12700">
            <a:solidFill>
              <a:srgbClr val="C86A35"/>
            </a:solidFill>
            <a:prstDash val="solid"/>
          </a:ln>
        </p:spPr>
      </p:sp>
      <p:sp>
        <p:nvSpPr>
          <p:cNvPr id="12" name="Text 10"/>
          <p:cNvSpPr/>
          <p:nvPr/>
        </p:nvSpPr>
        <p:spPr>
          <a:xfrm>
            <a:off x="2620670" y="4434840"/>
            <a:ext cx="1823314"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Plaquage de masque</a:t>
            </a:r>
            <a:endParaRPr lang="en-US" sz="1050" dirty="0"/>
          </a:p>
        </p:txBody>
      </p:sp>
      <p:sp>
        <p:nvSpPr>
          <p:cNvPr id="13" name="Shape 11"/>
          <p:cNvSpPr/>
          <p:nvPr/>
        </p:nvSpPr>
        <p:spPr>
          <a:xfrm>
            <a:off x="4608576" y="4434840"/>
            <a:ext cx="2163470" cy="384048"/>
          </a:xfrm>
          <a:prstGeom prst="roundRect">
            <a:avLst>
              <a:gd name="adj" fmla="val 35714"/>
            </a:avLst>
          </a:prstGeom>
          <a:solidFill>
            <a:srgbClr val="10395C"/>
          </a:solidFill>
          <a:ln w="12700">
            <a:solidFill>
              <a:srgbClr val="C86A35"/>
            </a:solidFill>
            <a:prstDash val="solid"/>
          </a:ln>
        </p:spPr>
      </p:sp>
      <p:sp>
        <p:nvSpPr>
          <p:cNvPr id="14" name="Text 12"/>
          <p:cNvSpPr/>
          <p:nvPr/>
        </p:nvSpPr>
        <p:spPr>
          <a:xfrm>
            <a:off x="4608576" y="4434840"/>
            <a:ext cx="2163470"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Surpression pulmonaire</a:t>
            </a:r>
            <a:endParaRPr lang="en-US" sz="1050" dirty="0"/>
          </a:p>
        </p:txBody>
      </p:sp>
      <p:sp>
        <p:nvSpPr>
          <p:cNvPr id="15" name="Shape 13"/>
          <p:cNvSpPr/>
          <p:nvPr/>
        </p:nvSpPr>
        <p:spPr>
          <a:xfrm>
            <a:off x="6936638" y="4434840"/>
            <a:ext cx="717804" cy="384048"/>
          </a:xfrm>
          <a:prstGeom prst="roundRect">
            <a:avLst>
              <a:gd name="adj" fmla="val 35714"/>
            </a:avLst>
          </a:prstGeom>
          <a:solidFill>
            <a:srgbClr val="10395C"/>
          </a:solidFill>
          <a:ln w="12700">
            <a:solidFill>
              <a:srgbClr val="C86A35"/>
            </a:solidFill>
            <a:prstDash val="solid"/>
          </a:ln>
        </p:spPr>
      </p:sp>
      <p:sp>
        <p:nvSpPr>
          <p:cNvPr id="16" name="Text 14"/>
          <p:cNvSpPr/>
          <p:nvPr/>
        </p:nvSpPr>
        <p:spPr>
          <a:xfrm>
            <a:off x="6936638" y="4434840"/>
            <a:ext cx="717804"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Dents</a:t>
            </a:r>
            <a:endParaRPr lang="en-US" sz="1050" dirty="0"/>
          </a:p>
        </p:txBody>
      </p:sp>
      <p:sp>
        <p:nvSpPr>
          <p:cNvPr id="17" name="Shape 15"/>
          <p:cNvSpPr/>
          <p:nvPr/>
        </p:nvSpPr>
        <p:spPr>
          <a:xfrm>
            <a:off x="7819034" y="4434840"/>
            <a:ext cx="887882" cy="384048"/>
          </a:xfrm>
          <a:prstGeom prst="roundRect">
            <a:avLst>
              <a:gd name="adj" fmla="val 35714"/>
            </a:avLst>
          </a:prstGeom>
          <a:solidFill>
            <a:srgbClr val="10395C"/>
          </a:solidFill>
          <a:ln w="12700">
            <a:solidFill>
              <a:srgbClr val="C86A35"/>
            </a:solidFill>
            <a:prstDash val="solid"/>
          </a:ln>
        </p:spPr>
      </p:sp>
      <p:sp>
        <p:nvSpPr>
          <p:cNvPr id="18" name="Text 16"/>
          <p:cNvSpPr/>
          <p:nvPr/>
        </p:nvSpPr>
        <p:spPr>
          <a:xfrm>
            <a:off x="7819034" y="4434840"/>
            <a:ext cx="887882"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Syncope</a:t>
            </a:r>
            <a:endParaRPr lang="en-US" sz="1050" dirty="0"/>
          </a:p>
        </p:txBody>
      </p:sp>
      <p:sp>
        <p:nvSpPr>
          <p:cNvPr id="19" name="Shape 17"/>
          <p:cNvSpPr/>
          <p:nvPr/>
        </p:nvSpPr>
        <p:spPr>
          <a:xfrm>
            <a:off x="8871509" y="4434840"/>
            <a:ext cx="972922" cy="384048"/>
          </a:xfrm>
          <a:prstGeom prst="roundRect">
            <a:avLst>
              <a:gd name="adj" fmla="val 35714"/>
            </a:avLst>
          </a:prstGeom>
          <a:solidFill>
            <a:srgbClr val="10395C"/>
          </a:solidFill>
          <a:ln w="12700">
            <a:solidFill>
              <a:srgbClr val="C86A35"/>
            </a:solidFill>
            <a:prstDash val="solid"/>
          </a:ln>
        </p:spPr>
      </p:sp>
      <p:sp>
        <p:nvSpPr>
          <p:cNvPr id="20" name="Text 18"/>
          <p:cNvSpPr/>
          <p:nvPr/>
        </p:nvSpPr>
        <p:spPr>
          <a:xfrm>
            <a:off x="8871509" y="4434840"/>
            <a:ext cx="972922"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Taravana</a:t>
            </a:r>
            <a:endParaRPr lang="en-US" sz="1050" dirty="0"/>
          </a:p>
        </p:txBody>
      </p:sp>
      <p:sp>
        <p:nvSpPr>
          <p:cNvPr id="21" name="Shape 19"/>
          <p:cNvSpPr/>
          <p:nvPr/>
        </p:nvSpPr>
        <p:spPr>
          <a:xfrm>
            <a:off x="10009022" y="4434840"/>
            <a:ext cx="1228039" cy="384048"/>
          </a:xfrm>
          <a:prstGeom prst="roundRect">
            <a:avLst>
              <a:gd name="adj" fmla="val 35714"/>
            </a:avLst>
          </a:prstGeom>
          <a:solidFill>
            <a:srgbClr val="10395C"/>
          </a:solidFill>
          <a:ln w="12700">
            <a:solidFill>
              <a:srgbClr val="C86A35"/>
            </a:solidFill>
            <a:prstDash val="solid"/>
          </a:ln>
        </p:spPr>
      </p:sp>
      <p:sp>
        <p:nvSpPr>
          <p:cNvPr id="22" name="Text 20"/>
          <p:cNvSpPr/>
          <p:nvPr/>
        </p:nvSpPr>
        <p:spPr>
          <a:xfrm>
            <a:off x="10009022" y="4434840"/>
            <a:ext cx="1228039"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Hypothermie</a:t>
            </a:r>
            <a:endParaRPr lang="en-US" sz="1050" dirty="0"/>
          </a:p>
        </p:txBody>
      </p:sp>
      <p:sp>
        <p:nvSpPr>
          <p:cNvPr id="23" name="Shape 21"/>
          <p:cNvSpPr/>
          <p:nvPr/>
        </p:nvSpPr>
        <p:spPr>
          <a:xfrm>
            <a:off x="685800" y="4937760"/>
            <a:ext cx="1653235" cy="384048"/>
          </a:xfrm>
          <a:prstGeom prst="roundRect">
            <a:avLst>
              <a:gd name="adj" fmla="val 35714"/>
            </a:avLst>
          </a:prstGeom>
          <a:solidFill>
            <a:srgbClr val="10395C"/>
          </a:solidFill>
          <a:ln w="12700">
            <a:solidFill>
              <a:srgbClr val="C86A35"/>
            </a:solidFill>
            <a:prstDash val="solid"/>
          </a:ln>
        </p:spPr>
      </p:sp>
      <p:sp>
        <p:nvSpPr>
          <p:cNvPr id="24" name="Text 22"/>
          <p:cNvSpPr/>
          <p:nvPr/>
        </p:nvSpPr>
        <p:spPr>
          <a:xfrm>
            <a:off x="685800" y="4937760"/>
            <a:ext cx="1653235"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Conduite à tenir</a:t>
            </a:r>
            <a:endParaRPr lang="en-US" sz="1050" dirty="0"/>
          </a:p>
        </p:txBody>
      </p:sp>
      <p:sp>
        <p:nvSpPr>
          <p:cNvPr id="25" name="Shape 23"/>
          <p:cNvSpPr/>
          <p:nvPr/>
        </p:nvSpPr>
        <p:spPr>
          <a:xfrm>
            <a:off x="2503627" y="4937760"/>
            <a:ext cx="1143000" cy="384048"/>
          </a:xfrm>
          <a:prstGeom prst="roundRect">
            <a:avLst>
              <a:gd name="adj" fmla="val 35714"/>
            </a:avLst>
          </a:prstGeom>
          <a:solidFill>
            <a:srgbClr val="10395C"/>
          </a:solidFill>
          <a:ln w="12700">
            <a:solidFill>
              <a:srgbClr val="C86A35"/>
            </a:solidFill>
            <a:prstDash val="solid"/>
          </a:ln>
        </p:spPr>
      </p:sp>
      <p:sp>
        <p:nvSpPr>
          <p:cNvPr id="26" name="Text 24"/>
          <p:cNvSpPr/>
          <p:nvPr/>
        </p:nvSpPr>
        <p:spPr>
          <a:xfrm>
            <a:off x="2503627" y="4937760"/>
            <a:ext cx="1143000" cy="384048"/>
          </a:xfrm>
          <a:prstGeom prst="rect">
            <a:avLst/>
          </a:prstGeom>
          <a:noFill/>
          <a:ln/>
        </p:spPr>
        <p:txBody>
          <a:bodyPr wrap="square" lIns="0" tIns="0" rIns="0" bIns="0" rtlCol="0" anchor="ctr"/>
          <a:lstStyle/>
          <a:p>
            <a:pPr algn="ctr" indent="0" marL="0">
              <a:buNone/>
            </a:pPr>
            <a:r>
              <a:rPr lang="en-US" sz="1050" dirty="0">
                <a:solidFill>
                  <a:srgbClr val="DCEBF5"/>
                </a:solidFill>
                <a:latin typeface="Calibri" pitchFamily="34" charset="0"/>
                <a:ea typeface="Calibri" pitchFamily="34" charset="-122"/>
                <a:cs typeface="Calibri" pitchFamily="34" charset="-120"/>
              </a:rPr>
              <a:t>Prévention</a:t>
            </a:r>
            <a:endParaRPr lang="en-US" sz="1050" dirty="0"/>
          </a:p>
        </p:txBody>
      </p:sp>
      <p:sp>
        <p:nvSpPr>
          <p:cNvPr id="27" name="Text 25"/>
          <p:cNvSpPr/>
          <p:nvPr/>
        </p:nvSpPr>
        <p:spPr>
          <a:xfrm>
            <a:off x="685800" y="5943600"/>
            <a:ext cx="10515600" cy="457200"/>
          </a:xfrm>
          <a:prstGeom prst="rect">
            <a:avLst/>
          </a:prstGeom>
          <a:noFill/>
          <a:ln/>
        </p:spPr>
        <p:txBody>
          <a:bodyPr wrap="square" lIns="0" tIns="0" rIns="0" bIns="0" rtlCol="0" anchor="ctr"/>
          <a:lstStyle/>
          <a:p>
            <a:pPr indent="0" marL="0">
              <a:buNone/>
            </a:pPr>
            <a:r>
              <a:rPr lang="en-US" sz="1250" i="1" dirty="0">
                <a:solidFill>
                  <a:srgbClr val="9FBDD4"/>
                </a:solidFill>
                <a:latin typeface="Calibri" pitchFamily="34" charset="0"/>
                <a:ea typeface="Calibri" pitchFamily="34" charset="-122"/>
                <a:cs typeface="Calibri" pitchFamily="34" charset="-120"/>
              </a:rPr>
              <a:t>L'apnée encadrée est une activité très sûre — précisément parce que des cadres connaissent ces accidents et les empêchent d'arriver.</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PARTIE 2 · LES ACCIDENTS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Quatre familles — et le nom dit déjà la cause</a:t>
            </a:r>
            <a:endParaRPr lang="en-US" sz="2800" dirty="0"/>
          </a:p>
        </p:txBody>
      </p:sp>
      <p:sp>
        <p:nvSpPr>
          <p:cNvPr id="4" name="Shape 2"/>
          <p:cNvSpPr/>
          <p:nvPr/>
        </p:nvSpPr>
        <p:spPr>
          <a:xfrm>
            <a:off x="548640" y="1417320"/>
            <a:ext cx="2697480" cy="288036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1613916" y="1645920"/>
            <a:ext cx="566928" cy="566928"/>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1761317" y="1793321"/>
            <a:ext cx="272125" cy="272125"/>
          </a:xfrm>
          <a:prstGeom prst="rect">
            <a:avLst/>
          </a:prstGeom>
        </p:spPr>
      </p:pic>
      <p:sp>
        <p:nvSpPr>
          <p:cNvPr id="7" name="Text 4"/>
          <p:cNvSpPr/>
          <p:nvPr/>
        </p:nvSpPr>
        <p:spPr>
          <a:xfrm>
            <a:off x="685800" y="2331720"/>
            <a:ext cx="2423160" cy="320040"/>
          </a:xfrm>
          <a:prstGeom prst="rect">
            <a:avLst/>
          </a:prstGeom>
          <a:noFill/>
          <a:ln/>
        </p:spPr>
        <p:txBody>
          <a:bodyPr wrap="square" lIns="0" tIns="0" rIns="0" bIns="0" rtlCol="0" anchor="ctr"/>
          <a:lstStyle/>
          <a:p>
            <a:pPr algn="ctr" indent="0" marL="0">
              <a:buNone/>
            </a:pPr>
            <a:r>
              <a:rPr lang="en-US" sz="1300" b="1" dirty="0">
                <a:solidFill>
                  <a:srgbClr val="1F3347"/>
                </a:solidFill>
                <a:latin typeface="Calibri" pitchFamily="34" charset="0"/>
                <a:ea typeface="Calibri" pitchFamily="34" charset="-122"/>
                <a:cs typeface="Calibri" pitchFamily="34" charset="-120"/>
              </a:rPr>
              <a:t>1 · Mécaniques</a:t>
            </a:r>
            <a:endParaRPr lang="en-US" sz="1300" dirty="0"/>
          </a:p>
        </p:txBody>
      </p:sp>
      <p:sp>
        <p:nvSpPr>
          <p:cNvPr id="8" name="Text 5"/>
          <p:cNvSpPr/>
          <p:nvPr/>
        </p:nvSpPr>
        <p:spPr>
          <a:xfrm>
            <a:off x="685800" y="2633472"/>
            <a:ext cx="2423160" cy="274320"/>
          </a:xfrm>
          <a:prstGeom prst="rect">
            <a:avLst/>
          </a:prstGeom>
          <a:noFill/>
          <a:ln/>
        </p:spPr>
        <p:txBody>
          <a:bodyPr wrap="square" lIns="0" tIns="0" rIns="0" bIns="0" rtlCol="0" anchor="ctr"/>
          <a:lstStyle/>
          <a:p>
            <a:pPr algn="ctr" indent="0" marL="0">
              <a:buNone/>
            </a:pPr>
            <a:r>
              <a:rPr lang="en-US" sz="1050" i="1" dirty="0">
                <a:solidFill>
                  <a:srgbClr val="5B7288"/>
                </a:solidFill>
                <a:latin typeface="Calibri" pitchFamily="34" charset="0"/>
                <a:ea typeface="Calibri" pitchFamily="34" charset="-122"/>
                <a:cs typeface="Calibri" pitchFamily="34" charset="-120"/>
              </a:rPr>
              <a:t>(barotraumatismes)</a:t>
            </a:r>
            <a:endParaRPr lang="en-US" sz="1050" dirty="0"/>
          </a:p>
        </p:txBody>
      </p:sp>
      <p:sp>
        <p:nvSpPr>
          <p:cNvPr id="9" name="Text 6"/>
          <p:cNvSpPr/>
          <p:nvPr/>
        </p:nvSpPr>
        <p:spPr>
          <a:xfrm>
            <a:off x="749808" y="2971800"/>
            <a:ext cx="2295144" cy="12344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La pression écrase ou dilate un volume de gaz. Cause physique → prévention technique : compenser, équilibrer. Les plus FRÉQUENTS.</a:t>
            </a:r>
            <a:endParaRPr lang="en-US" sz="1000" dirty="0"/>
          </a:p>
        </p:txBody>
      </p:sp>
      <p:sp>
        <p:nvSpPr>
          <p:cNvPr id="10" name="Shape 7"/>
          <p:cNvSpPr/>
          <p:nvPr/>
        </p:nvSpPr>
        <p:spPr>
          <a:xfrm>
            <a:off x="3346704" y="1417320"/>
            <a:ext cx="2697480" cy="288036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11" name="Shape 8"/>
          <p:cNvSpPr/>
          <p:nvPr/>
        </p:nvSpPr>
        <p:spPr>
          <a:xfrm>
            <a:off x="4411980" y="1645920"/>
            <a:ext cx="566928" cy="566928"/>
          </a:xfrm>
          <a:prstGeom prst="ellipse">
            <a:avLst/>
          </a:prstGeom>
          <a:solidFill>
            <a:srgbClr val="D9541E"/>
          </a:solidFill>
          <a:ln/>
        </p:spPr>
      </p:sp>
      <p:pic>
        <p:nvPicPr>
          <p:cNvPr id="12" name="Image 1" descr="preencoded.png">    </p:cNvPr>
          <p:cNvPicPr>
            <a:picLocks noChangeAspect="1"/>
          </p:cNvPicPr>
          <p:nvPr/>
        </p:nvPicPr>
        <p:blipFill>
          <a:blip r:embed="rId2"/>
          <a:stretch>
            <a:fillRect/>
          </a:stretch>
        </p:blipFill>
        <p:spPr>
          <a:xfrm>
            <a:off x="4559381" y="1793321"/>
            <a:ext cx="272125" cy="272125"/>
          </a:xfrm>
          <a:prstGeom prst="rect">
            <a:avLst/>
          </a:prstGeom>
        </p:spPr>
      </p:pic>
      <p:sp>
        <p:nvSpPr>
          <p:cNvPr id="13" name="Text 9"/>
          <p:cNvSpPr/>
          <p:nvPr/>
        </p:nvSpPr>
        <p:spPr>
          <a:xfrm>
            <a:off x="3483864" y="2331720"/>
            <a:ext cx="2423160" cy="320040"/>
          </a:xfrm>
          <a:prstGeom prst="rect">
            <a:avLst/>
          </a:prstGeom>
          <a:noFill/>
          <a:ln/>
        </p:spPr>
        <p:txBody>
          <a:bodyPr wrap="square" lIns="0" tIns="0" rIns="0" bIns="0" rtlCol="0" anchor="ctr"/>
          <a:lstStyle/>
          <a:p>
            <a:pPr algn="ctr" indent="0" marL="0">
              <a:buNone/>
            </a:pPr>
            <a:r>
              <a:rPr lang="en-US" sz="1300" b="1" dirty="0">
                <a:solidFill>
                  <a:srgbClr val="1F3347"/>
                </a:solidFill>
                <a:latin typeface="Calibri" pitchFamily="34" charset="0"/>
                <a:ea typeface="Calibri" pitchFamily="34" charset="-122"/>
                <a:cs typeface="Calibri" pitchFamily="34" charset="-120"/>
              </a:rPr>
              <a:t>2 · Biochimiques</a:t>
            </a:r>
            <a:endParaRPr lang="en-US" sz="1300" dirty="0"/>
          </a:p>
        </p:txBody>
      </p:sp>
      <p:sp>
        <p:nvSpPr>
          <p:cNvPr id="14" name="Text 10"/>
          <p:cNvSpPr/>
          <p:nvPr/>
        </p:nvSpPr>
        <p:spPr>
          <a:xfrm>
            <a:off x="3483864" y="2633472"/>
            <a:ext cx="2423160" cy="274320"/>
          </a:xfrm>
          <a:prstGeom prst="rect">
            <a:avLst/>
          </a:prstGeom>
          <a:noFill/>
          <a:ln/>
        </p:spPr>
        <p:txBody>
          <a:bodyPr wrap="square" lIns="0" tIns="0" rIns="0" bIns="0" rtlCol="0" anchor="ctr"/>
          <a:lstStyle/>
          <a:p>
            <a:pPr algn="ctr" indent="0" marL="0">
              <a:buNone/>
            </a:pPr>
            <a:r>
              <a:rPr lang="en-US" sz="1050" i="1" dirty="0">
                <a:solidFill>
                  <a:srgbClr val="5B7288"/>
                </a:solidFill>
                <a:latin typeface="Calibri" pitchFamily="34" charset="0"/>
                <a:ea typeface="Calibri" pitchFamily="34" charset="-122"/>
                <a:cs typeface="Calibri" pitchFamily="34" charset="-120"/>
              </a:rPr>
              <a:t>(syncope)</a:t>
            </a:r>
            <a:endParaRPr lang="en-US" sz="1050" dirty="0"/>
          </a:p>
        </p:txBody>
      </p:sp>
      <p:sp>
        <p:nvSpPr>
          <p:cNvPr id="15" name="Text 11"/>
          <p:cNvSpPr/>
          <p:nvPr/>
        </p:nvSpPr>
        <p:spPr>
          <a:xfrm>
            <a:off x="3547872" y="2971800"/>
            <a:ext cx="2295144" cy="12344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La composition des gaz du sang dérape : manque d'O₂, excès ou défaut de CO₂. L'ennemi nº 1 — les plus GRAVES.</a:t>
            </a:r>
            <a:endParaRPr lang="en-US" sz="1000" dirty="0"/>
          </a:p>
        </p:txBody>
      </p:sp>
      <p:sp>
        <p:nvSpPr>
          <p:cNvPr id="16" name="Shape 12"/>
          <p:cNvSpPr/>
          <p:nvPr/>
        </p:nvSpPr>
        <p:spPr>
          <a:xfrm>
            <a:off x="6144768" y="1417320"/>
            <a:ext cx="2697480" cy="288036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17" name="Shape 13"/>
          <p:cNvSpPr/>
          <p:nvPr/>
        </p:nvSpPr>
        <p:spPr>
          <a:xfrm>
            <a:off x="7210044" y="1645920"/>
            <a:ext cx="566928" cy="566928"/>
          </a:xfrm>
          <a:prstGeom prst="ellipse">
            <a:avLst/>
          </a:prstGeom>
          <a:solidFill>
            <a:srgbClr val="1C7293"/>
          </a:solidFill>
          <a:ln/>
        </p:spPr>
      </p:sp>
      <p:pic>
        <p:nvPicPr>
          <p:cNvPr id="18" name="Image 2" descr="preencoded.png">    </p:cNvPr>
          <p:cNvPicPr>
            <a:picLocks noChangeAspect="1"/>
          </p:cNvPicPr>
          <p:nvPr/>
        </p:nvPicPr>
        <p:blipFill>
          <a:blip r:embed="rId3"/>
          <a:stretch>
            <a:fillRect/>
          </a:stretch>
        </p:blipFill>
        <p:spPr>
          <a:xfrm>
            <a:off x="7357445" y="1793321"/>
            <a:ext cx="272125" cy="272125"/>
          </a:xfrm>
          <a:prstGeom prst="rect">
            <a:avLst/>
          </a:prstGeom>
        </p:spPr>
      </p:pic>
      <p:sp>
        <p:nvSpPr>
          <p:cNvPr id="19" name="Text 14"/>
          <p:cNvSpPr/>
          <p:nvPr/>
        </p:nvSpPr>
        <p:spPr>
          <a:xfrm>
            <a:off x="6281928" y="2331720"/>
            <a:ext cx="2423160" cy="320040"/>
          </a:xfrm>
          <a:prstGeom prst="rect">
            <a:avLst/>
          </a:prstGeom>
          <a:noFill/>
          <a:ln/>
        </p:spPr>
        <p:txBody>
          <a:bodyPr wrap="square" lIns="0" tIns="0" rIns="0" bIns="0" rtlCol="0" anchor="ctr"/>
          <a:lstStyle/>
          <a:p>
            <a:pPr algn="ctr" indent="0" marL="0">
              <a:buNone/>
            </a:pPr>
            <a:r>
              <a:rPr lang="en-US" sz="1300" b="1" dirty="0">
                <a:solidFill>
                  <a:srgbClr val="1F3347"/>
                </a:solidFill>
                <a:latin typeface="Calibri" pitchFamily="34" charset="0"/>
                <a:ea typeface="Calibri" pitchFamily="34" charset="-122"/>
                <a:cs typeface="Calibri" pitchFamily="34" charset="-120"/>
              </a:rPr>
              <a:t>3 · Biophysiques</a:t>
            </a:r>
            <a:endParaRPr lang="en-US" sz="1300" dirty="0"/>
          </a:p>
        </p:txBody>
      </p:sp>
      <p:sp>
        <p:nvSpPr>
          <p:cNvPr id="20" name="Text 15"/>
          <p:cNvSpPr/>
          <p:nvPr/>
        </p:nvSpPr>
        <p:spPr>
          <a:xfrm>
            <a:off x="6281928" y="2633472"/>
            <a:ext cx="2423160" cy="274320"/>
          </a:xfrm>
          <a:prstGeom prst="rect">
            <a:avLst/>
          </a:prstGeom>
          <a:noFill/>
          <a:ln/>
        </p:spPr>
        <p:txBody>
          <a:bodyPr wrap="square" lIns="0" tIns="0" rIns="0" bIns="0" rtlCol="0" anchor="ctr"/>
          <a:lstStyle/>
          <a:p>
            <a:pPr algn="ctr" indent="0" marL="0">
              <a:buNone/>
            </a:pPr>
            <a:r>
              <a:rPr lang="en-US" sz="1050" i="1" dirty="0">
                <a:solidFill>
                  <a:srgbClr val="5B7288"/>
                </a:solidFill>
                <a:latin typeface="Calibri" pitchFamily="34" charset="0"/>
                <a:ea typeface="Calibri" pitchFamily="34" charset="-122"/>
                <a:cs typeface="Calibri" pitchFamily="34" charset="-120"/>
              </a:rPr>
              <a:t>(taravana)</a:t>
            </a:r>
            <a:endParaRPr lang="en-US" sz="1050" dirty="0"/>
          </a:p>
        </p:txBody>
      </p:sp>
      <p:sp>
        <p:nvSpPr>
          <p:cNvPr id="21" name="Text 16"/>
          <p:cNvSpPr/>
          <p:nvPr/>
        </p:nvSpPr>
        <p:spPr>
          <a:xfrm>
            <a:off x="6345936" y="2971800"/>
            <a:ext cx="2295144" cy="12344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L'azote dissous sous pression repasse en bulles : l'accident de décompression de l'apnéiste.</a:t>
            </a:r>
            <a:endParaRPr lang="en-US" sz="1000" dirty="0"/>
          </a:p>
        </p:txBody>
      </p:sp>
      <p:sp>
        <p:nvSpPr>
          <p:cNvPr id="22" name="Shape 17"/>
          <p:cNvSpPr/>
          <p:nvPr/>
        </p:nvSpPr>
        <p:spPr>
          <a:xfrm>
            <a:off x="8942832" y="1417320"/>
            <a:ext cx="2697480" cy="288036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23" name="Shape 18"/>
          <p:cNvSpPr/>
          <p:nvPr/>
        </p:nvSpPr>
        <p:spPr>
          <a:xfrm>
            <a:off x="10008108" y="1645920"/>
            <a:ext cx="566928" cy="566928"/>
          </a:xfrm>
          <a:prstGeom prst="ellipse">
            <a:avLst/>
          </a:prstGeom>
          <a:solidFill>
            <a:srgbClr val="1C7293"/>
          </a:solidFill>
          <a:ln/>
        </p:spPr>
      </p:sp>
      <p:pic>
        <p:nvPicPr>
          <p:cNvPr id="24" name="Image 3" descr="preencoded.png">    </p:cNvPr>
          <p:cNvPicPr>
            <a:picLocks noChangeAspect="1"/>
          </p:cNvPicPr>
          <p:nvPr/>
        </p:nvPicPr>
        <p:blipFill>
          <a:blip r:embed="rId4"/>
          <a:stretch>
            <a:fillRect/>
          </a:stretch>
        </p:blipFill>
        <p:spPr>
          <a:xfrm>
            <a:off x="10155509" y="1793321"/>
            <a:ext cx="272125" cy="272125"/>
          </a:xfrm>
          <a:prstGeom prst="rect">
            <a:avLst/>
          </a:prstGeom>
        </p:spPr>
      </p:pic>
      <p:sp>
        <p:nvSpPr>
          <p:cNvPr id="25" name="Text 19"/>
          <p:cNvSpPr/>
          <p:nvPr/>
        </p:nvSpPr>
        <p:spPr>
          <a:xfrm>
            <a:off x="9079992" y="2331720"/>
            <a:ext cx="2423160" cy="320040"/>
          </a:xfrm>
          <a:prstGeom prst="rect">
            <a:avLst/>
          </a:prstGeom>
          <a:noFill/>
          <a:ln/>
        </p:spPr>
        <p:txBody>
          <a:bodyPr wrap="square" lIns="0" tIns="0" rIns="0" bIns="0" rtlCol="0" anchor="ctr"/>
          <a:lstStyle/>
          <a:p>
            <a:pPr algn="ctr" indent="0" marL="0">
              <a:buNone/>
            </a:pPr>
            <a:r>
              <a:rPr lang="en-US" sz="1300" b="1" dirty="0">
                <a:solidFill>
                  <a:srgbClr val="1F3347"/>
                </a:solidFill>
                <a:latin typeface="Calibri" pitchFamily="34" charset="0"/>
                <a:ea typeface="Calibri" pitchFamily="34" charset="-122"/>
                <a:cs typeface="Calibri" pitchFamily="34" charset="-120"/>
              </a:rPr>
              <a:t>4 · Autres</a:t>
            </a:r>
            <a:endParaRPr lang="en-US" sz="1300" dirty="0"/>
          </a:p>
        </p:txBody>
      </p:sp>
      <p:sp>
        <p:nvSpPr>
          <p:cNvPr id="26" name="Text 20"/>
          <p:cNvSpPr/>
          <p:nvPr/>
        </p:nvSpPr>
        <p:spPr>
          <a:xfrm>
            <a:off x="9079992" y="2633472"/>
            <a:ext cx="2423160" cy="274320"/>
          </a:xfrm>
          <a:prstGeom prst="rect">
            <a:avLst/>
          </a:prstGeom>
          <a:noFill/>
          <a:ln/>
        </p:spPr>
        <p:txBody>
          <a:bodyPr wrap="square" lIns="0" tIns="0" rIns="0" bIns="0" rtlCol="0" anchor="ctr"/>
          <a:lstStyle/>
          <a:p>
            <a:pPr algn="ctr" indent="0" marL="0">
              <a:buNone/>
            </a:pPr>
            <a:r>
              <a:rPr lang="en-US" sz="1050" i="1" dirty="0">
                <a:solidFill>
                  <a:srgbClr val="5B7288"/>
                </a:solidFill>
                <a:latin typeface="Calibri" pitchFamily="34" charset="0"/>
                <a:ea typeface="Calibri" pitchFamily="34" charset="-122"/>
                <a:cs typeface="Calibri" pitchFamily="34" charset="-120"/>
              </a:rPr>
              <a:t>(froid, milieu…)</a:t>
            </a:r>
            <a:endParaRPr lang="en-US" sz="1050" dirty="0"/>
          </a:p>
        </p:txBody>
      </p:sp>
      <p:sp>
        <p:nvSpPr>
          <p:cNvPr id="27" name="Text 21"/>
          <p:cNvSpPr/>
          <p:nvPr/>
        </p:nvSpPr>
        <p:spPr>
          <a:xfrm>
            <a:off x="9144000" y="2971800"/>
            <a:ext cx="2295144" cy="1234440"/>
          </a:xfrm>
          <a:prstGeom prst="rect">
            <a:avLst/>
          </a:prstGeom>
          <a:noFill/>
          <a:ln/>
        </p:spPr>
        <p:txBody>
          <a:bodyPr wrap="square" lIns="0" tIns="0" rIns="0" bIns="0" rtlCol="0" anchor="t"/>
          <a:lstStyle/>
          <a:p>
            <a:pPr indent="0" marL="0">
              <a:lnSpc>
                <a:spcPct val="108000"/>
              </a:lnSpc>
              <a:buNone/>
            </a:pPr>
            <a:r>
              <a:rPr lang="en-US" sz="1000" dirty="0">
                <a:solidFill>
                  <a:srgbClr val="5B7288"/>
                </a:solidFill>
                <a:latin typeface="Calibri" pitchFamily="34" charset="0"/>
                <a:ea typeface="Calibri" pitchFamily="34" charset="-122"/>
                <a:cs typeface="Calibri" pitchFamily="34" charset="-120"/>
              </a:rPr>
              <a:t>Hypothermie, hypoglycémie, bateaux, faune, noyade. Pas exotiques : l'hypothermie est l'incident le plus fréquent de nos séances.</a:t>
            </a:r>
            <a:endParaRPr lang="en-US" sz="1000" dirty="0"/>
          </a:p>
        </p:txBody>
      </p:sp>
      <p:sp>
        <p:nvSpPr>
          <p:cNvPr id="28" name="Shape 22"/>
          <p:cNvSpPr/>
          <p:nvPr/>
        </p:nvSpPr>
        <p:spPr>
          <a:xfrm>
            <a:off x="548640" y="4572000"/>
            <a:ext cx="11073384" cy="1508760"/>
          </a:xfrm>
          <a:prstGeom prst="roundRect">
            <a:avLst>
              <a:gd name="adj" fmla="val 5455"/>
            </a:avLst>
          </a:prstGeom>
          <a:solidFill>
            <a:srgbClr val="DCEBF5"/>
          </a:solidFill>
          <a:ln/>
          <a:effectLst>
            <a:outerShdw sx="100000" sy="100000" kx="0" ky="0" algn="bl" rotWithShape="0" blurRad="88900" dist="25400" dir="5400000">
              <a:srgbClr val="0A2942">
                <a:alpha val="16000"/>
              </a:srgbClr>
            </a:outerShdw>
          </a:effectLst>
        </p:spPr>
      </p:sp>
      <p:sp>
        <p:nvSpPr>
          <p:cNvPr id="29" name="Text 23"/>
          <p:cNvSpPr/>
          <p:nvPr/>
        </p:nvSpPr>
        <p:spPr>
          <a:xfrm>
            <a:off x="822960" y="4709160"/>
            <a:ext cx="10515600" cy="36576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La méthode : chaque accident en 5 rubriques, toujours dans le même ordre</a:t>
            </a:r>
            <a:endParaRPr lang="en-US" sz="1350" dirty="0"/>
          </a:p>
        </p:txBody>
      </p:sp>
      <p:sp>
        <p:nvSpPr>
          <p:cNvPr id="30" name="Shape 24"/>
          <p:cNvSpPr/>
          <p:nvPr/>
        </p:nvSpPr>
        <p:spPr>
          <a:xfrm>
            <a:off x="822960" y="5120640"/>
            <a:ext cx="2015338" cy="685800"/>
          </a:xfrm>
          <a:prstGeom prst="roundRect">
            <a:avLst>
              <a:gd name="adj" fmla="val 10667"/>
            </a:avLst>
          </a:prstGeom>
          <a:solidFill>
            <a:srgbClr val="1C7293"/>
          </a:solidFill>
          <a:ln/>
          <a:effectLst>
            <a:outerShdw sx="100000" sy="100000" kx="0" ky="0" algn="bl" rotWithShape="0" blurRad="88900" dist="25400" dir="5400000">
              <a:srgbClr val="0A2942">
                <a:alpha val="16000"/>
              </a:srgbClr>
            </a:outerShdw>
          </a:effectLst>
        </p:spPr>
      </p:sp>
      <p:sp>
        <p:nvSpPr>
          <p:cNvPr id="31" name="Text 25"/>
          <p:cNvSpPr/>
          <p:nvPr/>
        </p:nvSpPr>
        <p:spPr>
          <a:xfrm>
            <a:off x="1005840" y="5266944"/>
            <a:ext cx="1649578" cy="393192"/>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Mécanisme</a:t>
            </a:r>
            <a:endParaRPr lang="en-US" sz="1200" dirty="0"/>
          </a:p>
        </p:txBody>
      </p:sp>
      <p:sp>
        <p:nvSpPr>
          <p:cNvPr id="32" name="Text 26"/>
          <p:cNvSpPr/>
          <p:nvPr/>
        </p:nvSpPr>
        <p:spPr>
          <a:xfrm>
            <a:off x="2810866" y="523494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33" name="Shape 27"/>
          <p:cNvSpPr/>
          <p:nvPr/>
        </p:nvSpPr>
        <p:spPr>
          <a:xfrm>
            <a:off x="2948026" y="5120640"/>
            <a:ext cx="2015338" cy="685800"/>
          </a:xfrm>
          <a:prstGeom prst="roundRect">
            <a:avLst>
              <a:gd name="adj" fmla="val 10667"/>
            </a:avLst>
          </a:prstGeom>
          <a:solidFill>
            <a:srgbClr val="1C7293"/>
          </a:solidFill>
          <a:ln/>
          <a:effectLst>
            <a:outerShdw sx="100000" sy="100000" kx="0" ky="0" algn="bl" rotWithShape="0" blurRad="88900" dist="25400" dir="5400000">
              <a:srgbClr val="0A2942">
                <a:alpha val="16000"/>
              </a:srgbClr>
            </a:outerShdw>
          </a:effectLst>
        </p:spPr>
      </p:sp>
      <p:sp>
        <p:nvSpPr>
          <p:cNvPr id="34" name="Text 28"/>
          <p:cNvSpPr/>
          <p:nvPr/>
        </p:nvSpPr>
        <p:spPr>
          <a:xfrm>
            <a:off x="3130906" y="5266944"/>
            <a:ext cx="1649578" cy="393192"/>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Causes</a:t>
            </a:r>
            <a:endParaRPr lang="en-US" sz="1200" dirty="0"/>
          </a:p>
        </p:txBody>
      </p:sp>
      <p:sp>
        <p:nvSpPr>
          <p:cNvPr id="35" name="Text 29"/>
          <p:cNvSpPr/>
          <p:nvPr/>
        </p:nvSpPr>
        <p:spPr>
          <a:xfrm>
            <a:off x="4935931" y="523494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36" name="Shape 30"/>
          <p:cNvSpPr/>
          <p:nvPr/>
        </p:nvSpPr>
        <p:spPr>
          <a:xfrm>
            <a:off x="5073091" y="5120640"/>
            <a:ext cx="2015338" cy="685800"/>
          </a:xfrm>
          <a:prstGeom prst="roundRect">
            <a:avLst>
              <a:gd name="adj" fmla="val 10667"/>
            </a:avLst>
          </a:prstGeom>
          <a:solidFill>
            <a:srgbClr val="065A82"/>
          </a:solidFill>
          <a:ln/>
          <a:effectLst>
            <a:outerShdw sx="100000" sy="100000" kx="0" ky="0" algn="bl" rotWithShape="0" blurRad="88900" dist="25400" dir="5400000">
              <a:srgbClr val="0A2942">
                <a:alpha val="16000"/>
              </a:srgbClr>
            </a:outerShdw>
          </a:effectLst>
        </p:spPr>
      </p:sp>
      <p:sp>
        <p:nvSpPr>
          <p:cNvPr id="37" name="Text 31"/>
          <p:cNvSpPr/>
          <p:nvPr/>
        </p:nvSpPr>
        <p:spPr>
          <a:xfrm>
            <a:off x="5255971" y="5266944"/>
            <a:ext cx="1649578" cy="393192"/>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Symptômes</a:t>
            </a:r>
            <a:endParaRPr lang="en-US" sz="1200" dirty="0"/>
          </a:p>
        </p:txBody>
      </p:sp>
      <p:sp>
        <p:nvSpPr>
          <p:cNvPr id="38" name="Text 32"/>
          <p:cNvSpPr/>
          <p:nvPr/>
        </p:nvSpPr>
        <p:spPr>
          <a:xfrm>
            <a:off x="7060997" y="523494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39" name="Shape 33"/>
          <p:cNvSpPr/>
          <p:nvPr/>
        </p:nvSpPr>
        <p:spPr>
          <a:xfrm>
            <a:off x="7198157" y="5120640"/>
            <a:ext cx="2015338" cy="685800"/>
          </a:xfrm>
          <a:prstGeom prst="roundRect">
            <a:avLst>
              <a:gd name="adj" fmla="val 10667"/>
            </a:avLst>
          </a:prstGeom>
          <a:solidFill>
            <a:srgbClr val="D9541E"/>
          </a:solidFill>
          <a:ln/>
          <a:effectLst>
            <a:outerShdw sx="100000" sy="100000" kx="0" ky="0" algn="bl" rotWithShape="0" blurRad="88900" dist="25400" dir="5400000">
              <a:srgbClr val="0A2942">
                <a:alpha val="16000"/>
              </a:srgbClr>
            </a:outerShdw>
          </a:effectLst>
        </p:spPr>
      </p:sp>
      <p:sp>
        <p:nvSpPr>
          <p:cNvPr id="40" name="Text 34"/>
          <p:cNvSpPr/>
          <p:nvPr/>
        </p:nvSpPr>
        <p:spPr>
          <a:xfrm>
            <a:off x="7381037" y="5266944"/>
            <a:ext cx="1649578" cy="393192"/>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Conduite à tenir</a:t>
            </a:r>
            <a:endParaRPr lang="en-US" sz="1200" dirty="0"/>
          </a:p>
        </p:txBody>
      </p:sp>
      <p:sp>
        <p:nvSpPr>
          <p:cNvPr id="41" name="Text 35"/>
          <p:cNvSpPr/>
          <p:nvPr/>
        </p:nvSpPr>
        <p:spPr>
          <a:xfrm>
            <a:off x="9186062" y="523494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42" name="Shape 36"/>
          <p:cNvSpPr/>
          <p:nvPr/>
        </p:nvSpPr>
        <p:spPr>
          <a:xfrm>
            <a:off x="9323222" y="5120640"/>
            <a:ext cx="2015338" cy="685800"/>
          </a:xfrm>
          <a:prstGeom prst="roundRect">
            <a:avLst>
              <a:gd name="adj" fmla="val 10667"/>
            </a:avLst>
          </a:prstGeom>
          <a:solidFill>
            <a:srgbClr val="2C8C5A"/>
          </a:solidFill>
          <a:ln/>
          <a:effectLst>
            <a:outerShdw sx="100000" sy="100000" kx="0" ky="0" algn="bl" rotWithShape="0" blurRad="88900" dist="25400" dir="5400000">
              <a:srgbClr val="0A2942">
                <a:alpha val="16000"/>
              </a:srgbClr>
            </a:outerShdw>
          </a:effectLst>
        </p:spPr>
      </p:sp>
      <p:sp>
        <p:nvSpPr>
          <p:cNvPr id="43" name="Text 37"/>
          <p:cNvSpPr/>
          <p:nvPr/>
        </p:nvSpPr>
        <p:spPr>
          <a:xfrm>
            <a:off x="9506102" y="5266944"/>
            <a:ext cx="1649578" cy="393192"/>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Prévention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ACCIDENTS MÉCANIQUES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principe unique des barotraumatismes</a:t>
            </a:r>
            <a:endParaRPr lang="en-US" sz="2800" dirty="0"/>
          </a:p>
        </p:txBody>
      </p:sp>
      <p:sp>
        <p:nvSpPr>
          <p:cNvPr id="4" name="Shape 2"/>
          <p:cNvSpPr/>
          <p:nvPr/>
        </p:nvSpPr>
        <p:spPr>
          <a:xfrm>
            <a:off x="548640" y="1371600"/>
            <a:ext cx="11073384" cy="1097280"/>
          </a:xfrm>
          <a:prstGeom prst="roundRect">
            <a:avLst>
              <a:gd name="adj" fmla="val 7500"/>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22960" y="1435608"/>
            <a:ext cx="10515600" cy="960120"/>
          </a:xfrm>
          <a:prstGeom prst="rect">
            <a:avLst/>
          </a:prstGeom>
          <a:noFill/>
          <a:ln/>
        </p:spPr>
        <p:txBody>
          <a:bodyPr wrap="square" lIns="0" tIns="0" rIns="0" bIns="0" rtlCol="0" anchor="ctr"/>
          <a:lstStyle/>
          <a:p>
            <a:pPr indent="0" marL="0">
              <a:lnSpc>
                <a:spcPct val="112000"/>
              </a:lnSpc>
              <a:buNone/>
            </a:pPr>
            <a:r>
              <a:rPr lang="en-US" sz="1400" b="1" dirty="0">
                <a:solidFill>
                  <a:srgbClr val="065A82"/>
                </a:solidFill>
                <a:latin typeface="Calibri" pitchFamily="34" charset="0"/>
                <a:ea typeface="Calibri" pitchFamily="34" charset="-122"/>
                <a:cs typeface="Calibri" pitchFamily="34" charset="-120"/>
              </a:rPr>
              <a:t>Cavités de gaz du corps humain + loi de Boyle-Mariotte = barotraumatismes.  </a:t>
            </a:r>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Dès qu'une cavité ne peut pas s'équilibrer avec le milieu, la contrainte s'exerce sur ses parois — à la descente (écrasement) comme à la remontée (dilatation).</a:t>
            </a:r>
            <a:endParaRPr lang="en-US" sz="1400" dirty="0"/>
          </a:p>
        </p:txBody>
      </p:sp>
      <p:sp>
        <p:nvSpPr>
          <p:cNvPr id="6" name="Text 4"/>
          <p:cNvSpPr/>
          <p:nvPr/>
        </p:nvSpPr>
        <p:spPr>
          <a:xfrm>
            <a:off x="548640" y="2697480"/>
            <a:ext cx="7315200" cy="320040"/>
          </a:xfrm>
          <a:prstGeom prst="rect">
            <a:avLst/>
          </a:prstGeom>
          <a:noFill/>
          <a:ln/>
        </p:spPr>
        <p:txBody>
          <a:bodyPr wrap="square" lIns="0" tIns="0" rIns="0" bIns="0" rtlCol="0" anchor="ctr"/>
          <a:lstStyle/>
          <a:p>
            <a:pPr indent="0" marL="0">
              <a:buNone/>
            </a:pPr>
            <a:r>
              <a:rPr lang="en-US" sz="1350" b="1" dirty="0">
                <a:solidFill>
                  <a:srgbClr val="1F3347"/>
                </a:solidFill>
                <a:latin typeface="Calibri" pitchFamily="34" charset="0"/>
                <a:ea typeface="Calibri" pitchFamily="34" charset="-122"/>
                <a:cs typeface="Calibri" pitchFamily="34" charset="-120"/>
              </a:rPr>
              <a:t>L'inventaire : cinq cavités, cinq fiches</a:t>
            </a:r>
            <a:endParaRPr lang="en-US" sz="1350" dirty="0"/>
          </a:p>
        </p:txBody>
      </p:sp>
      <p:sp>
        <p:nvSpPr>
          <p:cNvPr id="7" name="Shape 5"/>
          <p:cNvSpPr/>
          <p:nvPr/>
        </p:nvSpPr>
        <p:spPr>
          <a:xfrm>
            <a:off x="548640" y="3108960"/>
            <a:ext cx="2157984" cy="2286000"/>
          </a:xfrm>
          <a:prstGeom prst="roundRect">
            <a:avLst>
              <a:gd name="adj" fmla="val 3814"/>
            </a:avLst>
          </a:prstGeom>
          <a:solidFill>
            <a:srgbClr val="F2F7FB"/>
          </a:solidFill>
          <a:ln/>
          <a:effectLst>
            <a:outerShdw sx="100000" sy="100000" kx="0" ky="0" algn="bl" rotWithShape="0" blurRad="88900" dist="25400" dir="5400000">
              <a:srgbClr val="0A2942">
                <a:alpha val="16000"/>
              </a:srgbClr>
            </a:outerShdw>
          </a:effectLst>
        </p:spPr>
      </p:sp>
      <p:sp>
        <p:nvSpPr>
          <p:cNvPr id="8" name="Shape 6"/>
          <p:cNvSpPr/>
          <p:nvPr/>
        </p:nvSpPr>
        <p:spPr>
          <a:xfrm>
            <a:off x="1353312" y="3337560"/>
            <a:ext cx="548640" cy="548640"/>
          </a:xfrm>
          <a:prstGeom prst="ellipse">
            <a:avLst/>
          </a:prstGeom>
          <a:solidFill>
            <a:srgbClr val="065A82"/>
          </a:solidFill>
          <a:ln/>
        </p:spPr>
      </p:sp>
      <p:pic>
        <p:nvPicPr>
          <p:cNvPr id="9" name="Image 0" descr="preencoded.png">    </p:cNvPr>
          <p:cNvPicPr>
            <a:picLocks noChangeAspect="1"/>
          </p:cNvPicPr>
          <p:nvPr/>
        </p:nvPicPr>
        <p:blipFill>
          <a:blip r:embed="rId1"/>
          <a:stretch>
            <a:fillRect/>
          </a:stretch>
        </p:blipFill>
        <p:spPr>
          <a:xfrm>
            <a:off x="1495958" y="3480206"/>
            <a:ext cx="263347" cy="263347"/>
          </a:xfrm>
          <a:prstGeom prst="rect">
            <a:avLst/>
          </a:prstGeom>
        </p:spPr>
      </p:pic>
      <p:sp>
        <p:nvSpPr>
          <p:cNvPr id="10" name="Text 7"/>
          <p:cNvSpPr/>
          <p:nvPr/>
        </p:nvSpPr>
        <p:spPr>
          <a:xfrm>
            <a:off x="658368" y="4023360"/>
            <a:ext cx="1938528" cy="502920"/>
          </a:xfrm>
          <a:prstGeom prst="rect">
            <a:avLst/>
          </a:prstGeom>
          <a:noFill/>
          <a:ln/>
        </p:spPr>
        <p:txBody>
          <a:bodyPr wrap="square" lIns="0" tIns="0" rIns="0" bIns="0" rtlCol="0" anchor="ctr"/>
          <a:lstStyle/>
          <a:p>
            <a:pPr algn="ctr" indent="0" marL="0">
              <a:lnSpc>
                <a:spcPct val="100000"/>
              </a:lnSpc>
              <a:buNone/>
            </a:pPr>
            <a:r>
              <a:rPr lang="en-US" sz="1200" b="1" dirty="0">
                <a:solidFill>
                  <a:srgbClr val="1F3347"/>
                </a:solidFill>
                <a:latin typeface="Calibri" pitchFamily="34" charset="0"/>
                <a:ea typeface="Calibri" pitchFamily="34" charset="-122"/>
                <a:cs typeface="Calibri" pitchFamily="34" charset="-120"/>
              </a:rPr>
              <a:t>Oreille moyenne</a:t>
            </a:r>
            <a:endParaRPr lang="en-US" sz="1200" dirty="0"/>
          </a:p>
        </p:txBody>
      </p:sp>
      <p:sp>
        <p:nvSpPr>
          <p:cNvPr id="11" name="Text 8"/>
          <p:cNvSpPr/>
          <p:nvPr/>
        </p:nvSpPr>
        <p:spPr>
          <a:xfrm>
            <a:off x="658368" y="4526280"/>
            <a:ext cx="1938528" cy="502920"/>
          </a:xfrm>
          <a:prstGeom prst="rect">
            <a:avLst/>
          </a:prstGeom>
          <a:noFill/>
          <a:ln/>
        </p:spPr>
        <p:txBody>
          <a:bodyPr wrap="square" lIns="0" tIns="0" rIns="0" bIns="0" rtlCol="0" anchor="ctr"/>
          <a:lstStyle/>
          <a:p>
            <a:pPr algn="ctr" indent="0" marL="0">
              <a:lnSpc>
                <a:spcPct val="102000"/>
              </a:lnSpc>
              <a:buNone/>
            </a:pPr>
            <a:r>
              <a:rPr lang="en-US" sz="1000" i="1" dirty="0">
                <a:solidFill>
                  <a:srgbClr val="5B7288"/>
                </a:solidFill>
                <a:latin typeface="Calibri" pitchFamily="34" charset="0"/>
                <a:ea typeface="Calibri" pitchFamily="34" charset="-122"/>
                <a:cs typeface="Calibri" pitchFamily="34" charset="-120"/>
              </a:rPr>
              <a:t>LE plus fréquent</a:t>
            </a:r>
            <a:endParaRPr lang="en-US" sz="1000" dirty="0"/>
          </a:p>
        </p:txBody>
      </p:sp>
      <p:sp>
        <p:nvSpPr>
          <p:cNvPr id="12" name="Text 9"/>
          <p:cNvSpPr/>
          <p:nvPr/>
        </p:nvSpPr>
        <p:spPr>
          <a:xfrm>
            <a:off x="658368" y="5047488"/>
            <a:ext cx="1938528" cy="274320"/>
          </a:xfrm>
          <a:prstGeom prst="rect">
            <a:avLst/>
          </a:prstGeom>
          <a:noFill/>
          <a:ln/>
        </p:spPr>
        <p:txBody>
          <a:bodyPr wrap="square" lIns="0" tIns="0" rIns="0" bIns="0"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diapos 39–41</a:t>
            </a:r>
            <a:endParaRPr lang="en-US" sz="900" dirty="0"/>
          </a:p>
        </p:txBody>
      </p:sp>
      <p:sp>
        <p:nvSpPr>
          <p:cNvPr id="13" name="Shape 10"/>
          <p:cNvSpPr/>
          <p:nvPr/>
        </p:nvSpPr>
        <p:spPr>
          <a:xfrm>
            <a:off x="2779776" y="3108960"/>
            <a:ext cx="2157984" cy="2286000"/>
          </a:xfrm>
          <a:prstGeom prst="roundRect">
            <a:avLst>
              <a:gd name="adj" fmla="val 3814"/>
            </a:avLst>
          </a:prstGeom>
          <a:solidFill>
            <a:srgbClr val="F2F7FB"/>
          </a:solidFill>
          <a:ln/>
          <a:effectLst>
            <a:outerShdw sx="100000" sy="100000" kx="0" ky="0" algn="bl" rotWithShape="0" blurRad="88900" dist="25400" dir="5400000">
              <a:srgbClr val="0A2942">
                <a:alpha val="16000"/>
              </a:srgbClr>
            </a:outerShdw>
          </a:effectLst>
        </p:spPr>
      </p:sp>
      <p:sp>
        <p:nvSpPr>
          <p:cNvPr id="14" name="Shape 11"/>
          <p:cNvSpPr/>
          <p:nvPr/>
        </p:nvSpPr>
        <p:spPr>
          <a:xfrm>
            <a:off x="3584448" y="3337560"/>
            <a:ext cx="548640" cy="548640"/>
          </a:xfrm>
          <a:prstGeom prst="ellipse">
            <a:avLst/>
          </a:prstGeom>
          <a:solidFill>
            <a:srgbClr val="065A82"/>
          </a:solidFill>
          <a:ln/>
        </p:spPr>
      </p:sp>
      <p:pic>
        <p:nvPicPr>
          <p:cNvPr id="15" name="Image 1" descr="preencoded.png">    </p:cNvPr>
          <p:cNvPicPr>
            <a:picLocks noChangeAspect="1"/>
          </p:cNvPicPr>
          <p:nvPr/>
        </p:nvPicPr>
        <p:blipFill>
          <a:blip r:embed="rId2"/>
          <a:stretch>
            <a:fillRect/>
          </a:stretch>
        </p:blipFill>
        <p:spPr>
          <a:xfrm>
            <a:off x="3727094" y="3480206"/>
            <a:ext cx="263347" cy="263347"/>
          </a:xfrm>
          <a:prstGeom prst="rect">
            <a:avLst/>
          </a:prstGeom>
        </p:spPr>
      </p:pic>
      <p:sp>
        <p:nvSpPr>
          <p:cNvPr id="16" name="Text 12"/>
          <p:cNvSpPr/>
          <p:nvPr/>
        </p:nvSpPr>
        <p:spPr>
          <a:xfrm>
            <a:off x="2889504" y="4023360"/>
            <a:ext cx="1938528" cy="502920"/>
          </a:xfrm>
          <a:prstGeom prst="rect">
            <a:avLst/>
          </a:prstGeom>
          <a:noFill/>
          <a:ln/>
        </p:spPr>
        <p:txBody>
          <a:bodyPr wrap="square" lIns="0" tIns="0" rIns="0" bIns="0" rtlCol="0" anchor="ctr"/>
          <a:lstStyle/>
          <a:p>
            <a:pPr algn="ctr" indent="0" marL="0">
              <a:lnSpc>
                <a:spcPct val="100000"/>
              </a:lnSpc>
              <a:buNone/>
            </a:pPr>
            <a:r>
              <a:rPr lang="en-US" sz="1200" b="1" dirty="0">
                <a:solidFill>
                  <a:srgbClr val="1F3347"/>
                </a:solidFill>
                <a:latin typeface="Calibri" pitchFamily="34" charset="0"/>
                <a:ea typeface="Calibri" pitchFamily="34" charset="-122"/>
                <a:cs typeface="Calibri" pitchFamily="34" charset="-120"/>
              </a:rPr>
              <a:t>Sinus</a:t>
            </a:r>
            <a:endParaRPr lang="en-US" sz="1200" dirty="0"/>
          </a:p>
        </p:txBody>
      </p:sp>
      <p:sp>
        <p:nvSpPr>
          <p:cNvPr id="17" name="Text 13"/>
          <p:cNvSpPr/>
          <p:nvPr/>
        </p:nvSpPr>
        <p:spPr>
          <a:xfrm>
            <a:off x="2889504" y="4526280"/>
            <a:ext cx="1938528" cy="502920"/>
          </a:xfrm>
          <a:prstGeom prst="rect">
            <a:avLst/>
          </a:prstGeom>
          <a:noFill/>
          <a:ln/>
        </p:spPr>
        <p:txBody>
          <a:bodyPr wrap="square" lIns="0" tIns="0" rIns="0" bIns="0" rtlCol="0" anchor="ctr"/>
          <a:lstStyle/>
          <a:p>
            <a:pPr algn="ctr" indent="0" marL="0">
              <a:lnSpc>
                <a:spcPct val="102000"/>
              </a:lnSpc>
              <a:buNone/>
            </a:pPr>
            <a:r>
              <a:rPr lang="en-US" sz="1000" i="1" dirty="0">
                <a:solidFill>
                  <a:srgbClr val="5B7288"/>
                </a:solidFill>
                <a:latin typeface="Calibri" pitchFamily="34" charset="0"/>
                <a:ea typeface="Calibri" pitchFamily="34" charset="-122"/>
                <a:cs typeface="Calibri" pitchFamily="34" charset="-120"/>
              </a:rPr>
              <a:t>aucune manœuvre possible</a:t>
            </a:r>
            <a:endParaRPr lang="en-US" sz="1000" dirty="0"/>
          </a:p>
        </p:txBody>
      </p:sp>
      <p:sp>
        <p:nvSpPr>
          <p:cNvPr id="18" name="Text 14"/>
          <p:cNvSpPr/>
          <p:nvPr/>
        </p:nvSpPr>
        <p:spPr>
          <a:xfrm>
            <a:off x="2889504" y="5047488"/>
            <a:ext cx="1938528" cy="274320"/>
          </a:xfrm>
          <a:prstGeom prst="rect">
            <a:avLst/>
          </a:prstGeom>
          <a:noFill/>
          <a:ln/>
        </p:spPr>
        <p:txBody>
          <a:bodyPr wrap="square" lIns="0" tIns="0" rIns="0" bIns="0"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diapos 42–43</a:t>
            </a:r>
            <a:endParaRPr lang="en-US" sz="900" dirty="0"/>
          </a:p>
        </p:txBody>
      </p:sp>
      <p:sp>
        <p:nvSpPr>
          <p:cNvPr id="19" name="Shape 15"/>
          <p:cNvSpPr/>
          <p:nvPr/>
        </p:nvSpPr>
        <p:spPr>
          <a:xfrm>
            <a:off x="5010912" y="3108960"/>
            <a:ext cx="2157984" cy="2286000"/>
          </a:xfrm>
          <a:prstGeom prst="roundRect">
            <a:avLst>
              <a:gd name="adj" fmla="val 3814"/>
            </a:avLst>
          </a:prstGeom>
          <a:solidFill>
            <a:srgbClr val="F2F7FB"/>
          </a:solidFill>
          <a:ln/>
          <a:effectLst>
            <a:outerShdw sx="100000" sy="100000" kx="0" ky="0" algn="bl" rotWithShape="0" blurRad="88900" dist="25400" dir="5400000">
              <a:srgbClr val="0A2942">
                <a:alpha val="16000"/>
              </a:srgbClr>
            </a:outerShdw>
          </a:effectLst>
        </p:spPr>
      </p:sp>
      <p:sp>
        <p:nvSpPr>
          <p:cNvPr id="20" name="Shape 16"/>
          <p:cNvSpPr/>
          <p:nvPr/>
        </p:nvSpPr>
        <p:spPr>
          <a:xfrm>
            <a:off x="5815584" y="3337560"/>
            <a:ext cx="548640" cy="548640"/>
          </a:xfrm>
          <a:prstGeom prst="ellipse">
            <a:avLst/>
          </a:prstGeom>
          <a:solidFill>
            <a:srgbClr val="065A82"/>
          </a:solidFill>
          <a:ln/>
        </p:spPr>
      </p:sp>
      <p:pic>
        <p:nvPicPr>
          <p:cNvPr id="21" name="Image 2" descr="preencoded.png">    </p:cNvPr>
          <p:cNvPicPr>
            <a:picLocks noChangeAspect="1"/>
          </p:cNvPicPr>
          <p:nvPr/>
        </p:nvPicPr>
        <p:blipFill>
          <a:blip r:embed="rId3"/>
          <a:stretch>
            <a:fillRect/>
          </a:stretch>
        </p:blipFill>
        <p:spPr>
          <a:xfrm>
            <a:off x="5958230" y="3480206"/>
            <a:ext cx="263347" cy="263347"/>
          </a:xfrm>
          <a:prstGeom prst="rect">
            <a:avLst/>
          </a:prstGeom>
        </p:spPr>
      </p:pic>
      <p:sp>
        <p:nvSpPr>
          <p:cNvPr id="22" name="Text 17"/>
          <p:cNvSpPr/>
          <p:nvPr/>
        </p:nvSpPr>
        <p:spPr>
          <a:xfrm>
            <a:off x="5120640" y="4023360"/>
            <a:ext cx="1938528" cy="502920"/>
          </a:xfrm>
          <a:prstGeom prst="rect">
            <a:avLst/>
          </a:prstGeom>
          <a:noFill/>
          <a:ln/>
        </p:spPr>
        <p:txBody>
          <a:bodyPr wrap="square" lIns="0" tIns="0" rIns="0" bIns="0" rtlCol="0" anchor="ctr"/>
          <a:lstStyle/>
          <a:p>
            <a:pPr algn="ctr" indent="0" marL="0">
              <a:lnSpc>
                <a:spcPct val="100000"/>
              </a:lnSpc>
              <a:buNone/>
            </a:pPr>
            <a:r>
              <a:rPr lang="en-US" sz="1200" b="1" dirty="0">
                <a:solidFill>
                  <a:srgbClr val="1F3347"/>
                </a:solidFill>
                <a:latin typeface="Calibri" pitchFamily="34" charset="0"/>
                <a:ea typeface="Calibri" pitchFamily="34" charset="-122"/>
                <a:cs typeface="Calibri" pitchFamily="34" charset="-120"/>
              </a:rPr>
              <a:t>Masque</a:t>
            </a:r>
            <a:endParaRPr lang="en-US" sz="1200" dirty="0"/>
          </a:p>
        </p:txBody>
      </p:sp>
      <p:sp>
        <p:nvSpPr>
          <p:cNvPr id="23" name="Text 18"/>
          <p:cNvSpPr/>
          <p:nvPr/>
        </p:nvSpPr>
        <p:spPr>
          <a:xfrm>
            <a:off x="5120640" y="4526280"/>
            <a:ext cx="1938528" cy="502920"/>
          </a:xfrm>
          <a:prstGeom prst="rect">
            <a:avLst/>
          </a:prstGeom>
          <a:noFill/>
          <a:ln/>
        </p:spPr>
        <p:txBody>
          <a:bodyPr wrap="square" lIns="0" tIns="0" rIns="0" bIns="0" rtlCol="0" anchor="ctr"/>
          <a:lstStyle/>
          <a:p>
            <a:pPr algn="ctr" indent="0" marL="0">
              <a:lnSpc>
                <a:spcPct val="102000"/>
              </a:lnSpc>
              <a:buNone/>
            </a:pPr>
            <a:r>
              <a:rPr lang="en-US" sz="1000" i="1" dirty="0">
                <a:solidFill>
                  <a:srgbClr val="5B7288"/>
                </a:solidFill>
                <a:latin typeface="Calibri" pitchFamily="34" charset="0"/>
                <a:ea typeface="Calibri" pitchFamily="34" charset="-122"/>
                <a:cs typeface="Calibri" pitchFamily="34" charset="-120"/>
              </a:rPr>
              <a:t>la cavité qu'on ajoute</a:t>
            </a:r>
            <a:endParaRPr lang="en-US" sz="1000" dirty="0"/>
          </a:p>
        </p:txBody>
      </p:sp>
      <p:sp>
        <p:nvSpPr>
          <p:cNvPr id="24" name="Text 19"/>
          <p:cNvSpPr/>
          <p:nvPr/>
        </p:nvSpPr>
        <p:spPr>
          <a:xfrm>
            <a:off x="5120640" y="5047488"/>
            <a:ext cx="1938528" cy="274320"/>
          </a:xfrm>
          <a:prstGeom prst="rect">
            <a:avLst/>
          </a:prstGeom>
          <a:noFill/>
          <a:ln/>
        </p:spPr>
        <p:txBody>
          <a:bodyPr wrap="square" lIns="0" tIns="0" rIns="0" bIns="0"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diapo 44</a:t>
            </a:r>
            <a:endParaRPr lang="en-US" sz="900" dirty="0"/>
          </a:p>
        </p:txBody>
      </p:sp>
      <p:sp>
        <p:nvSpPr>
          <p:cNvPr id="25" name="Shape 20"/>
          <p:cNvSpPr/>
          <p:nvPr/>
        </p:nvSpPr>
        <p:spPr>
          <a:xfrm>
            <a:off x="7242048" y="3108960"/>
            <a:ext cx="2157984" cy="2286000"/>
          </a:xfrm>
          <a:prstGeom prst="roundRect">
            <a:avLst>
              <a:gd name="adj" fmla="val 3814"/>
            </a:avLst>
          </a:prstGeom>
          <a:solidFill>
            <a:srgbClr val="F2F7FB"/>
          </a:solidFill>
          <a:ln/>
          <a:effectLst>
            <a:outerShdw sx="100000" sy="100000" kx="0" ky="0" algn="bl" rotWithShape="0" blurRad="88900" dist="25400" dir="5400000">
              <a:srgbClr val="0A2942">
                <a:alpha val="16000"/>
              </a:srgbClr>
            </a:outerShdw>
          </a:effectLst>
        </p:spPr>
      </p:sp>
      <p:sp>
        <p:nvSpPr>
          <p:cNvPr id="26" name="Shape 21"/>
          <p:cNvSpPr/>
          <p:nvPr/>
        </p:nvSpPr>
        <p:spPr>
          <a:xfrm>
            <a:off x="8046720" y="3337560"/>
            <a:ext cx="548640" cy="548640"/>
          </a:xfrm>
          <a:prstGeom prst="ellipse">
            <a:avLst/>
          </a:prstGeom>
          <a:solidFill>
            <a:srgbClr val="D9541E"/>
          </a:solidFill>
          <a:ln/>
        </p:spPr>
      </p:sp>
      <p:pic>
        <p:nvPicPr>
          <p:cNvPr id="27" name="Image 3" descr="preencoded.png">    </p:cNvPr>
          <p:cNvPicPr>
            <a:picLocks noChangeAspect="1"/>
          </p:cNvPicPr>
          <p:nvPr/>
        </p:nvPicPr>
        <p:blipFill>
          <a:blip r:embed="rId4"/>
          <a:stretch>
            <a:fillRect/>
          </a:stretch>
        </p:blipFill>
        <p:spPr>
          <a:xfrm>
            <a:off x="8189366" y="3480206"/>
            <a:ext cx="263347" cy="263347"/>
          </a:xfrm>
          <a:prstGeom prst="rect">
            <a:avLst/>
          </a:prstGeom>
        </p:spPr>
      </p:pic>
      <p:sp>
        <p:nvSpPr>
          <p:cNvPr id="28" name="Text 22"/>
          <p:cNvSpPr/>
          <p:nvPr/>
        </p:nvSpPr>
        <p:spPr>
          <a:xfrm>
            <a:off x="7351776" y="4023360"/>
            <a:ext cx="1938528" cy="502920"/>
          </a:xfrm>
          <a:prstGeom prst="rect">
            <a:avLst/>
          </a:prstGeom>
          <a:noFill/>
          <a:ln/>
        </p:spPr>
        <p:txBody>
          <a:bodyPr wrap="square" lIns="0" tIns="0" rIns="0" bIns="0" rtlCol="0" anchor="ctr"/>
          <a:lstStyle/>
          <a:p>
            <a:pPr algn="ctr" indent="0" marL="0">
              <a:lnSpc>
                <a:spcPct val="100000"/>
              </a:lnSpc>
              <a:buNone/>
            </a:pPr>
            <a:r>
              <a:rPr lang="en-US" sz="1200" b="1" dirty="0">
                <a:solidFill>
                  <a:srgbClr val="1F3347"/>
                </a:solidFill>
                <a:latin typeface="Calibri" pitchFamily="34" charset="0"/>
                <a:ea typeface="Calibri" pitchFamily="34" charset="-122"/>
                <a:cs typeface="Calibri" pitchFamily="34" charset="-120"/>
              </a:rPr>
              <a:t>Poumons</a:t>
            </a:r>
            <a:endParaRPr lang="en-US" sz="1200" dirty="0"/>
          </a:p>
        </p:txBody>
      </p:sp>
      <p:sp>
        <p:nvSpPr>
          <p:cNvPr id="29" name="Text 23"/>
          <p:cNvSpPr/>
          <p:nvPr/>
        </p:nvSpPr>
        <p:spPr>
          <a:xfrm>
            <a:off x="7351776" y="4526280"/>
            <a:ext cx="1938528" cy="502920"/>
          </a:xfrm>
          <a:prstGeom prst="rect">
            <a:avLst/>
          </a:prstGeom>
          <a:noFill/>
          <a:ln/>
        </p:spPr>
        <p:txBody>
          <a:bodyPr wrap="square" lIns="0" tIns="0" rIns="0" bIns="0" rtlCol="0" anchor="ctr"/>
          <a:lstStyle/>
          <a:p>
            <a:pPr algn="ctr" indent="0" marL="0">
              <a:lnSpc>
                <a:spcPct val="102000"/>
              </a:lnSpc>
              <a:buNone/>
            </a:pPr>
            <a:r>
              <a:rPr lang="en-US" sz="1000" i="1" dirty="0">
                <a:solidFill>
                  <a:srgbClr val="5B7288"/>
                </a:solidFill>
                <a:latin typeface="Calibri" pitchFamily="34" charset="0"/>
                <a:ea typeface="Calibri" pitchFamily="34" charset="-122"/>
                <a:cs typeface="Calibri" pitchFamily="34" charset="-120"/>
              </a:rPr>
              <a:t>le seul qui peut tuer</a:t>
            </a:r>
            <a:endParaRPr lang="en-US" sz="1000" dirty="0"/>
          </a:p>
        </p:txBody>
      </p:sp>
      <p:sp>
        <p:nvSpPr>
          <p:cNvPr id="30" name="Text 24"/>
          <p:cNvSpPr/>
          <p:nvPr/>
        </p:nvSpPr>
        <p:spPr>
          <a:xfrm>
            <a:off x="7351776" y="5047488"/>
            <a:ext cx="1938528" cy="274320"/>
          </a:xfrm>
          <a:prstGeom prst="rect">
            <a:avLst/>
          </a:prstGeom>
          <a:noFill/>
          <a:ln/>
        </p:spPr>
        <p:txBody>
          <a:bodyPr wrap="square" lIns="0" tIns="0" rIns="0" bIns="0"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diapos 45–46</a:t>
            </a:r>
            <a:endParaRPr lang="en-US" sz="900" dirty="0"/>
          </a:p>
        </p:txBody>
      </p:sp>
      <p:sp>
        <p:nvSpPr>
          <p:cNvPr id="31" name="Shape 25"/>
          <p:cNvSpPr/>
          <p:nvPr/>
        </p:nvSpPr>
        <p:spPr>
          <a:xfrm>
            <a:off x="9473184" y="3108960"/>
            <a:ext cx="2157984" cy="2286000"/>
          </a:xfrm>
          <a:prstGeom prst="roundRect">
            <a:avLst>
              <a:gd name="adj" fmla="val 3814"/>
            </a:avLst>
          </a:prstGeom>
          <a:solidFill>
            <a:srgbClr val="F2F7FB"/>
          </a:solidFill>
          <a:ln/>
          <a:effectLst>
            <a:outerShdw sx="100000" sy="100000" kx="0" ky="0" algn="bl" rotWithShape="0" blurRad="88900" dist="25400" dir="5400000">
              <a:srgbClr val="0A2942">
                <a:alpha val="16000"/>
              </a:srgbClr>
            </a:outerShdw>
          </a:effectLst>
        </p:spPr>
      </p:sp>
      <p:sp>
        <p:nvSpPr>
          <p:cNvPr id="32" name="Shape 26"/>
          <p:cNvSpPr/>
          <p:nvPr/>
        </p:nvSpPr>
        <p:spPr>
          <a:xfrm>
            <a:off x="10277856" y="3337560"/>
            <a:ext cx="548640" cy="548640"/>
          </a:xfrm>
          <a:prstGeom prst="ellipse">
            <a:avLst/>
          </a:prstGeom>
          <a:solidFill>
            <a:srgbClr val="065A82"/>
          </a:solidFill>
          <a:ln/>
        </p:spPr>
      </p:sp>
      <p:pic>
        <p:nvPicPr>
          <p:cNvPr id="33" name="Image 4" descr="preencoded.png">    </p:cNvPr>
          <p:cNvPicPr>
            <a:picLocks noChangeAspect="1"/>
          </p:cNvPicPr>
          <p:nvPr/>
        </p:nvPicPr>
        <p:blipFill>
          <a:blip r:embed="rId5"/>
          <a:stretch>
            <a:fillRect/>
          </a:stretch>
        </p:blipFill>
        <p:spPr>
          <a:xfrm>
            <a:off x="10420502" y="3480206"/>
            <a:ext cx="263347" cy="263347"/>
          </a:xfrm>
          <a:prstGeom prst="rect">
            <a:avLst/>
          </a:prstGeom>
        </p:spPr>
      </p:pic>
      <p:sp>
        <p:nvSpPr>
          <p:cNvPr id="34" name="Text 27"/>
          <p:cNvSpPr/>
          <p:nvPr/>
        </p:nvSpPr>
        <p:spPr>
          <a:xfrm>
            <a:off x="9582912" y="4023360"/>
            <a:ext cx="1938528" cy="502920"/>
          </a:xfrm>
          <a:prstGeom prst="rect">
            <a:avLst/>
          </a:prstGeom>
          <a:noFill/>
          <a:ln/>
        </p:spPr>
        <p:txBody>
          <a:bodyPr wrap="square" lIns="0" tIns="0" rIns="0" bIns="0" rtlCol="0" anchor="ctr"/>
          <a:lstStyle/>
          <a:p>
            <a:pPr algn="ctr" indent="0" marL="0">
              <a:lnSpc>
                <a:spcPct val="100000"/>
              </a:lnSpc>
              <a:buNone/>
            </a:pPr>
            <a:r>
              <a:rPr lang="en-US" sz="1200" b="1" dirty="0">
                <a:solidFill>
                  <a:srgbClr val="1F3347"/>
                </a:solidFill>
                <a:latin typeface="Calibri" pitchFamily="34" charset="0"/>
                <a:ea typeface="Calibri" pitchFamily="34" charset="-122"/>
                <a:cs typeface="Calibri" pitchFamily="34" charset="-120"/>
              </a:rPr>
              <a:t>Dents</a:t>
            </a:r>
            <a:endParaRPr lang="en-US" sz="1200" dirty="0"/>
          </a:p>
        </p:txBody>
      </p:sp>
      <p:sp>
        <p:nvSpPr>
          <p:cNvPr id="35" name="Text 28"/>
          <p:cNvSpPr/>
          <p:nvPr/>
        </p:nvSpPr>
        <p:spPr>
          <a:xfrm>
            <a:off x="9582912" y="4526280"/>
            <a:ext cx="1938528" cy="502920"/>
          </a:xfrm>
          <a:prstGeom prst="rect">
            <a:avLst/>
          </a:prstGeom>
          <a:noFill/>
          <a:ln/>
        </p:spPr>
        <p:txBody>
          <a:bodyPr wrap="square" lIns="0" tIns="0" rIns="0" bIns="0" rtlCol="0" anchor="ctr"/>
          <a:lstStyle/>
          <a:p>
            <a:pPr algn="ctr" indent="0" marL="0">
              <a:lnSpc>
                <a:spcPct val="102000"/>
              </a:lnSpc>
              <a:buNone/>
            </a:pPr>
            <a:r>
              <a:rPr lang="en-US" sz="1000" i="1" dirty="0">
                <a:solidFill>
                  <a:srgbClr val="5B7288"/>
                </a:solidFill>
                <a:latin typeface="Calibri" pitchFamily="34" charset="0"/>
                <a:ea typeface="Calibri" pitchFamily="34" charset="-122"/>
                <a:cs typeface="Calibri" pitchFamily="34" charset="-120"/>
              </a:rPr>
              <a:t>le plus simple</a:t>
            </a:r>
            <a:endParaRPr lang="en-US" sz="1000" dirty="0"/>
          </a:p>
        </p:txBody>
      </p:sp>
      <p:sp>
        <p:nvSpPr>
          <p:cNvPr id="36" name="Text 29"/>
          <p:cNvSpPr/>
          <p:nvPr/>
        </p:nvSpPr>
        <p:spPr>
          <a:xfrm>
            <a:off x="9582912" y="5047488"/>
            <a:ext cx="1938528" cy="274320"/>
          </a:xfrm>
          <a:prstGeom prst="rect">
            <a:avLst/>
          </a:prstGeom>
          <a:noFill/>
          <a:ln/>
        </p:spPr>
        <p:txBody>
          <a:bodyPr wrap="square" lIns="0" tIns="0" rIns="0" bIns="0" rtlCol="0" anchor="ctr"/>
          <a:lstStyle/>
          <a:p>
            <a:pPr algn="ctr" indent="0" marL="0">
              <a:buNone/>
            </a:pPr>
            <a:r>
              <a:rPr lang="en-US" sz="900" b="1" dirty="0">
                <a:solidFill>
                  <a:srgbClr val="1C7293"/>
                </a:solidFill>
                <a:latin typeface="Calibri" pitchFamily="34" charset="0"/>
                <a:ea typeface="Calibri" pitchFamily="34" charset="-122"/>
                <a:cs typeface="Calibri" pitchFamily="34" charset="-120"/>
              </a:rPr>
              <a:t>diapo 47</a:t>
            </a:r>
            <a:endParaRPr lang="en-US" sz="900" dirty="0"/>
          </a:p>
        </p:txBody>
      </p:sp>
      <p:sp>
        <p:nvSpPr>
          <p:cNvPr id="37" name="Text 30"/>
          <p:cNvSpPr/>
          <p:nvPr/>
        </p:nvSpPr>
        <p:spPr>
          <a:xfrm>
            <a:off x="548640" y="571500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Rappel de la partie 1 : la variation relative de volume est maximale près de la surface — les barotraumatismes ne sont pas réservés à la profondeur.</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OREILLE MOYENNE (1/3)</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Mécanisme et causes : l'accident le plus fréquent</a:t>
            </a:r>
            <a:endParaRPr lang="en-US" sz="2800" dirty="0"/>
          </a:p>
        </p:txBody>
      </p:sp>
      <p:sp>
        <p:nvSpPr>
          <p:cNvPr id="4" name="Shape 2"/>
          <p:cNvSpPr/>
          <p:nvPr/>
        </p:nvSpPr>
        <p:spPr>
          <a:xfrm>
            <a:off x="548640" y="1417320"/>
            <a:ext cx="2672334" cy="1645920"/>
          </a:xfrm>
          <a:prstGeom prst="roundRect">
            <a:avLst>
              <a:gd name="adj" fmla="val 4444"/>
            </a:avLst>
          </a:prstGeom>
          <a:solidFill>
            <a:srgbClr val="1C7293"/>
          </a:solidFill>
          <a:ln/>
          <a:effectLst>
            <a:outerShdw sx="100000" sy="100000" kx="0" ky="0" algn="bl" rotWithShape="0" blurRad="88900" dist="25400" dir="5400000">
              <a:srgbClr val="0A2942">
                <a:alpha val="16000"/>
              </a:srgbClr>
            </a:outerShdw>
          </a:effectLst>
        </p:spPr>
      </p:sp>
      <p:sp>
        <p:nvSpPr>
          <p:cNvPr id="5" name="Text 3"/>
          <p:cNvSpPr/>
          <p:nvPr/>
        </p:nvSpPr>
        <p:spPr>
          <a:xfrm>
            <a:off x="73152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Descente (ou remontée)</a:t>
            </a:r>
            <a:endParaRPr lang="en-US" sz="1150" dirty="0"/>
          </a:p>
        </p:txBody>
      </p:sp>
      <p:sp>
        <p:nvSpPr>
          <p:cNvPr id="6" name="Text 4"/>
          <p:cNvSpPr/>
          <p:nvPr/>
        </p:nvSpPr>
        <p:spPr>
          <a:xfrm>
            <a:off x="731520" y="2130552"/>
            <a:ext cx="2306574" cy="7863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La pression du milieu et celle de l'oreille moyenne divergent</a:t>
            </a:r>
            <a:endParaRPr lang="en-US" sz="980" dirty="0"/>
          </a:p>
        </p:txBody>
      </p:sp>
      <p:sp>
        <p:nvSpPr>
          <p:cNvPr id="7" name="Text 5"/>
          <p:cNvSpPr/>
          <p:nvPr/>
        </p:nvSpPr>
        <p:spPr>
          <a:xfrm>
            <a:off x="3193542" y="201168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3348990" y="1417320"/>
            <a:ext cx="2672334" cy="1645920"/>
          </a:xfrm>
          <a:prstGeom prst="roundRect">
            <a:avLst>
              <a:gd name="adj" fmla="val 4444"/>
            </a:avLst>
          </a:prstGeom>
          <a:solidFill>
            <a:srgbClr val="C77F0A"/>
          </a:solidFill>
          <a:ln/>
          <a:effectLst>
            <a:outerShdw sx="100000" sy="100000" kx="0" ky="0" algn="bl" rotWithShape="0" blurRad="88900" dist="25400" dir="5400000">
              <a:srgbClr val="0A2942">
                <a:alpha val="16000"/>
              </a:srgbClr>
            </a:outerShdw>
          </a:effectLst>
        </p:spPr>
      </p:sp>
      <p:sp>
        <p:nvSpPr>
          <p:cNvPr id="9" name="Text 7"/>
          <p:cNvSpPr/>
          <p:nvPr/>
        </p:nvSpPr>
        <p:spPr>
          <a:xfrm>
            <a:off x="353187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Compensation absente</a:t>
            </a:r>
            <a:endParaRPr lang="en-US" sz="1150" dirty="0"/>
          </a:p>
        </p:txBody>
      </p:sp>
      <p:sp>
        <p:nvSpPr>
          <p:cNvPr id="10" name="Text 8"/>
          <p:cNvSpPr/>
          <p:nvPr/>
        </p:nvSpPr>
        <p:spPr>
          <a:xfrm>
            <a:off x="3531870" y="2130552"/>
            <a:ext cx="2306574" cy="7863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L'air ne passe pas par la trompe d'Eustache</a:t>
            </a:r>
            <a:endParaRPr lang="en-US" sz="980" dirty="0"/>
          </a:p>
        </p:txBody>
      </p:sp>
      <p:sp>
        <p:nvSpPr>
          <p:cNvPr id="11" name="Text 9"/>
          <p:cNvSpPr/>
          <p:nvPr/>
        </p:nvSpPr>
        <p:spPr>
          <a:xfrm>
            <a:off x="5993892" y="201168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6149340" y="1417320"/>
            <a:ext cx="2672334" cy="1645920"/>
          </a:xfrm>
          <a:prstGeom prst="roundRect">
            <a:avLst>
              <a:gd name="adj" fmla="val 4444"/>
            </a:avLst>
          </a:prstGeom>
          <a:solidFill>
            <a:srgbClr val="D9541E"/>
          </a:solidFill>
          <a:ln/>
          <a:effectLst>
            <a:outerShdw sx="100000" sy="100000" kx="0" ky="0" algn="bl" rotWithShape="0" blurRad="88900" dist="25400" dir="5400000">
              <a:srgbClr val="0A2942">
                <a:alpha val="16000"/>
              </a:srgbClr>
            </a:outerShdw>
          </a:effectLst>
        </p:spPr>
      </p:sp>
      <p:sp>
        <p:nvSpPr>
          <p:cNvPr id="13" name="Text 11"/>
          <p:cNvSpPr/>
          <p:nvPr/>
        </p:nvSpPr>
        <p:spPr>
          <a:xfrm>
            <a:off x="633222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Le tympan se déforme</a:t>
            </a:r>
            <a:endParaRPr lang="en-US" sz="1150" dirty="0"/>
          </a:p>
        </p:txBody>
      </p:sp>
      <p:sp>
        <p:nvSpPr>
          <p:cNvPr id="14" name="Text 12"/>
          <p:cNvSpPr/>
          <p:nvPr/>
        </p:nvSpPr>
        <p:spPr>
          <a:xfrm>
            <a:off x="6332220" y="2130552"/>
            <a:ext cx="2306574" cy="7863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Gêne → douleur (otalgie) croissante</a:t>
            </a:r>
            <a:endParaRPr lang="en-US" sz="980" dirty="0"/>
          </a:p>
        </p:txBody>
      </p:sp>
      <p:sp>
        <p:nvSpPr>
          <p:cNvPr id="15" name="Text 13"/>
          <p:cNvSpPr/>
          <p:nvPr/>
        </p:nvSpPr>
        <p:spPr>
          <a:xfrm>
            <a:off x="8794242" y="201168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949690" y="1417320"/>
            <a:ext cx="2672334" cy="1645920"/>
          </a:xfrm>
          <a:prstGeom prst="roundRect">
            <a:avLst>
              <a:gd name="adj" fmla="val 4444"/>
            </a:avLst>
          </a:prstGeom>
          <a:solidFill>
            <a:srgbClr val="8C2F0B"/>
          </a:solidFill>
          <a:ln/>
          <a:effectLst>
            <a:outerShdw sx="100000" sy="100000" kx="0" ky="0" algn="bl" rotWithShape="0" blurRad="88900" dist="25400" dir="5400000">
              <a:srgbClr val="0A2942">
                <a:alpha val="16000"/>
              </a:srgbClr>
            </a:outerShdw>
          </a:effectLst>
        </p:spPr>
      </p:sp>
      <p:sp>
        <p:nvSpPr>
          <p:cNvPr id="17" name="Text 15"/>
          <p:cNvSpPr/>
          <p:nvPr/>
        </p:nvSpPr>
        <p:spPr>
          <a:xfrm>
            <a:off x="913257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Rupture du tympan</a:t>
            </a:r>
            <a:endParaRPr lang="en-US" sz="1150" dirty="0"/>
          </a:p>
        </p:txBody>
      </p:sp>
      <p:sp>
        <p:nvSpPr>
          <p:cNvPr id="18" name="Text 16"/>
          <p:cNvSpPr/>
          <p:nvPr/>
        </p:nvSpPr>
        <p:spPr>
          <a:xfrm>
            <a:off x="9132570" y="2130552"/>
            <a:ext cx="2306574" cy="78638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Si l'on insiste malgré la douleur</a:t>
            </a:r>
            <a:endParaRPr lang="en-US" sz="980" dirty="0"/>
          </a:p>
        </p:txBody>
      </p:sp>
      <p:sp>
        <p:nvSpPr>
          <p:cNvPr id="19" name="Shape 17"/>
          <p:cNvSpPr/>
          <p:nvPr/>
        </p:nvSpPr>
        <p:spPr>
          <a:xfrm>
            <a:off x="548640" y="3429000"/>
            <a:ext cx="3602736"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20" name="Text 18"/>
          <p:cNvSpPr/>
          <p:nvPr/>
        </p:nvSpPr>
        <p:spPr>
          <a:xfrm>
            <a:off x="777240" y="3566160"/>
            <a:ext cx="3145536" cy="36576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Tiroir 1 — Le geste</a:t>
            </a:r>
            <a:endParaRPr lang="en-US" sz="1250" dirty="0"/>
          </a:p>
        </p:txBody>
      </p:sp>
      <p:sp>
        <p:nvSpPr>
          <p:cNvPr id="21" name="Text 19"/>
          <p:cNvSpPr/>
          <p:nvPr/>
        </p:nvSpPr>
        <p:spPr>
          <a:xfrm>
            <a:off x="777240" y="3977640"/>
            <a:ext cx="3145536" cy="141732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Manœuvre mal faite ou absente (débutant, stress, gants épais, masque inadapté, mains occupées — gueuse) · manœuvre trop tardive ou brutale · descente trop rapide ou descentes trop fréquentes.</a:t>
            </a:r>
            <a:endParaRPr lang="en-US" sz="1050" dirty="0"/>
          </a:p>
        </p:txBody>
      </p:sp>
      <p:sp>
        <p:nvSpPr>
          <p:cNvPr id="22" name="Shape 20"/>
          <p:cNvSpPr/>
          <p:nvPr/>
        </p:nvSpPr>
        <p:spPr>
          <a:xfrm>
            <a:off x="4343400" y="3429000"/>
            <a:ext cx="3602736"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23" name="Text 21"/>
          <p:cNvSpPr/>
          <p:nvPr/>
        </p:nvSpPr>
        <p:spPr>
          <a:xfrm>
            <a:off x="4572000" y="3566160"/>
            <a:ext cx="3145536" cy="36576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Tiroir 2 — L'obstacle</a:t>
            </a:r>
            <a:endParaRPr lang="en-US" sz="1250" dirty="0"/>
          </a:p>
        </p:txBody>
      </p:sp>
      <p:sp>
        <p:nvSpPr>
          <p:cNvPr id="24" name="Text 22"/>
          <p:cNvSpPr/>
          <p:nvPr/>
        </p:nvSpPr>
        <p:spPr>
          <a:xfrm>
            <a:off x="4572000" y="3977640"/>
            <a:ext cx="3145536" cy="141732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Trompe bouchée ou peu perméable : rhume, sinusite, otite, malformation, polypes · crispation (muscles péristaphylins) · effet rebond des décongestionnants.</a:t>
            </a:r>
            <a:endParaRPr lang="en-US" sz="1050" dirty="0"/>
          </a:p>
        </p:txBody>
      </p:sp>
      <p:sp>
        <p:nvSpPr>
          <p:cNvPr id="25" name="Shape 23"/>
          <p:cNvSpPr/>
          <p:nvPr/>
        </p:nvSpPr>
        <p:spPr>
          <a:xfrm>
            <a:off x="8138160" y="3429000"/>
            <a:ext cx="3602736" cy="2103120"/>
          </a:xfrm>
          <a:prstGeom prst="roundRect">
            <a:avLst>
              <a:gd name="adj" fmla="val 3913"/>
            </a:avLst>
          </a:prstGeom>
          <a:solidFill>
            <a:srgbClr val="F2F7FB"/>
          </a:solidFill>
          <a:ln/>
          <a:effectLst>
            <a:outerShdw sx="100000" sy="100000" kx="0" ky="0" algn="bl" rotWithShape="0" blurRad="88900" dist="25400" dir="5400000">
              <a:srgbClr val="0A2942">
                <a:alpha val="16000"/>
              </a:srgbClr>
            </a:outerShdw>
          </a:effectLst>
        </p:spPr>
      </p:sp>
      <p:sp>
        <p:nvSpPr>
          <p:cNvPr id="26" name="Text 24"/>
          <p:cNvSpPr/>
          <p:nvPr/>
        </p:nvSpPr>
        <p:spPr>
          <a:xfrm>
            <a:off x="8366760" y="3566160"/>
            <a:ext cx="3145536" cy="36576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Tiroir 3 — L'extérieur</a:t>
            </a:r>
            <a:endParaRPr lang="en-US" sz="1250" dirty="0"/>
          </a:p>
        </p:txBody>
      </p:sp>
      <p:sp>
        <p:nvSpPr>
          <p:cNvPr id="27" name="Text 25"/>
          <p:cNvSpPr/>
          <p:nvPr/>
        </p:nvSpPr>
        <p:spPr>
          <a:xfrm>
            <a:off x="8366760" y="3977640"/>
            <a:ext cx="3145536" cy="141732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Conduit auditif obstrué (bouchon de cérumen) · plaquage de cagoule (poche d'air fermée devant l'oreille externe).</a:t>
            </a:r>
            <a:endParaRPr lang="en-US" sz="1050" dirty="0"/>
          </a:p>
        </p:txBody>
      </p:sp>
      <p:sp>
        <p:nvSpPr>
          <p:cNvPr id="28" name="Text 26"/>
          <p:cNvSpPr/>
          <p:nvPr/>
        </p:nvSpPr>
        <p:spPr>
          <a:xfrm>
            <a:off x="548640" y="571500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9C3A10"/>
                </a:solidFill>
                <a:latin typeface="Calibri" pitchFamily="34" charset="0"/>
                <a:ea typeface="Calibri" pitchFamily="34" charset="-122"/>
                <a:cs typeface="Calibri" pitchFamily="34" charset="-120"/>
              </a:rPr>
              <a:t>Regardez le tiroir 1 : mains occupées, descente rapide, débutant, stress — ce sont les conditions des exercices que VOUS construisez. On ne met pas un élève sur une gueuse avant que sa compensation soit automatique.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OREILLE MOYENNE (2/3)</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Symptômes et conduite à tenir</a:t>
            </a:r>
            <a:endParaRPr lang="en-US" sz="2800" dirty="0"/>
          </a:p>
        </p:txBody>
      </p:sp>
      <p:sp>
        <p:nvSpPr>
          <p:cNvPr id="4" name="Shape 2"/>
          <p:cNvSpPr/>
          <p:nvPr/>
        </p:nvSpPr>
        <p:spPr>
          <a:xfrm>
            <a:off x="548640" y="1371600"/>
            <a:ext cx="4023360" cy="2651760"/>
          </a:xfrm>
          <a:prstGeom prst="roundRect">
            <a:avLst>
              <a:gd name="adj" fmla="val 3103"/>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804672" y="1508760"/>
            <a:ext cx="356616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Symptômes — une progression</a:t>
            </a:r>
            <a:endParaRPr lang="en-US" sz="1300" dirty="0"/>
          </a:p>
        </p:txBody>
      </p:sp>
      <p:sp>
        <p:nvSpPr>
          <p:cNvPr id="6" name="Text 4"/>
          <p:cNvSpPr/>
          <p:nvPr/>
        </p:nvSpPr>
        <p:spPr>
          <a:xfrm>
            <a:off x="822960" y="1920240"/>
            <a:ext cx="3566160" cy="201168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Douleur (otalgie) qui augmente : le corps prévient, rien n'est encore cassé</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 acouphènes, baisse d'audition, sensation de liquide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Rupture : eau froide dans l'oreille moyenne → désorientation brutale (le plongeur ne sait plus où est le haut), otorragie, jusqu'à la PDC</a:t>
            </a:r>
            <a:endParaRPr lang="en-US" sz="1100" dirty="0"/>
          </a:p>
        </p:txBody>
      </p:sp>
      <p:sp>
        <p:nvSpPr>
          <p:cNvPr id="7" name="Shape 5"/>
          <p:cNvSpPr/>
          <p:nvPr/>
        </p:nvSpPr>
        <p:spPr>
          <a:xfrm>
            <a:off x="4754880" y="1371600"/>
            <a:ext cx="6867144" cy="2651760"/>
          </a:xfrm>
          <a:prstGeom prst="roundRect">
            <a:avLst>
              <a:gd name="adj" fmla="val 3103"/>
            </a:avLst>
          </a:prstGeom>
          <a:solidFill>
            <a:srgbClr val="F2F7FB"/>
          </a:solidFill>
          <a:ln/>
          <a:effectLst>
            <a:outerShdw sx="100000" sy="100000" kx="0" ky="0" algn="bl" rotWithShape="0" blurRad="88900" dist="25400" dir="5400000">
              <a:srgbClr val="0A2942">
                <a:alpha val="16000"/>
              </a:srgbClr>
            </a:outerShdw>
          </a:effectLst>
        </p:spPr>
      </p:sp>
      <p:sp>
        <p:nvSpPr>
          <p:cNvPr id="8" name="Text 6"/>
          <p:cNvSpPr/>
          <p:nvPr/>
        </p:nvSpPr>
        <p:spPr>
          <a:xfrm>
            <a:off x="5029200" y="1508760"/>
            <a:ext cx="6400800" cy="365760"/>
          </a:xfrm>
          <a:prstGeom prst="rect">
            <a:avLst/>
          </a:prstGeom>
          <a:noFill/>
          <a:ln/>
        </p:spPr>
        <p:txBody>
          <a:bodyPr wrap="square" lIns="0" tIns="0" rIns="0" bIns="0" rtlCol="0" anchor="ctr"/>
          <a:lstStyle/>
          <a:p>
            <a:pPr indent="0" marL="0">
              <a:buNone/>
            </a:pPr>
            <a:r>
              <a:rPr lang="en-US" sz="1300" b="1" dirty="0">
                <a:solidFill>
                  <a:srgbClr val="9C3A10"/>
                </a:solidFill>
                <a:latin typeface="Calibri" pitchFamily="34" charset="0"/>
                <a:ea typeface="Calibri" pitchFamily="34" charset="-122"/>
                <a:cs typeface="Calibri" pitchFamily="34" charset="-120"/>
              </a:rPr>
              <a:t>Conduite à tenir — dans l'eau puis au sec</a:t>
            </a:r>
            <a:endParaRPr lang="en-US" sz="1300" dirty="0"/>
          </a:p>
        </p:txBody>
      </p:sp>
      <p:sp>
        <p:nvSpPr>
          <p:cNvPr id="9" name="Shape 7"/>
          <p:cNvSpPr/>
          <p:nvPr/>
        </p:nvSpPr>
        <p:spPr>
          <a:xfrm>
            <a:off x="5029200" y="1938528"/>
            <a:ext cx="2148840" cy="438912"/>
          </a:xfrm>
          <a:prstGeom prst="roundRect">
            <a:avLst>
              <a:gd name="adj" fmla="val 14583"/>
            </a:avLst>
          </a:prstGeom>
          <a:solidFill>
            <a:srgbClr val="D9541E"/>
          </a:solidFill>
          <a:ln/>
        </p:spPr>
      </p:sp>
      <p:sp>
        <p:nvSpPr>
          <p:cNvPr id="10" name="Text 8"/>
          <p:cNvSpPr/>
          <p:nvPr/>
        </p:nvSpPr>
        <p:spPr>
          <a:xfrm>
            <a:off x="5102352" y="1938528"/>
            <a:ext cx="2029968" cy="43891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Douleur à la DESCENTE</a:t>
            </a:r>
            <a:endParaRPr lang="en-US" sz="950" dirty="0"/>
          </a:p>
        </p:txBody>
      </p:sp>
      <p:sp>
        <p:nvSpPr>
          <p:cNvPr id="11" name="Text 9"/>
          <p:cNvSpPr/>
          <p:nvPr/>
        </p:nvSpPr>
        <p:spPr>
          <a:xfrm>
            <a:off x="7315200" y="1920240"/>
            <a:ext cx="4160520" cy="502920"/>
          </a:xfrm>
          <a:prstGeom prst="rect">
            <a:avLst/>
          </a:prstGeom>
          <a:noFill/>
          <a:ln/>
        </p:spPr>
        <p:txBody>
          <a:bodyPr wrap="square" lIns="0" tIns="0" rIns="0" bIns="0" rtlCol="0" anchor="ctr"/>
          <a:lstStyle/>
          <a:p>
            <a:pPr indent="0" marL="0">
              <a:lnSpc>
                <a:spcPct val="100000"/>
              </a:lnSpc>
              <a:buNone/>
            </a:pPr>
            <a:r>
              <a:rPr lang="en-US" sz="950" dirty="0">
                <a:solidFill>
                  <a:srgbClr val="1F3347"/>
                </a:solidFill>
                <a:latin typeface="Calibri" pitchFamily="34" charset="0"/>
                <a:ea typeface="Calibri" pitchFamily="34" charset="-122"/>
                <a:cs typeface="Calibri" pitchFamily="34" charset="-120"/>
              </a:rPr>
              <a:t>STOP immédiat + signe « ça ne va pas ». Pas trois mètres de plus.</a:t>
            </a:r>
            <a:endParaRPr lang="en-US" sz="950" dirty="0"/>
          </a:p>
        </p:txBody>
      </p:sp>
      <p:sp>
        <p:nvSpPr>
          <p:cNvPr id="12" name="Shape 10"/>
          <p:cNvSpPr/>
          <p:nvPr/>
        </p:nvSpPr>
        <p:spPr>
          <a:xfrm>
            <a:off x="5029200" y="2459736"/>
            <a:ext cx="2148840" cy="438912"/>
          </a:xfrm>
          <a:prstGeom prst="roundRect">
            <a:avLst>
              <a:gd name="adj" fmla="val 14583"/>
            </a:avLst>
          </a:prstGeom>
          <a:solidFill>
            <a:srgbClr val="C77F0A"/>
          </a:solidFill>
          <a:ln/>
        </p:spPr>
      </p:sp>
      <p:sp>
        <p:nvSpPr>
          <p:cNvPr id="13" name="Text 11"/>
          <p:cNvSpPr/>
          <p:nvPr/>
        </p:nvSpPr>
        <p:spPr>
          <a:xfrm>
            <a:off x="5102352" y="2459736"/>
            <a:ext cx="2029968" cy="43891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Douleur à la REMONTÉE</a:t>
            </a:r>
            <a:endParaRPr lang="en-US" sz="950" dirty="0"/>
          </a:p>
        </p:txBody>
      </p:sp>
      <p:sp>
        <p:nvSpPr>
          <p:cNvPr id="14" name="Text 12"/>
          <p:cNvSpPr/>
          <p:nvPr/>
        </p:nvSpPr>
        <p:spPr>
          <a:xfrm>
            <a:off x="7315200" y="2441448"/>
            <a:ext cx="4160520" cy="502920"/>
          </a:xfrm>
          <a:prstGeom prst="rect">
            <a:avLst/>
          </a:prstGeom>
          <a:noFill/>
          <a:ln/>
        </p:spPr>
        <p:txBody>
          <a:bodyPr wrap="square" lIns="0" tIns="0" rIns="0" bIns="0" rtlCol="0" anchor="ctr"/>
          <a:lstStyle/>
          <a:p>
            <a:pPr indent="0" marL="0">
              <a:lnSpc>
                <a:spcPct val="100000"/>
              </a:lnSpc>
              <a:buNone/>
            </a:pPr>
            <a:r>
              <a:rPr lang="en-US" sz="950" dirty="0">
                <a:solidFill>
                  <a:srgbClr val="1F3347"/>
                </a:solidFill>
                <a:latin typeface="Calibri" pitchFamily="34" charset="0"/>
                <a:ea typeface="Calibri" pitchFamily="34" charset="-122"/>
                <a:cs typeface="Calibri" pitchFamily="34" charset="-120"/>
              </a:rPr>
              <a:t>Ralentir + manœuvre de Toynbee (déglutir bouche/nez fermés). JAMAIS de Valsalva à la remontée.</a:t>
            </a:r>
            <a:endParaRPr lang="en-US" sz="950" dirty="0"/>
          </a:p>
        </p:txBody>
      </p:sp>
      <p:sp>
        <p:nvSpPr>
          <p:cNvPr id="15" name="Shape 13"/>
          <p:cNvSpPr/>
          <p:nvPr/>
        </p:nvSpPr>
        <p:spPr>
          <a:xfrm>
            <a:off x="5029200" y="2980944"/>
            <a:ext cx="2148840" cy="438912"/>
          </a:xfrm>
          <a:prstGeom prst="roundRect">
            <a:avLst>
              <a:gd name="adj" fmla="val 14583"/>
            </a:avLst>
          </a:prstGeom>
          <a:solidFill>
            <a:srgbClr val="1C7293"/>
          </a:solidFill>
          <a:ln/>
        </p:spPr>
      </p:sp>
      <p:sp>
        <p:nvSpPr>
          <p:cNvPr id="16" name="Text 14"/>
          <p:cNvSpPr/>
          <p:nvPr/>
        </p:nvSpPr>
        <p:spPr>
          <a:xfrm>
            <a:off x="5102352" y="2980944"/>
            <a:ext cx="2029968" cy="43891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En surface</a:t>
            </a:r>
            <a:endParaRPr lang="en-US" sz="950" dirty="0"/>
          </a:p>
        </p:txBody>
      </p:sp>
      <p:sp>
        <p:nvSpPr>
          <p:cNvPr id="17" name="Text 15"/>
          <p:cNvSpPr/>
          <p:nvPr/>
        </p:nvSpPr>
        <p:spPr>
          <a:xfrm>
            <a:off x="7315200" y="2962656"/>
            <a:ext cx="4160520" cy="502920"/>
          </a:xfrm>
          <a:prstGeom prst="rect">
            <a:avLst/>
          </a:prstGeom>
          <a:noFill/>
          <a:ln/>
        </p:spPr>
        <p:txBody>
          <a:bodyPr wrap="square" lIns="0" tIns="0" rIns="0" bIns="0" rtlCol="0" anchor="ctr"/>
          <a:lstStyle/>
          <a:p>
            <a:pPr indent="0" marL="0">
              <a:lnSpc>
                <a:spcPct val="100000"/>
              </a:lnSpc>
              <a:buNone/>
            </a:pPr>
            <a:r>
              <a:rPr lang="en-US" sz="950" dirty="0">
                <a:solidFill>
                  <a:srgbClr val="1F3347"/>
                </a:solidFill>
                <a:latin typeface="Calibri" pitchFamily="34" charset="0"/>
                <a:ea typeface="Calibri" pitchFamily="34" charset="-122"/>
                <a:cs typeface="Calibri" pitchFamily="34" charset="-120"/>
              </a:rPr>
              <a:t>Douleur disparue : un essai PRUDENT. Douleur persistante : STOP, fin de séance.</a:t>
            </a:r>
            <a:endParaRPr lang="en-US" sz="950" dirty="0"/>
          </a:p>
        </p:txBody>
      </p:sp>
      <p:sp>
        <p:nvSpPr>
          <p:cNvPr id="18" name="Shape 16"/>
          <p:cNvSpPr/>
          <p:nvPr/>
        </p:nvSpPr>
        <p:spPr>
          <a:xfrm>
            <a:off x="5029200" y="3502152"/>
            <a:ext cx="2148840" cy="438912"/>
          </a:xfrm>
          <a:prstGeom prst="roundRect">
            <a:avLst>
              <a:gd name="adj" fmla="val 14583"/>
            </a:avLst>
          </a:prstGeom>
          <a:solidFill>
            <a:srgbClr val="065A82"/>
          </a:solidFill>
          <a:ln/>
        </p:spPr>
      </p:sp>
      <p:sp>
        <p:nvSpPr>
          <p:cNvPr id="19" name="Text 17"/>
          <p:cNvSpPr/>
          <p:nvPr/>
        </p:nvSpPr>
        <p:spPr>
          <a:xfrm>
            <a:off x="5102352" y="3502152"/>
            <a:ext cx="2029968" cy="43891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Au sec</a:t>
            </a:r>
            <a:endParaRPr lang="en-US" sz="950" dirty="0"/>
          </a:p>
        </p:txBody>
      </p:sp>
      <p:sp>
        <p:nvSpPr>
          <p:cNvPr id="20" name="Text 18"/>
          <p:cNvSpPr/>
          <p:nvPr/>
        </p:nvSpPr>
        <p:spPr>
          <a:xfrm>
            <a:off x="7315200" y="3483864"/>
            <a:ext cx="4160520" cy="502920"/>
          </a:xfrm>
          <a:prstGeom prst="rect">
            <a:avLst/>
          </a:prstGeom>
          <a:noFill/>
          <a:ln/>
        </p:spPr>
        <p:txBody>
          <a:bodyPr wrap="square" lIns="0" tIns="0" rIns="0" bIns="0" rtlCol="0" anchor="ctr"/>
          <a:lstStyle/>
          <a:p>
            <a:pPr indent="0" marL="0">
              <a:lnSpc>
                <a:spcPct val="100000"/>
              </a:lnSpc>
              <a:buNone/>
            </a:pPr>
            <a:r>
              <a:rPr lang="en-US" sz="950" dirty="0">
                <a:solidFill>
                  <a:srgbClr val="1F3347"/>
                </a:solidFill>
                <a:latin typeface="Calibri" pitchFamily="34" charset="0"/>
                <a:ea typeface="Calibri" pitchFamily="34" charset="-122"/>
                <a:cs typeface="Calibri" pitchFamily="34" charset="-120"/>
              </a:rPr>
              <a:t>Évaluer RÉELLEMENT (beaucoup n'osent pas se plaindre) · douleur forte, vertiges, acouphènes → ORL · rien dans l'oreille sans avis médical.</a:t>
            </a:r>
            <a:endParaRPr lang="en-US" sz="950" dirty="0"/>
          </a:p>
        </p:txBody>
      </p:sp>
      <p:sp>
        <p:nvSpPr>
          <p:cNvPr id="21" name="Shape 19"/>
          <p:cNvSpPr/>
          <p:nvPr/>
        </p:nvSpPr>
        <p:spPr>
          <a:xfrm>
            <a:off x="548640" y="4251960"/>
            <a:ext cx="11073384" cy="1828800"/>
          </a:xfrm>
          <a:prstGeom prst="roundRect">
            <a:avLst>
              <a:gd name="adj" fmla="val 4500"/>
            </a:avLst>
          </a:prstGeom>
          <a:solidFill>
            <a:srgbClr val="FBE9E1"/>
          </a:solidFill>
          <a:ln/>
          <a:effectLst>
            <a:outerShdw sx="100000" sy="100000" kx="0" ky="0" algn="bl" rotWithShape="0" blurRad="88900" dist="25400" dir="5400000">
              <a:srgbClr val="0A2942">
                <a:alpha val="16000"/>
              </a:srgbClr>
            </a:outerShdw>
          </a:effectLst>
        </p:spPr>
      </p:sp>
      <p:sp>
        <p:nvSpPr>
          <p:cNvPr id="22" name="Shape 20"/>
          <p:cNvSpPr/>
          <p:nvPr/>
        </p:nvSpPr>
        <p:spPr>
          <a:xfrm>
            <a:off x="822960" y="4526280"/>
            <a:ext cx="566928" cy="566928"/>
          </a:xfrm>
          <a:prstGeom prst="ellipse">
            <a:avLst/>
          </a:prstGeom>
          <a:solidFill>
            <a:srgbClr val="D9541E"/>
          </a:solidFill>
          <a:ln/>
        </p:spPr>
      </p:sp>
      <p:pic>
        <p:nvPicPr>
          <p:cNvPr id="23" name="Image 0" descr="preencoded.png">    </p:cNvPr>
          <p:cNvPicPr>
            <a:picLocks noChangeAspect="1"/>
          </p:cNvPicPr>
          <p:nvPr/>
        </p:nvPicPr>
        <p:blipFill>
          <a:blip r:embed="rId1"/>
          <a:stretch>
            <a:fillRect/>
          </a:stretch>
        </p:blipFill>
        <p:spPr>
          <a:xfrm>
            <a:off x="970361" y="4673681"/>
            <a:ext cx="272125" cy="272125"/>
          </a:xfrm>
          <a:prstGeom prst="rect">
            <a:avLst/>
          </a:prstGeom>
        </p:spPr>
      </p:pic>
      <p:sp>
        <p:nvSpPr>
          <p:cNvPr id="24" name="Text 21"/>
          <p:cNvSpPr/>
          <p:nvPr/>
        </p:nvSpPr>
        <p:spPr>
          <a:xfrm>
            <a:off x="1600200" y="4453128"/>
            <a:ext cx="9784080" cy="36576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Pourquoi c'est une urgence de sécurité, pas de confort</a:t>
            </a:r>
            <a:endParaRPr lang="en-US" sz="1400" dirty="0"/>
          </a:p>
        </p:txBody>
      </p:sp>
      <p:sp>
        <p:nvSpPr>
          <p:cNvPr id="25" name="Text 22"/>
          <p:cNvSpPr/>
          <p:nvPr/>
        </p:nvSpPr>
        <p:spPr>
          <a:xfrm>
            <a:off x="1600200" y="4828032"/>
            <a:ext cx="9738360" cy="114300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Rupture du tympan sous l'eau = vertige et désorientation sous l'eau = un plongeur qui ne sait plus remonter. Et deux décisions de cadre : le signe « ça ne va pas » s'enseigne AVANT la mise à l'eau ; et c'est le cadre qui décide du STOP — un élève motivé négociera toujours un essai de plus.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OREILLE MOYENNE (3/3)</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Prévention : le mémo de séance du cadre</a:t>
            </a:r>
            <a:endParaRPr lang="en-US" sz="2800" dirty="0"/>
          </a:p>
        </p:txBody>
      </p:sp>
      <p:sp>
        <p:nvSpPr>
          <p:cNvPr id="4" name="Shape 2"/>
          <p:cNvSpPr/>
          <p:nvPr/>
        </p:nvSpPr>
        <p:spPr>
          <a:xfrm>
            <a:off x="548640" y="1371600"/>
            <a:ext cx="11073384" cy="1188720"/>
          </a:xfrm>
          <a:prstGeom prst="roundRect">
            <a:avLst>
              <a:gd name="adj" fmla="val 6923"/>
            </a:avLst>
          </a:prstGeom>
          <a:solidFill>
            <a:srgbClr val="E7F3EC"/>
          </a:solidFill>
          <a:ln/>
          <a:effectLst>
            <a:outerShdw sx="100000" sy="100000" kx="0" ky="0" algn="bl" rotWithShape="0" blurRad="88900" dist="25400" dir="5400000">
              <a:srgbClr val="0A2942">
                <a:alpha val="16000"/>
              </a:srgbClr>
            </a:outerShdw>
          </a:effectLst>
        </p:spPr>
      </p:sp>
      <p:sp>
        <p:nvSpPr>
          <p:cNvPr id="5" name="Text 3"/>
          <p:cNvSpPr/>
          <p:nvPr/>
        </p:nvSpPr>
        <p:spPr>
          <a:xfrm>
            <a:off x="822960" y="1435608"/>
            <a:ext cx="10515600" cy="1051560"/>
          </a:xfrm>
          <a:prstGeom prst="rect">
            <a:avLst/>
          </a:prstGeom>
          <a:noFill/>
          <a:ln/>
        </p:spPr>
        <p:txBody>
          <a:bodyPr wrap="square" lIns="0" tIns="0" rIns="0" bIns="0" rtlCol="0" anchor="ctr"/>
          <a:lstStyle/>
          <a:p>
            <a:pPr indent="0" marL="0">
              <a:lnSpc>
                <a:spcPct val="112000"/>
              </a:lnSpc>
              <a:buNone/>
            </a:pPr>
            <a:r>
              <a:rPr lang="en-US" sz="1250" b="1" dirty="0">
                <a:solidFill>
                  <a:srgbClr val="2C8C5A"/>
                </a:solidFill>
                <a:latin typeface="Calibri" pitchFamily="34" charset="0"/>
                <a:ea typeface="Calibri" pitchFamily="34" charset="-122"/>
                <a:cs typeface="Calibri" pitchFamily="34" charset="-120"/>
              </a:rPr>
              <a:t>La formule à savoir dire mot pour mot : </a:t>
            </a:r>
            <a:pPr indent="0" marL="0">
              <a:lnSpc>
                <a:spcPct val="112000"/>
              </a:lnSpc>
              <a:buNone/>
            </a:pPr>
            <a:r>
              <a:rPr lang="en-US" sz="1350" b="1" i="1" dirty="0">
                <a:solidFill>
                  <a:srgbClr val="1F3347"/>
                </a:solidFill>
                <a:latin typeface="Calibri" pitchFamily="34" charset="0"/>
                <a:ea typeface="Calibri" pitchFamily="34" charset="-122"/>
                <a:cs typeface="Calibri" pitchFamily="34" charset="-120"/>
              </a:rPr>
              <a:t>« on compense en douceur, avant d'avoir mal, et tout le long de la descente ». </a:t>
            </a:r>
            <a:pPr indent="0" marL="0">
              <a:lnSpc>
                <a:spcPct val="112000"/>
              </a:lnSpc>
              <a:buNone/>
            </a:pPr>
            <a:r>
              <a:rPr lang="en-US" sz="1250" dirty="0">
                <a:solidFill>
                  <a:srgbClr val="1F3347"/>
                </a:solidFill>
                <a:latin typeface="Calibri" pitchFamily="34" charset="0"/>
                <a:ea typeface="Calibri" pitchFamily="34" charset="-122"/>
                <a:cs typeface="Calibri" pitchFamily="34" charset="-120"/>
              </a:rPr>
              <a:t>Trois idées en une phrase : douceur, anticipation, continuité.</a:t>
            </a:r>
            <a:endParaRPr lang="en-US" sz="1250" dirty="0"/>
          </a:p>
        </p:txBody>
      </p:sp>
      <p:sp>
        <p:nvSpPr>
          <p:cNvPr id="6" name="Shape 4"/>
          <p:cNvSpPr/>
          <p:nvPr/>
        </p:nvSpPr>
        <p:spPr>
          <a:xfrm>
            <a:off x="548640" y="2788920"/>
            <a:ext cx="3602736" cy="2834640"/>
          </a:xfrm>
          <a:prstGeom prst="roundRect">
            <a:avLst>
              <a:gd name="adj" fmla="val 2903"/>
            </a:avLst>
          </a:prstGeom>
          <a:solidFill>
            <a:srgbClr val="F2F7FB"/>
          </a:solidFill>
          <a:ln/>
          <a:effectLst>
            <a:outerShdw sx="100000" sy="100000" kx="0" ky="0" algn="bl" rotWithShape="0" blurRad="88900" dist="25400" dir="5400000">
              <a:srgbClr val="0A2942">
                <a:alpha val="16000"/>
              </a:srgbClr>
            </a:outerShdw>
          </a:effectLst>
        </p:spPr>
      </p:sp>
      <p:sp>
        <p:nvSpPr>
          <p:cNvPr id="7" name="Text 5"/>
          <p:cNvSpPr/>
          <p:nvPr/>
        </p:nvSpPr>
        <p:spPr>
          <a:xfrm>
            <a:off x="777240" y="2926080"/>
            <a:ext cx="3145536" cy="36576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Formation</a:t>
            </a:r>
            <a:endParaRPr lang="en-US" sz="1350" dirty="0"/>
          </a:p>
        </p:txBody>
      </p:sp>
      <p:sp>
        <p:nvSpPr>
          <p:cNvPr id="8" name="Text 6"/>
          <p:cNvSpPr/>
          <p:nvPr/>
        </p:nvSpPr>
        <p:spPr>
          <a:xfrm>
            <a:off x="804672" y="3337560"/>
            <a:ext cx="3090672" cy="214884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Compensation acquise AVANT les exercices mains occupées (gueuse, immersion libre)</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Apprendre la BTV, gymnastique tubaire : l'investissement qui libère les mains</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Vigilance renforcée : débutants, conditions difficiles, descentes rapides</a:t>
            </a:r>
            <a:endParaRPr lang="en-US" sz="1050" dirty="0"/>
          </a:p>
        </p:txBody>
      </p:sp>
      <p:sp>
        <p:nvSpPr>
          <p:cNvPr id="9" name="Shape 7"/>
          <p:cNvSpPr/>
          <p:nvPr/>
        </p:nvSpPr>
        <p:spPr>
          <a:xfrm>
            <a:off x="4343400" y="2788920"/>
            <a:ext cx="3602736" cy="2834640"/>
          </a:xfrm>
          <a:prstGeom prst="roundRect">
            <a:avLst>
              <a:gd name="adj" fmla="val 2903"/>
            </a:avLst>
          </a:prstGeom>
          <a:solidFill>
            <a:srgbClr val="F2F7FB"/>
          </a:solidFill>
          <a:ln/>
          <a:effectLst>
            <a:outerShdw sx="100000" sy="100000" kx="0" ky="0" algn="bl" rotWithShape="0" blurRad="88900" dist="25400" dir="5400000">
              <a:srgbClr val="0A2942">
                <a:alpha val="16000"/>
              </a:srgbClr>
            </a:outerShdw>
          </a:effectLst>
        </p:spPr>
      </p:sp>
      <p:sp>
        <p:nvSpPr>
          <p:cNvPr id="10" name="Text 8"/>
          <p:cNvSpPr/>
          <p:nvPr/>
        </p:nvSpPr>
        <p:spPr>
          <a:xfrm>
            <a:off x="4572000" y="2926080"/>
            <a:ext cx="3145536" cy="36576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Hygiène &amp; santé</a:t>
            </a:r>
            <a:endParaRPr lang="en-US" sz="1350" dirty="0"/>
          </a:p>
        </p:txBody>
      </p:sp>
      <p:sp>
        <p:nvSpPr>
          <p:cNvPr id="11" name="Text 9"/>
          <p:cNvSpPr/>
          <p:nvPr/>
        </p:nvSpPr>
        <p:spPr>
          <a:xfrm>
            <a:off x="4599432" y="3337560"/>
            <a:ext cx="3090672" cy="214884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Ne pas plonger enrhumé ou avec un problème ORL</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Conduit auditif propre (bouchon de cérumen)</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Se moucher régulièrement pour évacuer les mucosités</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Respecter ses limites</a:t>
            </a:r>
            <a:endParaRPr lang="en-US" sz="1050" dirty="0"/>
          </a:p>
        </p:txBody>
      </p:sp>
      <p:sp>
        <p:nvSpPr>
          <p:cNvPr id="12" name="Shape 10"/>
          <p:cNvSpPr/>
          <p:nvPr/>
        </p:nvSpPr>
        <p:spPr>
          <a:xfrm>
            <a:off x="8138160" y="2788920"/>
            <a:ext cx="3602736" cy="2834640"/>
          </a:xfrm>
          <a:prstGeom prst="roundRect">
            <a:avLst>
              <a:gd name="adj" fmla="val 2903"/>
            </a:avLst>
          </a:prstGeom>
          <a:solidFill>
            <a:srgbClr val="F2F7FB"/>
          </a:solidFill>
          <a:ln/>
          <a:effectLst>
            <a:outerShdw sx="100000" sy="100000" kx="0" ky="0" algn="bl" rotWithShape="0" blurRad="88900" dist="25400" dir="5400000">
              <a:srgbClr val="0A2942">
                <a:alpha val="16000"/>
              </a:srgbClr>
            </a:outerShdw>
          </a:effectLst>
        </p:spPr>
      </p:sp>
      <p:sp>
        <p:nvSpPr>
          <p:cNvPr id="13" name="Text 11"/>
          <p:cNvSpPr/>
          <p:nvPr/>
        </p:nvSpPr>
        <p:spPr>
          <a:xfrm>
            <a:off x="8366760" y="2926080"/>
            <a:ext cx="3145536" cy="36576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Matériel</a:t>
            </a:r>
            <a:endParaRPr lang="en-US" sz="1350" dirty="0"/>
          </a:p>
        </p:txBody>
      </p:sp>
      <p:sp>
        <p:nvSpPr>
          <p:cNvPr id="14" name="Text 12"/>
          <p:cNvSpPr/>
          <p:nvPr/>
        </p:nvSpPr>
        <p:spPr>
          <a:xfrm>
            <a:off x="8394192" y="3337560"/>
            <a:ext cx="3090672" cy="214884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Masque et gants adaptés (une manœuvre doit rester possible)</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Décoller régulièrement sa cagoule — ou la percer</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Pas d'exercice nouveau avec du matériel nouveau</a:t>
            </a:r>
            <a:endParaRPr lang="en-US" sz="1050" dirty="0"/>
          </a:p>
        </p:txBody>
      </p:sp>
      <p:sp>
        <p:nvSpPr>
          <p:cNvPr id="15" name="Text 13"/>
          <p:cNvSpPr/>
          <p:nvPr/>
        </p:nvSpPr>
        <p:spPr>
          <a:xfrm>
            <a:off x="548640" y="58064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2C8C5A"/>
                </a:solidFill>
                <a:latin typeface="Calibri" pitchFamily="34" charset="0"/>
                <a:ea typeface="Calibri" pitchFamily="34" charset="-122"/>
                <a:cs typeface="Calibri" pitchFamily="34" charset="-120"/>
              </a:rPr>
              <a:t>« Le cadre doit s'assurer du bon état physique ET psychologique de chaque plongeur. » Le stress est une cause de barotraumatisme : évaluer un élève avant la mise à l'eau, c'est de la prévention d'accident.</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SINUS (1/2)</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Les sinus : la cavité sur laquelle on ne peut RIEN</a:t>
            </a:r>
            <a:endParaRPr lang="en-US" sz="2800" dirty="0"/>
          </a:p>
        </p:txBody>
      </p:sp>
      <p:sp>
        <p:nvSpPr>
          <p:cNvPr id="4" name="Shape 2"/>
          <p:cNvSpPr/>
          <p:nvPr/>
        </p:nvSpPr>
        <p:spPr>
          <a:xfrm>
            <a:off x="548640" y="1371600"/>
            <a:ext cx="5943600" cy="2834640"/>
          </a:xfrm>
          <a:prstGeom prst="roundRect">
            <a:avLst>
              <a:gd name="adj" fmla="val 2903"/>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627632"/>
            <a:ext cx="530352" cy="530352"/>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960852" y="1765524"/>
            <a:ext cx="254569" cy="254569"/>
          </a:xfrm>
          <a:prstGeom prst="rect">
            <a:avLst/>
          </a:prstGeom>
        </p:spPr>
      </p:pic>
      <p:sp>
        <p:nvSpPr>
          <p:cNvPr id="7" name="Text 4"/>
          <p:cNvSpPr/>
          <p:nvPr/>
        </p:nvSpPr>
        <p:spPr>
          <a:xfrm>
            <a:off x="1554480" y="1627632"/>
            <a:ext cx="4572000" cy="530352"/>
          </a:xfrm>
          <a:prstGeom prst="rect">
            <a:avLst/>
          </a:prstGeom>
          <a:noFill/>
          <a:ln/>
        </p:spPr>
        <p:txBody>
          <a:bodyPr wrap="square" lIns="0" tIns="0" rIns="0" bIns="0" rtlCol="0" anchor="ctr"/>
          <a:lstStyle/>
          <a:p>
            <a:pPr indent="0" marL="0">
              <a:buNone/>
            </a:pPr>
            <a:r>
              <a:rPr lang="en-US" sz="1400" b="1" dirty="0">
                <a:solidFill>
                  <a:srgbClr val="1F3347"/>
                </a:solidFill>
                <a:latin typeface="Calibri" pitchFamily="34" charset="0"/>
                <a:ea typeface="Calibri" pitchFamily="34" charset="-122"/>
                <a:cs typeface="Calibri" pitchFamily="34" charset="-120"/>
              </a:rPr>
              <a:t>Mécanisme</a:t>
            </a:r>
            <a:endParaRPr lang="en-US" sz="1400" dirty="0"/>
          </a:p>
        </p:txBody>
      </p:sp>
      <p:sp>
        <p:nvSpPr>
          <p:cNvPr id="8" name="Text 5"/>
          <p:cNvSpPr/>
          <p:nvPr/>
        </p:nvSpPr>
        <p:spPr>
          <a:xfrm>
            <a:off x="868680" y="2240280"/>
            <a:ext cx="5394960" cy="192024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Cavités aériennes creusées dans les os du crâne : parois RIGIDES, qui ne se déforment pas comme un tympan</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Équilibrage automatique et permanent par un petit orifice : l'ostium — aucune manœuvre possible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Ostium bouché : à la descente, dépression → aspiration de la muqueuse (saigne, fait mal) ; à la remontée, dilatation → écrasement contre l'os</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Les plus touchés : sinus frontaux (front) et maxillaires (pommettes)</a:t>
            </a:r>
            <a:endParaRPr lang="en-US" sz="1100" dirty="0"/>
          </a:p>
        </p:txBody>
      </p:sp>
      <p:sp>
        <p:nvSpPr>
          <p:cNvPr id="9" name="Shape 6"/>
          <p:cNvSpPr/>
          <p:nvPr/>
        </p:nvSpPr>
        <p:spPr>
          <a:xfrm>
            <a:off x="6675120" y="1371600"/>
            <a:ext cx="4946904" cy="2834640"/>
          </a:xfrm>
          <a:prstGeom prst="roundRect">
            <a:avLst>
              <a:gd name="adj" fmla="val 2903"/>
            </a:avLst>
          </a:prstGeom>
          <a:solidFill>
            <a:srgbClr val="F2F7FB"/>
          </a:solidFill>
          <a:ln/>
          <a:effectLst>
            <a:outerShdw sx="100000" sy="100000" kx="0" ky="0" algn="bl" rotWithShape="0" blurRad="88900" dist="25400" dir="5400000">
              <a:srgbClr val="0A2942">
                <a:alpha val="16000"/>
              </a:srgbClr>
            </a:outerShdw>
          </a:effectLst>
        </p:spPr>
      </p:sp>
      <p:sp>
        <p:nvSpPr>
          <p:cNvPr id="10" name="Text 7"/>
          <p:cNvSpPr/>
          <p:nvPr/>
        </p:nvSpPr>
        <p:spPr>
          <a:xfrm>
            <a:off x="6949440" y="1536192"/>
            <a:ext cx="443484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Causes &amp; symptômes</a:t>
            </a:r>
            <a:endParaRPr lang="en-US" sz="1400" dirty="0"/>
          </a:p>
        </p:txBody>
      </p:sp>
      <p:sp>
        <p:nvSpPr>
          <p:cNvPr id="11" name="Text 8"/>
          <p:cNvSpPr/>
          <p:nvPr/>
        </p:nvSpPr>
        <p:spPr>
          <a:xfrm>
            <a:off x="6995160" y="1938528"/>
            <a:ext cx="4434840" cy="146304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Causes : mucosités (rhume, sinusite) · inflammation (allergie, infection) · anatomie (malformation, polypes)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Symptômes : douleur très localisée (front, sous l'œil) · saignement de nez (épistaxis) · larmoiement</a:t>
            </a:r>
            <a:endParaRPr lang="en-US" sz="1150" dirty="0"/>
          </a:p>
        </p:txBody>
      </p:sp>
      <p:sp>
        <p:nvSpPr>
          <p:cNvPr id="12" name="Shape 9"/>
          <p:cNvSpPr/>
          <p:nvPr/>
        </p:nvSpPr>
        <p:spPr>
          <a:xfrm>
            <a:off x="6949440" y="3474720"/>
            <a:ext cx="4398264" cy="566928"/>
          </a:xfrm>
          <a:prstGeom prst="roundRect">
            <a:avLst>
              <a:gd name="adj" fmla="val 12903"/>
            </a:avLst>
          </a:prstGeom>
          <a:solidFill>
            <a:srgbClr val="FBE9E1"/>
          </a:solidFill>
          <a:ln/>
        </p:spPr>
      </p:sp>
      <p:sp>
        <p:nvSpPr>
          <p:cNvPr id="13" name="Text 10"/>
          <p:cNvSpPr/>
          <p:nvPr/>
        </p:nvSpPr>
        <p:spPr>
          <a:xfrm>
            <a:off x="7114032" y="3474720"/>
            <a:ext cx="4114800" cy="566928"/>
          </a:xfrm>
          <a:prstGeom prst="rect">
            <a:avLst/>
          </a:prstGeom>
          <a:noFill/>
          <a:ln/>
        </p:spPr>
        <p:txBody>
          <a:bodyPr wrap="square" lIns="0" tIns="0" rIns="0" bIns="0" rtlCol="0" anchor="ctr"/>
          <a:lstStyle/>
          <a:p>
            <a:pPr indent="0" marL="0">
              <a:buNone/>
            </a:pPr>
            <a:r>
              <a:rPr lang="en-US" sz="1100" b="1" dirty="0">
                <a:solidFill>
                  <a:srgbClr val="9C3A10"/>
                </a:solidFill>
                <a:latin typeface="Calibri" pitchFamily="34" charset="0"/>
                <a:ea typeface="Calibri" pitchFamily="34" charset="-122"/>
                <a:cs typeface="Calibri" pitchFamily="34" charset="-120"/>
              </a:rPr>
              <a:t>Critère net : s'il y a saignement → STOP, on ne rediscute pas.</a:t>
            </a:r>
            <a:endParaRPr lang="en-US" sz="1100" dirty="0"/>
          </a:p>
        </p:txBody>
      </p:sp>
      <p:sp>
        <p:nvSpPr>
          <p:cNvPr id="14" name="Shape 11"/>
          <p:cNvSpPr/>
          <p:nvPr/>
        </p:nvSpPr>
        <p:spPr>
          <a:xfrm>
            <a:off x="548640" y="4434840"/>
            <a:ext cx="11073384" cy="1645920"/>
          </a:xfrm>
          <a:prstGeom prst="roundRect">
            <a:avLst>
              <a:gd name="adj" fmla="val 5000"/>
            </a:avLst>
          </a:prstGeom>
          <a:solidFill>
            <a:srgbClr val="DCEBF5"/>
          </a:solidFill>
          <a:ln/>
          <a:effectLst>
            <a:outerShdw sx="100000" sy="100000" kx="0" ky="0" algn="bl" rotWithShape="0" blurRad="88900" dist="25400" dir="5400000">
              <a:srgbClr val="0A2942">
                <a:alpha val="16000"/>
              </a:srgbClr>
            </a:outerShdw>
          </a:effectLst>
        </p:spPr>
      </p:sp>
      <p:sp>
        <p:nvSpPr>
          <p:cNvPr id="15" name="Shape 12"/>
          <p:cNvSpPr/>
          <p:nvPr/>
        </p:nvSpPr>
        <p:spPr>
          <a:xfrm>
            <a:off x="822960" y="4709160"/>
            <a:ext cx="566928" cy="566928"/>
          </a:xfrm>
          <a:prstGeom prst="ellipse">
            <a:avLst/>
          </a:prstGeom>
          <a:solidFill>
            <a:srgbClr val="065A82"/>
          </a:solidFill>
          <a:ln/>
        </p:spPr>
      </p:sp>
      <p:pic>
        <p:nvPicPr>
          <p:cNvPr id="16" name="Image 1" descr="preencoded.png">    </p:cNvPr>
          <p:cNvPicPr>
            <a:picLocks noChangeAspect="1"/>
          </p:cNvPicPr>
          <p:nvPr/>
        </p:nvPicPr>
        <p:blipFill>
          <a:blip r:embed="rId2"/>
          <a:stretch>
            <a:fillRect/>
          </a:stretch>
        </p:blipFill>
        <p:spPr>
          <a:xfrm>
            <a:off x="970361" y="4856561"/>
            <a:ext cx="272125" cy="272125"/>
          </a:xfrm>
          <a:prstGeom prst="rect">
            <a:avLst/>
          </a:prstGeom>
        </p:spPr>
      </p:pic>
      <p:sp>
        <p:nvSpPr>
          <p:cNvPr id="17" name="Text 13"/>
          <p:cNvSpPr/>
          <p:nvPr/>
        </p:nvSpPr>
        <p:spPr>
          <a:xfrm>
            <a:off x="1600200" y="4636008"/>
            <a:ext cx="978408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La comparaison qui fait tout comprendre</a:t>
            </a:r>
            <a:endParaRPr lang="en-US" sz="1400" dirty="0"/>
          </a:p>
        </p:txBody>
      </p:sp>
      <p:sp>
        <p:nvSpPr>
          <p:cNvPr id="18" name="Text 14"/>
          <p:cNvSpPr/>
          <p:nvPr/>
        </p:nvSpPr>
        <p:spPr>
          <a:xfrm>
            <a:off x="1600200" y="5010912"/>
            <a:ext cx="9738360" cy="96012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Pour l'oreille, vous avez une technique : Valsalva, Frenzel, BTV. Pour les sinus, vous n'avez rien — aucun geste ne débouchera un ostium sous l'eau. Toute la sécurité est donc en amont : le contrôle de l'état de santé avant la mise à l'eau est la seule arme disponible.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SINUS (2/2)</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Conduite à tenir — et le piège du spray nasal</a:t>
            </a:r>
            <a:endParaRPr lang="en-US" sz="2800" dirty="0"/>
          </a:p>
        </p:txBody>
      </p:sp>
      <p:sp>
        <p:nvSpPr>
          <p:cNvPr id="4" name="Shape 2"/>
          <p:cNvSpPr/>
          <p:nvPr/>
        </p:nvSpPr>
        <p:spPr>
          <a:xfrm>
            <a:off x="548640" y="1371600"/>
            <a:ext cx="5943600" cy="932688"/>
          </a:xfrm>
          <a:prstGeom prst="roundRect">
            <a:avLst>
              <a:gd name="adj" fmla="val 8824"/>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777240" y="1572768"/>
            <a:ext cx="1600200" cy="530352"/>
          </a:xfrm>
          <a:prstGeom prst="roundRect">
            <a:avLst>
              <a:gd name="adj" fmla="val 12069"/>
            </a:avLst>
          </a:prstGeom>
          <a:solidFill>
            <a:srgbClr val="D9541E"/>
          </a:solidFill>
          <a:ln/>
        </p:spPr>
      </p:sp>
      <p:sp>
        <p:nvSpPr>
          <p:cNvPr id="6" name="Text 4"/>
          <p:cNvSpPr/>
          <p:nvPr/>
        </p:nvSpPr>
        <p:spPr>
          <a:xfrm>
            <a:off x="822960" y="1572768"/>
            <a:ext cx="1536192" cy="53035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À la descente</a:t>
            </a:r>
            <a:endParaRPr lang="en-US" sz="1000" dirty="0"/>
          </a:p>
        </p:txBody>
      </p:sp>
      <p:sp>
        <p:nvSpPr>
          <p:cNvPr id="7" name="Text 5"/>
          <p:cNvSpPr/>
          <p:nvPr/>
        </p:nvSpPr>
        <p:spPr>
          <a:xfrm>
            <a:off x="2514600" y="1444752"/>
            <a:ext cx="3840480" cy="804672"/>
          </a:xfrm>
          <a:prstGeom prst="rect">
            <a:avLst/>
          </a:prstGeom>
          <a:noFill/>
          <a:ln/>
        </p:spPr>
        <p:txBody>
          <a:bodyPr wrap="square" lIns="0" tIns="0" rIns="0" bIns="0" rtlCol="0" anchor="ctr"/>
          <a:lstStyle/>
          <a:p>
            <a:pPr indent="0" marL="0">
              <a:lnSpc>
                <a:spcPct val="105000"/>
              </a:lnSpc>
              <a:buNone/>
            </a:pPr>
            <a:r>
              <a:rPr lang="en-US" sz="1000" dirty="0">
                <a:solidFill>
                  <a:srgbClr val="1F3347"/>
                </a:solidFill>
                <a:latin typeface="Calibri" pitchFamily="34" charset="0"/>
                <a:ea typeface="Calibri" pitchFamily="34" charset="-122"/>
                <a:cs typeface="Calibri" pitchFamily="34" charset="-120"/>
              </a:rPr>
              <a:t>STOP + signe « ça ne va pas »</a:t>
            </a:r>
            <a:endParaRPr lang="en-US" sz="1000" dirty="0"/>
          </a:p>
        </p:txBody>
      </p:sp>
      <p:sp>
        <p:nvSpPr>
          <p:cNvPr id="8" name="Shape 6"/>
          <p:cNvSpPr/>
          <p:nvPr/>
        </p:nvSpPr>
        <p:spPr>
          <a:xfrm>
            <a:off x="548640" y="2414016"/>
            <a:ext cx="5943600" cy="932688"/>
          </a:xfrm>
          <a:prstGeom prst="roundRect">
            <a:avLst>
              <a:gd name="adj" fmla="val 8824"/>
            </a:avLst>
          </a:prstGeom>
          <a:solidFill>
            <a:srgbClr val="F2F7FB"/>
          </a:solidFill>
          <a:ln/>
          <a:effectLst>
            <a:outerShdw sx="100000" sy="100000" kx="0" ky="0" algn="bl" rotWithShape="0" blurRad="88900" dist="25400" dir="5400000">
              <a:srgbClr val="0A2942">
                <a:alpha val="16000"/>
              </a:srgbClr>
            </a:outerShdw>
          </a:effectLst>
        </p:spPr>
      </p:sp>
      <p:sp>
        <p:nvSpPr>
          <p:cNvPr id="9" name="Shape 7"/>
          <p:cNvSpPr/>
          <p:nvPr/>
        </p:nvSpPr>
        <p:spPr>
          <a:xfrm>
            <a:off x="777240" y="2615184"/>
            <a:ext cx="1600200" cy="530352"/>
          </a:xfrm>
          <a:prstGeom prst="roundRect">
            <a:avLst>
              <a:gd name="adj" fmla="val 12069"/>
            </a:avLst>
          </a:prstGeom>
          <a:solidFill>
            <a:srgbClr val="C77F0A"/>
          </a:solidFill>
          <a:ln/>
        </p:spPr>
      </p:sp>
      <p:sp>
        <p:nvSpPr>
          <p:cNvPr id="10" name="Text 8"/>
          <p:cNvSpPr/>
          <p:nvPr/>
        </p:nvSpPr>
        <p:spPr>
          <a:xfrm>
            <a:off x="822960" y="2615184"/>
            <a:ext cx="1536192" cy="53035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À la remontée</a:t>
            </a:r>
            <a:endParaRPr lang="en-US" sz="1000" dirty="0"/>
          </a:p>
        </p:txBody>
      </p:sp>
      <p:sp>
        <p:nvSpPr>
          <p:cNvPr id="11" name="Text 9"/>
          <p:cNvSpPr/>
          <p:nvPr/>
        </p:nvSpPr>
        <p:spPr>
          <a:xfrm>
            <a:off x="2514600" y="2487168"/>
            <a:ext cx="3840480" cy="804672"/>
          </a:xfrm>
          <a:prstGeom prst="rect">
            <a:avLst/>
          </a:prstGeom>
          <a:noFill/>
          <a:ln/>
        </p:spPr>
        <p:txBody>
          <a:bodyPr wrap="square" lIns="0" tIns="0" rIns="0" bIns="0" rtlCol="0" anchor="ctr"/>
          <a:lstStyle/>
          <a:p>
            <a:pPr indent="0" marL="0">
              <a:lnSpc>
                <a:spcPct val="105000"/>
              </a:lnSpc>
              <a:buNone/>
            </a:pPr>
            <a:r>
              <a:rPr lang="en-US" sz="1000" dirty="0">
                <a:solidFill>
                  <a:srgbClr val="1F3347"/>
                </a:solidFill>
                <a:latin typeface="Calibri" pitchFamily="34" charset="0"/>
                <a:ea typeface="Calibri" pitchFamily="34" charset="-122"/>
                <a:cs typeface="Calibri" pitchFamily="34" charset="-120"/>
              </a:rPr>
              <a:t>Redescendre un peu pour rééquilibrer, puis remonter lentement + signe</a:t>
            </a:r>
            <a:endParaRPr lang="en-US" sz="1000" dirty="0"/>
          </a:p>
        </p:txBody>
      </p:sp>
      <p:sp>
        <p:nvSpPr>
          <p:cNvPr id="12" name="Shape 10"/>
          <p:cNvSpPr/>
          <p:nvPr/>
        </p:nvSpPr>
        <p:spPr>
          <a:xfrm>
            <a:off x="548640" y="3456432"/>
            <a:ext cx="5943600" cy="932688"/>
          </a:xfrm>
          <a:prstGeom prst="roundRect">
            <a:avLst>
              <a:gd name="adj" fmla="val 8824"/>
            </a:avLst>
          </a:prstGeom>
          <a:solidFill>
            <a:srgbClr val="F2F7FB"/>
          </a:solidFill>
          <a:ln/>
          <a:effectLst>
            <a:outerShdw sx="100000" sy="100000" kx="0" ky="0" algn="bl" rotWithShape="0" blurRad="88900" dist="25400" dir="5400000">
              <a:srgbClr val="0A2942">
                <a:alpha val="16000"/>
              </a:srgbClr>
            </a:outerShdw>
          </a:effectLst>
        </p:spPr>
      </p:sp>
      <p:sp>
        <p:nvSpPr>
          <p:cNvPr id="13" name="Shape 11"/>
          <p:cNvSpPr/>
          <p:nvPr/>
        </p:nvSpPr>
        <p:spPr>
          <a:xfrm>
            <a:off x="777240" y="3657600"/>
            <a:ext cx="1600200" cy="530352"/>
          </a:xfrm>
          <a:prstGeom prst="roundRect">
            <a:avLst>
              <a:gd name="adj" fmla="val 12069"/>
            </a:avLst>
          </a:prstGeom>
          <a:solidFill>
            <a:srgbClr val="1C7293"/>
          </a:solidFill>
          <a:ln/>
        </p:spPr>
      </p:sp>
      <p:sp>
        <p:nvSpPr>
          <p:cNvPr id="14" name="Text 12"/>
          <p:cNvSpPr/>
          <p:nvPr/>
        </p:nvSpPr>
        <p:spPr>
          <a:xfrm>
            <a:off x="822960" y="3657600"/>
            <a:ext cx="1536192" cy="53035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En surface</a:t>
            </a:r>
            <a:endParaRPr lang="en-US" sz="1000" dirty="0"/>
          </a:p>
        </p:txBody>
      </p:sp>
      <p:sp>
        <p:nvSpPr>
          <p:cNvPr id="15" name="Text 13"/>
          <p:cNvSpPr/>
          <p:nvPr/>
        </p:nvSpPr>
        <p:spPr>
          <a:xfrm>
            <a:off x="2514600" y="3529584"/>
            <a:ext cx="3840480" cy="804672"/>
          </a:xfrm>
          <a:prstGeom prst="rect">
            <a:avLst/>
          </a:prstGeom>
          <a:noFill/>
          <a:ln/>
        </p:spPr>
        <p:txBody>
          <a:bodyPr wrap="square" lIns="0" tIns="0" rIns="0" bIns="0" rtlCol="0" anchor="ctr"/>
          <a:lstStyle/>
          <a:p>
            <a:pPr indent="0" marL="0">
              <a:lnSpc>
                <a:spcPct val="105000"/>
              </a:lnSpc>
              <a:buNone/>
            </a:pPr>
            <a:r>
              <a:rPr lang="en-US" sz="1000" dirty="0">
                <a:solidFill>
                  <a:srgbClr val="1F3347"/>
                </a:solidFill>
                <a:latin typeface="Calibri" pitchFamily="34" charset="0"/>
                <a:ea typeface="Calibri" pitchFamily="34" charset="-122"/>
                <a:cs typeface="Calibri" pitchFamily="34" charset="-120"/>
              </a:rPr>
              <a:t>Problème à la remontée : douleur forte, fin de séance · à la descente : se moucher, nouvel essai SANS FORCER et SOUS SURVEILLANCE · saignement : STOP</a:t>
            </a:r>
            <a:endParaRPr lang="en-US" sz="1000" dirty="0"/>
          </a:p>
        </p:txBody>
      </p:sp>
      <p:sp>
        <p:nvSpPr>
          <p:cNvPr id="16" name="Shape 14"/>
          <p:cNvSpPr/>
          <p:nvPr/>
        </p:nvSpPr>
        <p:spPr>
          <a:xfrm>
            <a:off x="548640" y="4498848"/>
            <a:ext cx="5943600" cy="932688"/>
          </a:xfrm>
          <a:prstGeom prst="roundRect">
            <a:avLst>
              <a:gd name="adj" fmla="val 8824"/>
            </a:avLst>
          </a:prstGeom>
          <a:solidFill>
            <a:srgbClr val="F2F7FB"/>
          </a:solidFill>
          <a:ln/>
          <a:effectLst>
            <a:outerShdw sx="100000" sy="100000" kx="0" ky="0" algn="bl" rotWithShape="0" blurRad="88900" dist="25400" dir="5400000">
              <a:srgbClr val="0A2942">
                <a:alpha val="16000"/>
              </a:srgbClr>
            </a:outerShdw>
          </a:effectLst>
        </p:spPr>
      </p:sp>
      <p:sp>
        <p:nvSpPr>
          <p:cNvPr id="17" name="Shape 15"/>
          <p:cNvSpPr/>
          <p:nvPr/>
        </p:nvSpPr>
        <p:spPr>
          <a:xfrm>
            <a:off x="777240" y="4700016"/>
            <a:ext cx="1600200" cy="530352"/>
          </a:xfrm>
          <a:prstGeom prst="roundRect">
            <a:avLst>
              <a:gd name="adj" fmla="val 12069"/>
            </a:avLst>
          </a:prstGeom>
          <a:solidFill>
            <a:srgbClr val="065A82"/>
          </a:solidFill>
          <a:ln/>
        </p:spPr>
      </p:sp>
      <p:sp>
        <p:nvSpPr>
          <p:cNvPr id="18" name="Text 16"/>
          <p:cNvSpPr/>
          <p:nvPr/>
        </p:nvSpPr>
        <p:spPr>
          <a:xfrm>
            <a:off x="822960" y="4700016"/>
            <a:ext cx="1536192" cy="53035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Au sec</a:t>
            </a:r>
            <a:endParaRPr lang="en-US" sz="1000" dirty="0"/>
          </a:p>
        </p:txBody>
      </p:sp>
      <p:sp>
        <p:nvSpPr>
          <p:cNvPr id="19" name="Text 17"/>
          <p:cNvSpPr/>
          <p:nvPr/>
        </p:nvSpPr>
        <p:spPr>
          <a:xfrm>
            <a:off x="2514600" y="4572000"/>
            <a:ext cx="3840480" cy="804672"/>
          </a:xfrm>
          <a:prstGeom prst="rect">
            <a:avLst/>
          </a:prstGeom>
          <a:noFill/>
          <a:ln/>
        </p:spPr>
        <p:txBody>
          <a:bodyPr wrap="square" lIns="0" tIns="0" rIns="0" bIns="0" rtlCol="0" anchor="ctr"/>
          <a:lstStyle/>
          <a:p>
            <a:pPr indent="0" marL="0">
              <a:lnSpc>
                <a:spcPct val="105000"/>
              </a:lnSpc>
              <a:buNone/>
            </a:pPr>
            <a:r>
              <a:rPr lang="en-US" sz="1000" dirty="0">
                <a:solidFill>
                  <a:srgbClr val="1F3347"/>
                </a:solidFill>
                <a:latin typeface="Calibri" pitchFamily="34" charset="0"/>
                <a:ea typeface="Calibri" pitchFamily="34" charset="-122"/>
                <a:cs typeface="Calibri" pitchFamily="34" charset="-120"/>
              </a:rPr>
              <a:t>Douleur forte ou persistante : visite ORL</a:t>
            </a:r>
            <a:endParaRPr lang="en-US" sz="1000" dirty="0"/>
          </a:p>
        </p:txBody>
      </p:sp>
      <p:sp>
        <p:nvSpPr>
          <p:cNvPr id="20" name="Shape 18"/>
          <p:cNvSpPr/>
          <p:nvPr/>
        </p:nvSpPr>
        <p:spPr>
          <a:xfrm>
            <a:off x="6675120" y="1371600"/>
            <a:ext cx="4946904" cy="4160520"/>
          </a:xfrm>
          <a:prstGeom prst="roundRect">
            <a:avLst>
              <a:gd name="adj" fmla="val 1978"/>
            </a:avLst>
          </a:prstGeom>
          <a:solidFill>
            <a:srgbClr val="FBE9E1"/>
          </a:solidFill>
          <a:ln/>
          <a:effectLst>
            <a:outerShdw sx="100000" sy="100000" kx="0" ky="0" algn="bl" rotWithShape="0" blurRad="88900" dist="25400" dir="5400000">
              <a:srgbClr val="0A2942">
                <a:alpha val="16000"/>
              </a:srgbClr>
            </a:outerShdw>
          </a:effectLst>
        </p:spPr>
      </p:sp>
      <p:sp>
        <p:nvSpPr>
          <p:cNvPr id="21" name="Shape 19"/>
          <p:cNvSpPr/>
          <p:nvPr/>
        </p:nvSpPr>
        <p:spPr>
          <a:xfrm>
            <a:off x="6949440" y="1645920"/>
            <a:ext cx="548640" cy="548640"/>
          </a:xfrm>
          <a:prstGeom prst="ellipse">
            <a:avLst/>
          </a:prstGeom>
          <a:solidFill>
            <a:srgbClr val="D9541E"/>
          </a:solidFill>
          <a:ln/>
        </p:spPr>
      </p:sp>
      <p:pic>
        <p:nvPicPr>
          <p:cNvPr id="22" name="Image 0" descr="preencoded.png">    </p:cNvPr>
          <p:cNvPicPr>
            <a:picLocks noChangeAspect="1"/>
          </p:cNvPicPr>
          <p:nvPr/>
        </p:nvPicPr>
        <p:blipFill>
          <a:blip r:embed="rId1"/>
          <a:stretch>
            <a:fillRect/>
          </a:stretch>
        </p:blipFill>
        <p:spPr>
          <a:xfrm>
            <a:off x="7092086" y="1788566"/>
            <a:ext cx="263347" cy="263347"/>
          </a:xfrm>
          <a:prstGeom prst="rect">
            <a:avLst/>
          </a:prstGeom>
        </p:spPr>
      </p:pic>
      <p:sp>
        <p:nvSpPr>
          <p:cNvPr id="23" name="Text 20"/>
          <p:cNvSpPr/>
          <p:nvPr/>
        </p:nvSpPr>
        <p:spPr>
          <a:xfrm>
            <a:off x="7680960" y="1609344"/>
            <a:ext cx="3749040" cy="685800"/>
          </a:xfrm>
          <a:prstGeom prst="rect">
            <a:avLst/>
          </a:prstGeom>
          <a:noFill/>
          <a:ln/>
        </p:spPr>
        <p:txBody>
          <a:bodyPr wrap="square" lIns="0" tIns="0" rIns="0" bIns="0" rtlCol="0" anchor="ctr"/>
          <a:lstStyle/>
          <a:p>
            <a:pPr indent="0" marL="0">
              <a:lnSpc>
                <a:spcPct val="100000"/>
              </a:lnSpc>
              <a:buNone/>
            </a:pPr>
            <a:r>
              <a:rPr lang="en-US" sz="1300" b="1" dirty="0">
                <a:solidFill>
                  <a:srgbClr val="9C3A10"/>
                </a:solidFill>
                <a:latin typeface="Calibri" pitchFamily="34" charset="0"/>
                <a:ea typeface="Calibri" pitchFamily="34" charset="-122"/>
                <a:cs typeface="Calibri" pitchFamily="34" charset="-120"/>
              </a:rPr>
              <a:t>Le piège le plus courant en club :</a:t>
            </a:r>
            <a:endParaRPr lang="en-US" sz="1300" dirty="0"/>
          </a:p>
          <a:p>
            <a:pPr indent="0" marL="0">
              <a:lnSpc>
                <a:spcPct val="100000"/>
              </a:lnSpc>
              <a:buNone/>
            </a:pPr>
            <a:r>
              <a:rPr lang="en-US" sz="1300" b="1" dirty="0">
                <a:solidFill>
                  <a:srgbClr val="9C3A10"/>
                </a:solidFill>
                <a:latin typeface="Calibri" pitchFamily="34" charset="0"/>
                <a:ea typeface="Calibri" pitchFamily="34" charset="-122"/>
                <a:cs typeface="Calibri" pitchFamily="34" charset="-120"/>
              </a:rPr>
              <a:t>les décongestionnants nasaux</a:t>
            </a:r>
            <a:endParaRPr lang="en-US" sz="1300" dirty="0"/>
          </a:p>
        </p:txBody>
      </p:sp>
      <p:sp>
        <p:nvSpPr>
          <p:cNvPr id="24" name="Text 21"/>
          <p:cNvSpPr/>
          <p:nvPr/>
        </p:nvSpPr>
        <p:spPr>
          <a:xfrm>
            <a:off x="6949440" y="2423160"/>
            <a:ext cx="4434840" cy="30175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Le spray libère le nez : ça « marche », l'élève descend sans douleur</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Mais l'effet est temporaire, suivi d'un effet REBOND : les muqueuses regonflent, souvent plus qu'avant</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Si l'effet cesse au fond : ostium refermé, sinus bloqué en profondeur — la pire configuration, celle du barotraumatisme de remontée, sans issue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Le spray ne supprime pas le risque : il le déplace au plus mauvais moment</a:t>
            </a:r>
            <a:endParaRPr lang="en-US" sz="1100" dirty="0"/>
          </a:p>
        </p:txBody>
      </p:sp>
      <p:sp>
        <p:nvSpPr>
          <p:cNvPr id="25" name="Shape 22"/>
          <p:cNvSpPr/>
          <p:nvPr/>
        </p:nvSpPr>
        <p:spPr>
          <a:xfrm>
            <a:off x="548640" y="5532120"/>
            <a:ext cx="5943600" cy="777240"/>
          </a:xfrm>
          <a:prstGeom prst="roundRect">
            <a:avLst>
              <a:gd name="adj" fmla="val 10588"/>
            </a:avLst>
          </a:prstGeom>
          <a:solidFill>
            <a:srgbClr val="E7F3EC"/>
          </a:solidFill>
          <a:ln/>
          <a:effectLst>
            <a:outerShdw sx="100000" sy="100000" kx="0" ky="0" algn="bl" rotWithShape="0" blurRad="88900" dist="25400" dir="5400000">
              <a:srgbClr val="0A2942">
                <a:alpha val="16000"/>
              </a:srgbClr>
            </a:outerShdw>
          </a:effectLst>
        </p:spPr>
      </p:sp>
      <p:sp>
        <p:nvSpPr>
          <p:cNvPr id="26" name="Text 23"/>
          <p:cNvSpPr/>
          <p:nvPr/>
        </p:nvSpPr>
        <p:spPr>
          <a:xfrm>
            <a:off x="777240" y="5577840"/>
            <a:ext cx="5532120" cy="685800"/>
          </a:xfrm>
          <a:prstGeom prst="rect">
            <a:avLst/>
          </a:prstGeom>
          <a:noFill/>
          <a:ln/>
        </p:spPr>
        <p:txBody>
          <a:bodyPr wrap="square" lIns="0" tIns="0" rIns="0" bIns="0" rtlCol="0" anchor="ctr"/>
          <a:lstStyle/>
          <a:p>
            <a:pPr indent="0" marL="0">
              <a:lnSpc>
                <a:spcPct val="105000"/>
              </a:lnSpc>
              <a:buNone/>
            </a:pPr>
            <a:r>
              <a:rPr lang="en-US" sz="1050" b="1" i="1" dirty="0">
                <a:solidFill>
                  <a:srgbClr val="2C8C5A"/>
                </a:solidFill>
                <a:latin typeface="Calibri" pitchFamily="34" charset="0"/>
                <a:ea typeface="Calibri" pitchFamily="34" charset="-122"/>
                <a:cs typeface="Calibri" pitchFamily="34" charset="-120"/>
              </a:rPr>
              <a:t>« Si vous avez besoin d'un médicament pour compenser, c'est que vous ne devez pas plonger aujourd'hui. »</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PLAQUAGE DE MASQUE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masque-ventouse : spectaculaire, rarement grave</a:t>
            </a:r>
            <a:endParaRPr lang="en-US" sz="2800" dirty="0"/>
          </a:p>
        </p:txBody>
      </p:sp>
      <p:sp>
        <p:nvSpPr>
          <p:cNvPr id="4" name="Shape 2"/>
          <p:cNvSpPr/>
          <p:nvPr/>
        </p:nvSpPr>
        <p:spPr>
          <a:xfrm>
            <a:off x="548640" y="1371600"/>
            <a:ext cx="3605784" cy="1417320"/>
          </a:xfrm>
          <a:prstGeom prst="roundRect">
            <a:avLst>
              <a:gd name="adj" fmla="val 5161"/>
            </a:avLst>
          </a:prstGeom>
          <a:solidFill>
            <a:srgbClr val="1C7293"/>
          </a:solidFill>
          <a:ln/>
          <a:effectLst>
            <a:outerShdw sx="100000" sy="100000" kx="0" ky="0" algn="bl" rotWithShape="0" blurRad="88900" dist="25400" dir="5400000">
              <a:srgbClr val="0A2942">
                <a:alpha val="16000"/>
              </a:srgbClr>
            </a:outerShdw>
          </a:effectLst>
        </p:spPr>
      </p:sp>
      <p:sp>
        <p:nvSpPr>
          <p:cNvPr id="5" name="Text 3"/>
          <p:cNvSpPr/>
          <p:nvPr/>
        </p:nvSpPr>
        <p:spPr>
          <a:xfrm>
            <a:off x="731520" y="1517904"/>
            <a:ext cx="324002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Descente</a:t>
            </a:r>
            <a:endParaRPr lang="en-US" sz="1200" dirty="0"/>
          </a:p>
        </p:txBody>
      </p:sp>
      <p:sp>
        <p:nvSpPr>
          <p:cNvPr id="6" name="Text 4"/>
          <p:cNvSpPr/>
          <p:nvPr/>
        </p:nvSpPr>
        <p:spPr>
          <a:xfrm>
            <a:off x="731520" y="2084832"/>
            <a:ext cx="3240024" cy="55778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L'air du masque se comprime (Mariotte)</a:t>
            </a:r>
            <a:endParaRPr lang="en-US" sz="1000" dirty="0"/>
          </a:p>
        </p:txBody>
      </p:sp>
      <p:sp>
        <p:nvSpPr>
          <p:cNvPr id="7" name="Text 5"/>
          <p:cNvSpPr/>
          <p:nvPr/>
        </p:nvSpPr>
        <p:spPr>
          <a:xfrm>
            <a:off x="4126992" y="18516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4282440" y="1371600"/>
            <a:ext cx="3605784" cy="1417320"/>
          </a:xfrm>
          <a:prstGeom prst="roundRect">
            <a:avLst>
              <a:gd name="adj" fmla="val 5161"/>
            </a:avLst>
          </a:prstGeom>
          <a:solidFill>
            <a:srgbClr val="065A82"/>
          </a:solidFill>
          <a:ln/>
          <a:effectLst>
            <a:outerShdw sx="100000" sy="100000" kx="0" ky="0" algn="bl" rotWithShape="0" blurRad="88900" dist="25400" dir="5400000">
              <a:srgbClr val="0A2942">
                <a:alpha val="16000"/>
              </a:srgbClr>
            </a:outerShdw>
          </a:effectLst>
        </p:spPr>
      </p:sp>
      <p:sp>
        <p:nvSpPr>
          <p:cNvPr id="9" name="Text 7"/>
          <p:cNvSpPr/>
          <p:nvPr/>
        </p:nvSpPr>
        <p:spPr>
          <a:xfrm>
            <a:off x="4465320" y="1517904"/>
            <a:ext cx="324002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La jupe se déforme</a:t>
            </a:r>
            <a:endParaRPr lang="en-US" sz="1200" dirty="0"/>
          </a:p>
        </p:txBody>
      </p:sp>
      <p:sp>
        <p:nvSpPr>
          <p:cNvPr id="10" name="Text 8"/>
          <p:cNvSpPr/>
          <p:nvPr/>
        </p:nvSpPr>
        <p:spPr>
          <a:xfrm>
            <a:off x="4465320" y="2084832"/>
            <a:ext cx="3240024" cy="55778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…jusqu'à sa limite d'élasticité</a:t>
            </a:r>
            <a:endParaRPr lang="en-US" sz="1000" dirty="0"/>
          </a:p>
        </p:txBody>
      </p:sp>
      <p:sp>
        <p:nvSpPr>
          <p:cNvPr id="11" name="Text 9"/>
          <p:cNvSpPr/>
          <p:nvPr/>
        </p:nvSpPr>
        <p:spPr>
          <a:xfrm>
            <a:off x="7860792" y="18516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8016240" y="1371600"/>
            <a:ext cx="3605784" cy="1417320"/>
          </a:xfrm>
          <a:prstGeom prst="roundRect">
            <a:avLst>
              <a:gd name="adj" fmla="val 5161"/>
            </a:avLst>
          </a:prstGeom>
          <a:solidFill>
            <a:srgbClr val="D9541E"/>
          </a:solidFill>
          <a:ln/>
          <a:effectLst>
            <a:outerShdw sx="100000" sy="100000" kx="0" ky="0" algn="bl" rotWithShape="0" blurRad="88900" dist="25400" dir="5400000">
              <a:srgbClr val="0A2942">
                <a:alpha val="16000"/>
              </a:srgbClr>
            </a:outerShdw>
          </a:effectLst>
        </p:spPr>
      </p:sp>
      <p:sp>
        <p:nvSpPr>
          <p:cNvPr id="13" name="Text 11"/>
          <p:cNvSpPr/>
          <p:nvPr/>
        </p:nvSpPr>
        <p:spPr>
          <a:xfrm>
            <a:off x="8199120" y="1517904"/>
            <a:ext cx="324002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Effet ventouse</a:t>
            </a:r>
            <a:endParaRPr lang="en-US" sz="1200" dirty="0"/>
          </a:p>
        </p:txBody>
      </p:sp>
      <p:sp>
        <p:nvSpPr>
          <p:cNvPr id="14" name="Text 12"/>
          <p:cNvSpPr/>
          <p:nvPr/>
        </p:nvSpPr>
        <p:spPr>
          <a:xfrm>
            <a:off x="8199120" y="2084832"/>
            <a:ext cx="3240024" cy="557784"/>
          </a:xfrm>
          <a:prstGeom prst="rect">
            <a:avLst/>
          </a:prstGeom>
          <a:noFill/>
          <a:ln/>
        </p:spPr>
        <p:txBody>
          <a:bodyPr wrap="square" lIns="0" tIns="0" rIns="0" bIns="0" rtlCol="0" anchor="t"/>
          <a:lstStyle/>
          <a:p>
            <a:pPr indent="0" marL="0">
              <a:lnSpc>
                <a:spcPct val="105000"/>
              </a:lnSpc>
              <a:buNone/>
            </a:pPr>
            <a:r>
              <a:rPr lang="en-US" sz="1000" dirty="0">
                <a:solidFill>
                  <a:srgbClr val="F0F6FA"/>
                </a:solidFill>
                <a:latin typeface="Calibri" pitchFamily="34" charset="0"/>
                <a:ea typeface="Calibri" pitchFamily="34" charset="-122"/>
                <a:cs typeface="Calibri" pitchFamily="34" charset="-120"/>
              </a:rPr>
              <a:t>La dépression s'exerce sur ce que la jupe entoure : les yeux et le nez</a:t>
            </a:r>
            <a:endParaRPr lang="en-US" sz="1000" dirty="0"/>
          </a:p>
        </p:txBody>
      </p:sp>
      <p:sp>
        <p:nvSpPr>
          <p:cNvPr id="15" name="Shape 13"/>
          <p:cNvSpPr/>
          <p:nvPr/>
        </p:nvSpPr>
        <p:spPr>
          <a:xfrm>
            <a:off x="548640" y="3063240"/>
            <a:ext cx="2697480" cy="288036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16" name="Text 14"/>
          <p:cNvSpPr/>
          <p:nvPr/>
        </p:nvSpPr>
        <p:spPr>
          <a:xfrm>
            <a:off x="749808" y="3191256"/>
            <a:ext cx="2295144" cy="32004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Causes</a:t>
            </a:r>
            <a:endParaRPr lang="en-US" sz="1250" dirty="0"/>
          </a:p>
        </p:txBody>
      </p:sp>
      <p:sp>
        <p:nvSpPr>
          <p:cNvPr id="17" name="Text 15"/>
          <p:cNvSpPr/>
          <p:nvPr/>
        </p:nvSpPr>
        <p:spPr>
          <a:xfrm>
            <a:off x="768096" y="3566160"/>
            <a:ext cx="2258568" cy="228600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Inexpérience + stress : on oublie de souffler</a:t>
            </a:r>
            <a:endParaRPr lang="en-US" sz="1000" dirty="0"/>
          </a:p>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Masque de gros volume ou inadapté (nez à l'extérieur)</a:t>
            </a:r>
            <a:endParaRPr lang="en-US" sz="1000" dirty="0"/>
          </a:p>
        </p:txBody>
      </p:sp>
      <p:sp>
        <p:nvSpPr>
          <p:cNvPr id="18" name="Shape 16"/>
          <p:cNvSpPr/>
          <p:nvPr/>
        </p:nvSpPr>
        <p:spPr>
          <a:xfrm>
            <a:off x="3346704" y="3063240"/>
            <a:ext cx="2697480" cy="288036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19" name="Text 17"/>
          <p:cNvSpPr/>
          <p:nvPr/>
        </p:nvSpPr>
        <p:spPr>
          <a:xfrm>
            <a:off x="3547872" y="3191256"/>
            <a:ext cx="2295144" cy="32004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Symptômes</a:t>
            </a:r>
            <a:endParaRPr lang="en-US" sz="1250" dirty="0"/>
          </a:p>
        </p:txBody>
      </p:sp>
      <p:sp>
        <p:nvSpPr>
          <p:cNvPr id="20" name="Text 18"/>
          <p:cNvSpPr/>
          <p:nvPr/>
        </p:nvSpPr>
        <p:spPr>
          <a:xfrm>
            <a:off x="3566160" y="3566160"/>
            <a:ext cx="2258568" cy="228600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Peu douloureux en général mais impressionnant : épistaxis, yeux au beurre noir, hémorragie conjonctivale (yeux injectés de sang)</a:t>
            </a:r>
            <a:endParaRPr lang="en-US" sz="1000" dirty="0"/>
          </a:p>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Très rarement : décollement de rétine</a:t>
            </a:r>
            <a:endParaRPr lang="en-US" sz="1000" dirty="0"/>
          </a:p>
        </p:txBody>
      </p:sp>
      <p:sp>
        <p:nvSpPr>
          <p:cNvPr id="21" name="Shape 19"/>
          <p:cNvSpPr/>
          <p:nvPr/>
        </p:nvSpPr>
        <p:spPr>
          <a:xfrm>
            <a:off x="6144768" y="3063240"/>
            <a:ext cx="2697480" cy="2880360"/>
          </a:xfrm>
          <a:prstGeom prst="roundRect">
            <a:avLst>
              <a:gd name="adj" fmla="val 3051"/>
            </a:avLst>
          </a:prstGeom>
          <a:solidFill>
            <a:srgbClr val="FBE9E1"/>
          </a:solidFill>
          <a:ln/>
          <a:effectLst>
            <a:outerShdw sx="100000" sy="100000" kx="0" ky="0" algn="bl" rotWithShape="0" blurRad="88900" dist="25400" dir="5400000">
              <a:srgbClr val="0A2942">
                <a:alpha val="16000"/>
              </a:srgbClr>
            </a:outerShdw>
          </a:effectLst>
        </p:spPr>
      </p:sp>
      <p:sp>
        <p:nvSpPr>
          <p:cNvPr id="22" name="Text 20"/>
          <p:cNvSpPr/>
          <p:nvPr/>
        </p:nvSpPr>
        <p:spPr>
          <a:xfrm>
            <a:off x="6345936" y="3191256"/>
            <a:ext cx="2295144" cy="320040"/>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Conduite à tenir</a:t>
            </a:r>
            <a:endParaRPr lang="en-US" sz="1250" dirty="0"/>
          </a:p>
        </p:txBody>
      </p:sp>
      <p:sp>
        <p:nvSpPr>
          <p:cNvPr id="23" name="Text 21"/>
          <p:cNvSpPr/>
          <p:nvPr/>
        </p:nvSpPr>
        <p:spPr>
          <a:xfrm>
            <a:off x="6364224" y="3566160"/>
            <a:ext cx="2258568" cy="228600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STOP séance · stopper le saignement (assis, tête penchée en avant, narine comprimée)</a:t>
            </a:r>
            <a:endParaRPr lang="en-US" sz="1000" dirty="0"/>
          </a:p>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Troubles visuels ou hémorragie importante → ophtalmologue LE JOUR MÊME</a:t>
            </a:r>
            <a:endParaRPr lang="en-US" sz="1000" dirty="0"/>
          </a:p>
        </p:txBody>
      </p:sp>
      <p:sp>
        <p:nvSpPr>
          <p:cNvPr id="24" name="Shape 22"/>
          <p:cNvSpPr/>
          <p:nvPr/>
        </p:nvSpPr>
        <p:spPr>
          <a:xfrm>
            <a:off x="8942832" y="3063240"/>
            <a:ext cx="2697480" cy="2880360"/>
          </a:xfrm>
          <a:prstGeom prst="roundRect">
            <a:avLst>
              <a:gd name="adj" fmla="val 3051"/>
            </a:avLst>
          </a:prstGeom>
          <a:solidFill>
            <a:srgbClr val="E7F3EC"/>
          </a:solidFill>
          <a:ln/>
          <a:effectLst>
            <a:outerShdw sx="100000" sy="100000" kx="0" ky="0" algn="bl" rotWithShape="0" blurRad="88900" dist="25400" dir="5400000">
              <a:srgbClr val="0A2942">
                <a:alpha val="16000"/>
              </a:srgbClr>
            </a:outerShdw>
          </a:effectLst>
        </p:spPr>
      </p:sp>
      <p:sp>
        <p:nvSpPr>
          <p:cNvPr id="25" name="Text 23"/>
          <p:cNvSpPr/>
          <p:nvPr/>
        </p:nvSpPr>
        <p:spPr>
          <a:xfrm>
            <a:off x="9144000" y="3191256"/>
            <a:ext cx="2295144" cy="320040"/>
          </a:xfrm>
          <a:prstGeom prst="rect">
            <a:avLst/>
          </a:prstGeom>
          <a:noFill/>
          <a:ln/>
        </p:spPr>
        <p:txBody>
          <a:bodyPr wrap="square" lIns="0" tIns="0" rIns="0" bIns="0" rtlCol="0" anchor="ctr"/>
          <a:lstStyle/>
          <a:p>
            <a:pPr indent="0" marL="0">
              <a:buNone/>
            </a:pPr>
            <a:r>
              <a:rPr lang="en-US" sz="1250" b="1" dirty="0">
                <a:solidFill>
                  <a:srgbClr val="2C8C5A"/>
                </a:solidFill>
                <a:latin typeface="Calibri" pitchFamily="34" charset="0"/>
                <a:ea typeface="Calibri" pitchFamily="34" charset="-122"/>
                <a:cs typeface="Calibri" pitchFamily="34" charset="-120"/>
              </a:rPr>
              <a:t>Prévention</a:t>
            </a:r>
            <a:endParaRPr lang="en-US" sz="1250" dirty="0"/>
          </a:p>
        </p:txBody>
      </p:sp>
      <p:sp>
        <p:nvSpPr>
          <p:cNvPr id="26" name="Text 24"/>
          <p:cNvSpPr/>
          <p:nvPr/>
        </p:nvSpPr>
        <p:spPr>
          <a:xfrm>
            <a:off x="9162288" y="3566160"/>
            <a:ext cx="2258568" cy="228600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À la descente : souffler par le nez, LÉGÈREMENT et RÉGULIÈREMENT (accompagner toute la descente)</a:t>
            </a:r>
            <a:endParaRPr lang="en-US" sz="1000" dirty="0"/>
          </a:p>
          <a:p>
            <a:pPr marL="127000" indent="-127000">
              <a:spcAft>
                <a:spcPts val="500"/>
              </a:spcAft>
              <a:buSzPct val="100000"/>
              <a:buChar char="•"/>
            </a:pPr>
            <a:r>
              <a:rPr lang="en-US" sz="1000" dirty="0">
                <a:solidFill>
                  <a:srgbClr val="1F3347"/>
                </a:solidFill>
                <a:latin typeface="Calibri" pitchFamily="34" charset="0"/>
                <a:ea typeface="Calibri" pitchFamily="34" charset="-122"/>
                <a:cs typeface="Calibri" pitchFamily="34" charset="-120"/>
              </a:rPr>
              <a:t>Masque de petit volume · JAMAIS de lunettes de piscine en profondeur (pas de nez = pas d'équilibrage)</a:t>
            </a:r>
            <a:endParaRPr lang="en-US" sz="1000" dirty="0"/>
          </a:p>
        </p:txBody>
      </p:sp>
      <p:sp>
        <p:nvSpPr>
          <p:cNvPr id="27" name="Text 25"/>
          <p:cNvSpPr/>
          <p:nvPr/>
        </p:nvSpPr>
        <p:spPr>
          <a:xfrm>
            <a:off x="548640" y="60350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Rôle du cadre : arrêter la séance ET rassurer — c'est l'accident qui fait le plus peur et qui est le moins grave (résorption en 1 à 2 semaines) — sans banaliser : le seul critère de gravité est le trouble de la vision.</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SURPRESSION PULMONAIRE (1/2)</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seul barotraumatisme qui peut tuer</a:t>
            </a:r>
            <a:endParaRPr lang="en-US" sz="2800" dirty="0"/>
          </a:p>
        </p:txBody>
      </p:sp>
      <p:sp>
        <p:nvSpPr>
          <p:cNvPr id="4" name="Shape 2"/>
          <p:cNvSpPr/>
          <p:nvPr/>
        </p:nvSpPr>
        <p:spPr>
          <a:xfrm>
            <a:off x="548640" y="1417320"/>
            <a:ext cx="2672334" cy="1783080"/>
          </a:xfrm>
          <a:prstGeom prst="roundRect">
            <a:avLst>
              <a:gd name="adj" fmla="val 4103"/>
            </a:avLst>
          </a:prstGeom>
          <a:solidFill>
            <a:srgbClr val="8C2F0B"/>
          </a:solidFill>
          <a:ln/>
          <a:effectLst>
            <a:outerShdw sx="100000" sy="100000" kx="0" ky="0" algn="bl" rotWithShape="0" blurRad="88900" dist="25400" dir="5400000">
              <a:srgbClr val="0A2942">
                <a:alpha val="16000"/>
              </a:srgbClr>
            </a:outerShdw>
          </a:effectLst>
        </p:spPr>
      </p:sp>
      <p:sp>
        <p:nvSpPr>
          <p:cNvPr id="5" name="Text 3"/>
          <p:cNvSpPr/>
          <p:nvPr/>
        </p:nvSpPr>
        <p:spPr>
          <a:xfrm>
            <a:off x="73152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Prise d'air au fond</a:t>
            </a:r>
            <a:endParaRPr lang="en-US" sz="1150" dirty="0"/>
          </a:p>
        </p:txBody>
      </p:sp>
      <p:sp>
        <p:nvSpPr>
          <p:cNvPr id="6" name="Text 4"/>
          <p:cNvSpPr/>
          <p:nvPr/>
        </p:nvSpPr>
        <p:spPr>
          <a:xfrm>
            <a:off x="731520" y="2130552"/>
            <a:ext cx="2306574" cy="9235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Détendeur d'un plongeur, poche d'air en grotte, sous une épave : l'air est à la pression du fond</a:t>
            </a:r>
            <a:endParaRPr lang="en-US" sz="980" dirty="0"/>
          </a:p>
        </p:txBody>
      </p:sp>
      <p:sp>
        <p:nvSpPr>
          <p:cNvPr id="7" name="Text 5"/>
          <p:cNvSpPr/>
          <p:nvPr/>
        </p:nvSpPr>
        <p:spPr>
          <a:xfrm>
            <a:off x="3193542" y="208026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3348990" y="1417320"/>
            <a:ext cx="2672334" cy="1783080"/>
          </a:xfrm>
          <a:prstGeom prst="roundRect">
            <a:avLst>
              <a:gd name="adj" fmla="val 4103"/>
            </a:avLst>
          </a:prstGeom>
          <a:solidFill>
            <a:srgbClr val="D9541E"/>
          </a:solidFill>
          <a:ln/>
          <a:effectLst>
            <a:outerShdw sx="100000" sy="100000" kx="0" ky="0" algn="bl" rotWithShape="0" blurRad="88900" dist="25400" dir="5400000">
              <a:srgbClr val="0A2942">
                <a:alpha val="16000"/>
              </a:srgbClr>
            </a:outerShdw>
          </a:effectLst>
        </p:spPr>
      </p:sp>
      <p:sp>
        <p:nvSpPr>
          <p:cNvPr id="9" name="Text 7"/>
          <p:cNvSpPr/>
          <p:nvPr/>
        </p:nvSpPr>
        <p:spPr>
          <a:xfrm>
            <a:off x="353187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Remontée en apnée</a:t>
            </a:r>
            <a:endParaRPr lang="en-US" sz="1150" dirty="0"/>
          </a:p>
        </p:txBody>
      </p:sp>
      <p:sp>
        <p:nvSpPr>
          <p:cNvPr id="10" name="Text 8"/>
          <p:cNvSpPr/>
          <p:nvPr/>
        </p:nvSpPr>
        <p:spPr>
          <a:xfrm>
            <a:off x="3531870" y="2130552"/>
            <a:ext cx="2306574" cy="9235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L'air se dilate (Mariotte). S'il sort librement : aucun problème</a:t>
            </a:r>
            <a:endParaRPr lang="en-US" sz="980" dirty="0"/>
          </a:p>
        </p:txBody>
      </p:sp>
      <p:sp>
        <p:nvSpPr>
          <p:cNvPr id="11" name="Text 9"/>
          <p:cNvSpPr/>
          <p:nvPr/>
        </p:nvSpPr>
        <p:spPr>
          <a:xfrm>
            <a:off x="5993892" y="208026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6149340" y="1417320"/>
            <a:ext cx="2672334" cy="1783080"/>
          </a:xfrm>
          <a:prstGeom prst="roundRect">
            <a:avLst>
              <a:gd name="adj" fmla="val 4103"/>
            </a:avLst>
          </a:prstGeom>
          <a:solidFill>
            <a:srgbClr val="C77F0A"/>
          </a:solidFill>
          <a:ln/>
          <a:effectLst>
            <a:outerShdw sx="100000" sy="100000" kx="0" ky="0" algn="bl" rotWithShape="0" blurRad="88900" dist="25400" dir="5400000">
              <a:srgbClr val="0A2942">
                <a:alpha val="16000"/>
              </a:srgbClr>
            </a:outerShdw>
          </a:effectLst>
        </p:spPr>
      </p:sp>
      <p:sp>
        <p:nvSpPr>
          <p:cNvPr id="13" name="Text 11"/>
          <p:cNvSpPr/>
          <p:nvPr/>
        </p:nvSpPr>
        <p:spPr>
          <a:xfrm>
            <a:off x="633222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Respiration bloquée</a:t>
            </a:r>
            <a:endParaRPr lang="en-US" sz="1150" dirty="0"/>
          </a:p>
        </p:txBody>
      </p:sp>
      <p:sp>
        <p:nvSpPr>
          <p:cNvPr id="14" name="Text 12"/>
          <p:cNvSpPr/>
          <p:nvPr/>
        </p:nvSpPr>
        <p:spPr>
          <a:xfrm>
            <a:off x="6332220" y="2130552"/>
            <a:ext cx="2306574" cy="9235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Par réflexe ou panique : l'air se dilate dans des alvéoles fermées</a:t>
            </a:r>
            <a:endParaRPr lang="en-US" sz="980" dirty="0"/>
          </a:p>
        </p:txBody>
      </p:sp>
      <p:sp>
        <p:nvSpPr>
          <p:cNvPr id="15" name="Text 13"/>
          <p:cNvSpPr/>
          <p:nvPr/>
        </p:nvSpPr>
        <p:spPr>
          <a:xfrm>
            <a:off x="8794242" y="208026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949690" y="1417320"/>
            <a:ext cx="2672334" cy="1783080"/>
          </a:xfrm>
          <a:prstGeom prst="roundRect">
            <a:avLst>
              <a:gd name="adj" fmla="val 4103"/>
            </a:avLst>
          </a:prstGeom>
          <a:solidFill>
            <a:srgbClr val="8C2F0B"/>
          </a:solidFill>
          <a:ln/>
          <a:effectLst>
            <a:outerShdw sx="100000" sy="100000" kx="0" ky="0" algn="bl" rotWithShape="0" blurRad="88900" dist="25400" dir="5400000">
              <a:srgbClr val="0A2942">
                <a:alpha val="16000"/>
              </a:srgbClr>
            </a:outerShdw>
          </a:effectLst>
        </p:spPr>
      </p:sp>
      <p:sp>
        <p:nvSpPr>
          <p:cNvPr id="17" name="Text 15"/>
          <p:cNvSpPr/>
          <p:nvPr/>
        </p:nvSpPr>
        <p:spPr>
          <a:xfrm>
            <a:off x="913257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Les alvéoles se déchirent</a:t>
            </a:r>
            <a:endParaRPr lang="en-US" sz="1150" dirty="0"/>
          </a:p>
        </p:txBody>
      </p:sp>
      <p:sp>
        <p:nvSpPr>
          <p:cNvPr id="18" name="Text 16"/>
          <p:cNvSpPr/>
          <p:nvPr/>
        </p:nvSpPr>
        <p:spPr>
          <a:xfrm>
            <a:off x="9132570" y="2130552"/>
            <a:ext cx="2306574" cy="9235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La paroi de 2 microns cède</a:t>
            </a:r>
            <a:endParaRPr lang="en-US" sz="980" dirty="0"/>
          </a:p>
        </p:txBody>
      </p:sp>
      <p:sp>
        <p:nvSpPr>
          <p:cNvPr id="19" name="Shape 17"/>
          <p:cNvSpPr/>
          <p:nvPr/>
        </p:nvSpPr>
        <p:spPr>
          <a:xfrm>
            <a:off x="548640" y="3520440"/>
            <a:ext cx="3602736" cy="1554480"/>
          </a:xfrm>
          <a:prstGeom prst="roundRect">
            <a:avLst>
              <a:gd name="adj" fmla="val 5294"/>
            </a:avLst>
          </a:prstGeom>
          <a:solidFill>
            <a:srgbClr val="FBE9E1"/>
          </a:solidFill>
          <a:ln/>
          <a:effectLst>
            <a:outerShdw sx="100000" sy="100000" kx="0" ky="0" algn="bl" rotWithShape="0" blurRad="88900" dist="25400" dir="5400000">
              <a:srgbClr val="0A2942">
                <a:alpha val="16000"/>
              </a:srgbClr>
            </a:outerShdw>
          </a:effectLst>
        </p:spPr>
      </p:sp>
      <p:sp>
        <p:nvSpPr>
          <p:cNvPr id="20" name="Text 18"/>
          <p:cNvSpPr/>
          <p:nvPr/>
        </p:nvSpPr>
        <p:spPr>
          <a:xfrm>
            <a:off x="777240" y="3639312"/>
            <a:ext cx="3145536" cy="320040"/>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Embolie gazeuse</a:t>
            </a:r>
            <a:endParaRPr lang="en-US" sz="1250" dirty="0"/>
          </a:p>
        </p:txBody>
      </p:sp>
      <p:sp>
        <p:nvSpPr>
          <p:cNvPr id="21" name="Text 19"/>
          <p:cNvSpPr/>
          <p:nvPr/>
        </p:nvSpPr>
        <p:spPr>
          <a:xfrm>
            <a:off x="777240" y="3995928"/>
            <a:ext cx="3145536" cy="10058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L'air passe dans la circulation : les bulles partent au cœur puis au cerveau et bouchent des vaisseaux.</a:t>
            </a:r>
            <a:endParaRPr lang="en-US" sz="1050" dirty="0"/>
          </a:p>
        </p:txBody>
      </p:sp>
      <p:sp>
        <p:nvSpPr>
          <p:cNvPr id="22" name="Shape 20"/>
          <p:cNvSpPr/>
          <p:nvPr/>
        </p:nvSpPr>
        <p:spPr>
          <a:xfrm>
            <a:off x="4343400" y="3520440"/>
            <a:ext cx="3602736" cy="1554480"/>
          </a:xfrm>
          <a:prstGeom prst="roundRect">
            <a:avLst>
              <a:gd name="adj" fmla="val 5294"/>
            </a:avLst>
          </a:prstGeom>
          <a:solidFill>
            <a:srgbClr val="FBE9E1"/>
          </a:solidFill>
          <a:ln/>
          <a:effectLst>
            <a:outerShdw sx="100000" sy="100000" kx="0" ky="0" algn="bl" rotWithShape="0" blurRad="88900" dist="25400" dir="5400000">
              <a:srgbClr val="0A2942">
                <a:alpha val="16000"/>
              </a:srgbClr>
            </a:outerShdw>
          </a:effectLst>
        </p:spPr>
      </p:sp>
      <p:sp>
        <p:nvSpPr>
          <p:cNvPr id="23" name="Text 21"/>
          <p:cNvSpPr/>
          <p:nvPr/>
        </p:nvSpPr>
        <p:spPr>
          <a:xfrm>
            <a:off x="4572000" y="3639312"/>
            <a:ext cx="3145536" cy="320040"/>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Pneumothorax</a:t>
            </a:r>
            <a:endParaRPr lang="en-US" sz="1250" dirty="0"/>
          </a:p>
        </p:txBody>
      </p:sp>
      <p:sp>
        <p:nvSpPr>
          <p:cNvPr id="24" name="Text 22"/>
          <p:cNvSpPr/>
          <p:nvPr/>
        </p:nvSpPr>
        <p:spPr>
          <a:xfrm>
            <a:off x="4572000" y="3995928"/>
            <a:ext cx="3145536" cy="10058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L'air décolle le poumon de sa membrane : la ventilation devient inopérante.</a:t>
            </a:r>
            <a:endParaRPr lang="en-US" sz="1050" dirty="0"/>
          </a:p>
        </p:txBody>
      </p:sp>
      <p:sp>
        <p:nvSpPr>
          <p:cNvPr id="25" name="Shape 23"/>
          <p:cNvSpPr/>
          <p:nvPr/>
        </p:nvSpPr>
        <p:spPr>
          <a:xfrm>
            <a:off x="8138160" y="3520440"/>
            <a:ext cx="3602736" cy="1554480"/>
          </a:xfrm>
          <a:prstGeom prst="roundRect">
            <a:avLst>
              <a:gd name="adj" fmla="val 5294"/>
            </a:avLst>
          </a:prstGeom>
          <a:solidFill>
            <a:srgbClr val="FBE9E1"/>
          </a:solidFill>
          <a:ln/>
          <a:effectLst>
            <a:outerShdw sx="100000" sy="100000" kx="0" ky="0" algn="bl" rotWithShape="0" blurRad="88900" dist="25400" dir="5400000">
              <a:srgbClr val="0A2942">
                <a:alpha val="16000"/>
              </a:srgbClr>
            </a:outerShdw>
          </a:effectLst>
        </p:spPr>
      </p:sp>
      <p:sp>
        <p:nvSpPr>
          <p:cNvPr id="26" name="Text 24"/>
          <p:cNvSpPr/>
          <p:nvPr/>
        </p:nvSpPr>
        <p:spPr>
          <a:xfrm>
            <a:off x="8366760" y="3639312"/>
            <a:ext cx="3145536" cy="320040"/>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Emphysème du médiastin</a:t>
            </a:r>
            <a:endParaRPr lang="en-US" sz="1250" dirty="0"/>
          </a:p>
        </p:txBody>
      </p:sp>
      <p:sp>
        <p:nvSpPr>
          <p:cNvPr id="27" name="Text 25"/>
          <p:cNvSpPr/>
          <p:nvPr/>
        </p:nvSpPr>
        <p:spPr>
          <a:xfrm>
            <a:off x="8366760" y="3995928"/>
            <a:ext cx="3145536" cy="10058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L'air s'infiltre dans la cavité qui abrite le cœur et perturbe son fonctionnement.</a:t>
            </a:r>
            <a:endParaRPr lang="en-US" sz="1050" dirty="0"/>
          </a:p>
        </p:txBody>
      </p:sp>
      <p:sp>
        <p:nvSpPr>
          <p:cNvPr id="28" name="Shape 26"/>
          <p:cNvSpPr/>
          <p:nvPr/>
        </p:nvSpPr>
        <p:spPr>
          <a:xfrm>
            <a:off x="548640" y="5303520"/>
            <a:ext cx="11073384" cy="868680"/>
          </a:xfrm>
          <a:prstGeom prst="roundRect">
            <a:avLst>
              <a:gd name="adj" fmla="val 9474"/>
            </a:avLst>
          </a:prstGeom>
          <a:solidFill>
            <a:srgbClr val="10395C"/>
          </a:solidFill>
          <a:ln/>
          <a:effectLst>
            <a:outerShdw sx="100000" sy="100000" kx="0" ky="0" algn="bl" rotWithShape="0" blurRad="88900" dist="25400" dir="5400000">
              <a:srgbClr val="0A2942">
                <a:alpha val="16000"/>
              </a:srgbClr>
            </a:outerShdw>
          </a:effectLst>
        </p:spPr>
      </p:sp>
      <p:sp>
        <p:nvSpPr>
          <p:cNvPr id="29" name="Text 27"/>
          <p:cNvSpPr/>
          <p:nvPr/>
        </p:nvSpPr>
        <p:spPr>
          <a:xfrm>
            <a:off x="822960" y="5349240"/>
            <a:ext cx="10515600" cy="777240"/>
          </a:xfrm>
          <a:prstGeom prst="rect">
            <a:avLst/>
          </a:prstGeom>
          <a:noFill/>
          <a:ln/>
        </p:spPr>
        <p:txBody>
          <a:bodyPr wrap="square" lIns="0" tIns="0" rIns="0" bIns="0" rtlCol="0" anchor="ctr"/>
          <a:lstStyle/>
          <a:p>
            <a:pPr algn="ctr" indent="0" marL="0">
              <a:lnSpc>
                <a:spcPct val="105000"/>
              </a:lnSpc>
              <a:buNone/>
            </a:pPr>
            <a:r>
              <a:rPr lang="en-US" sz="1350" b="1" dirty="0">
                <a:solidFill>
                  <a:srgbClr val="FFFFFF"/>
                </a:solidFill>
                <a:latin typeface="Calibri" pitchFamily="34" charset="0"/>
                <a:ea typeface="Calibri" pitchFamily="34" charset="-122"/>
                <a:cs typeface="Calibri" pitchFamily="34" charset="-120"/>
              </a:rPr>
              <a:t>EN APNÉE, ON NE PREND JAMAIS D'AIR AU FOND. Jamais — même pour rire, même pour une photo, même si un plongeur bouteille le propose.</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SURPRESSION PULMONAIRE (2/2)</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Reconnaître vite, alerter juste</a:t>
            </a:r>
            <a:endParaRPr lang="en-US" sz="2800" dirty="0"/>
          </a:p>
        </p:txBody>
      </p:sp>
      <p:sp>
        <p:nvSpPr>
          <p:cNvPr id="4" name="Shape 2"/>
          <p:cNvSpPr/>
          <p:nvPr/>
        </p:nvSpPr>
        <p:spPr>
          <a:xfrm>
            <a:off x="548640" y="1371600"/>
            <a:ext cx="3602736" cy="1828800"/>
          </a:xfrm>
          <a:prstGeom prst="roundRect">
            <a:avLst>
              <a:gd name="adj" fmla="val 4500"/>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777240" y="1499616"/>
            <a:ext cx="3145536" cy="347472"/>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Bloc 1 · État de choc</a:t>
            </a:r>
            <a:endParaRPr lang="en-US" sz="1250" dirty="0"/>
          </a:p>
        </p:txBody>
      </p:sp>
      <p:sp>
        <p:nvSpPr>
          <p:cNvPr id="6" name="Text 4"/>
          <p:cNvSpPr/>
          <p:nvPr/>
        </p:nvSpPr>
        <p:spPr>
          <a:xfrm>
            <a:off x="777240" y="1883664"/>
            <a:ext cx="3145536" cy="12344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Pouls rapide, pâleur ou teint violacé, extrémités froides : la circulation ne fait plus son travail.</a:t>
            </a:r>
            <a:endParaRPr lang="en-US" sz="1050" dirty="0"/>
          </a:p>
        </p:txBody>
      </p:sp>
      <p:sp>
        <p:nvSpPr>
          <p:cNvPr id="7" name="Shape 5"/>
          <p:cNvSpPr/>
          <p:nvPr/>
        </p:nvSpPr>
        <p:spPr>
          <a:xfrm>
            <a:off x="4343400" y="1371600"/>
            <a:ext cx="3602736" cy="1828800"/>
          </a:xfrm>
          <a:prstGeom prst="roundRect">
            <a:avLst>
              <a:gd name="adj" fmla="val 4500"/>
            </a:avLst>
          </a:prstGeom>
          <a:solidFill>
            <a:srgbClr val="F2F7FB"/>
          </a:solidFill>
          <a:ln/>
          <a:effectLst>
            <a:outerShdw sx="100000" sy="100000" kx="0" ky="0" algn="bl" rotWithShape="0" blurRad="88900" dist="25400" dir="5400000">
              <a:srgbClr val="0A2942">
                <a:alpha val="16000"/>
              </a:srgbClr>
            </a:outerShdw>
          </a:effectLst>
        </p:spPr>
      </p:sp>
      <p:sp>
        <p:nvSpPr>
          <p:cNvPr id="8" name="Text 6"/>
          <p:cNvSpPr/>
          <p:nvPr/>
        </p:nvSpPr>
        <p:spPr>
          <a:xfrm>
            <a:off x="4572000" y="1499616"/>
            <a:ext cx="3145536" cy="347472"/>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Bloc 2 · Signes pulmonaires</a:t>
            </a:r>
            <a:endParaRPr lang="en-US" sz="1250" dirty="0"/>
          </a:p>
        </p:txBody>
      </p:sp>
      <p:sp>
        <p:nvSpPr>
          <p:cNvPr id="9" name="Text 7"/>
          <p:cNvSpPr/>
          <p:nvPr/>
        </p:nvSpPr>
        <p:spPr>
          <a:xfrm>
            <a:off x="4572000" y="1883664"/>
            <a:ext cx="3145536" cy="12344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Douleur thoracique, troubles ventilatoires, toux, crachats sanglants, voix rauque : le poumon dit qu'il est déchiré.</a:t>
            </a:r>
            <a:endParaRPr lang="en-US" sz="1050" dirty="0"/>
          </a:p>
        </p:txBody>
      </p:sp>
      <p:sp>
        <p:nvSpPr>
          <p:cNvPr id="10" name="Shape 8"/>
          <p:cNvSpPr/>
          <p:nvPr/>
        </p:nvSpPr>
        <p:spPr>
          <a:xfrm>
            <a:off x="8138160" y="1371600"/>
            <a:ext cx="3602736" cy="1828800"/>
          </a:xfrm>
          <a:prstGeom prst="roundRect">
            <a:avLst>
              <a:gd name="adj" fmla="val 4500"/>
            </a:avLst>
          </a:prstGeom>
          <a:solidFill>
            <a:srgbClr val="F2F7FB"/>
          </a:solidFill>
          <a:ln/>
          <a:effectLst>
            <a:outerShdw sx="100000" sy="100000" kx="0" ky="0" algn="bl" rotWithShape="0" blurRad="88900" dist="25400" dir="5400000">
              <a:srgbClr val="0A2942">
                <a:alpha val="16000"/>
              </a:srgbClr>
            </a:outerShdw>
          </a:effectLst>
        </p:spPr>
      </p:sp>
      <p:sp>
        <p:nvSpPr>
          <p:cNvPr id="11" name="Text 9"/>
          <p:cNvSpPr/>
          <p:nvPr/>
        </p:nvSpPr>
        <p:spPr>
          <a:xfrm>
            <a:off x="8366760" y="1499616"/>
            <a:ext cx="3145536" cy="347472"/>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Bloc 3 · Signes neurologiques</a:t>
            </a:r>
            <a:endParaRPr lang="en-US" sz="1250" dirty="0"/>
          </a:p>
        </p:txBody>
      </p:sp>
      <p:sp>
        <p:nvSpPr>
          <p:cNvPr id="12" name="Text 10"/>
          <p:cNvSpPr/>
          <p:nvPr/>
        </p:nvSpPr>
        <p:spPr>
          <a:xfrm>
            <a:off x="8366760" y="1883664"/>
            <a:ext cx="3145536" cy="12344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Convulsions, troubles de la parole / vision / audition, maux de tête, nausées, paralysies, picotements, inconscience : l'embolie cérébrale.</a:t>
            </a:r>
            <a:endParaRPr lang="en-US" sz="1050" dirty="0"/>
          </a:p>
        </p:txBody>
      </p:sp>
      <p:sp>
        <p:nvSpPr>
          <p:cNvPr id="13" name="Shape 11"/>
          <p:cNvSpPr/>
          <p:nvPr/>
        </p:nvSpPr>
        <p:spPr>
          <a:xfrm>
            <a:off x="548640" y="3429000"/>
            <a:ext cx="6720840" cy="2651760"/>
          </a:xfrm>
          <a:prstGeom prst="roundRect">
            <a:avLst>
              <a:gd name="adj" fmla="val 3103"/>
            </a:avLst>
          </a:prstGeom>
          <a:solidFill>
            <a:srgbClr val="FBE9E1"/>
          </a:solidFill>
          <a:ln/>
          <a:effectLst>
            <a:outerShdw sx="100000" sy="100000" kx="0" ky="0" algn="bl" rotWithShape="0" blurRad="88900" dist="25400" dir="5400000">
              <a:srgbClr val="0A2942">
                <a:alpha val="16000"/>
              </a:srgbClr>
            </a:outerShdw>
          </a:effectLst>
        </p:spPr>
      </p:sp>
      <p:sp>
        <p:nvSpPr>
          <p:cNvPr id="14" name="Text 12"/>
          <p:cNvSpPr/>
          <p:nvPr/>
        </p:nvSpPr>
        <p:spPr>
          <a:xfrm>
            <a:off x="822960" y="3566160"/>
            <a:ext cx="6217920" cy="365760"/>
          </a:xfrm>
          <a:prstGeom prst="rect">
            <a:avLst/>
          </a:prstGeom>
          <a:noFill/>
          <a:ln/>
        </p:spPr>
        <p:txBody>
          <a:bodyPr wrap="square" lIns="0" tIns="0" rIns="0" bIns="0" rtlCol="0" anchor="ctr"/>
          <a:lstStyle/>
          <a:p>
            <a:pPr indent="0" marL="0">
              <a:buNone/>
            </a:pPr>
            <a:r>
              <a:rPr lang="en-US" sz="1350" b="1" dirty="0">
                <a:solidFill>
                  <a:srgbClr val="9C3A10"/>
                </a:solidFill>
                <a:latin typeface="Calibri" pitchFamily="34" charset="0"/>
                <a:ea typeface="Calibri" pitchFamily="34" charset="-122"/>
                <a:cs typeface="Calibri" pitchFamily="34" charset="-120"/>
              </a:rPr>
              <a:t>Conduite à tenir — un protocole à savoir par cœur</a:t>
            </a:r>
            <a:endParaRPr lang="en-US" sz="1350" dirty="0"/>
          </a:p>
        </p:txBody>
      </p:sp>
      <p:sp>
        <p:nvSpPr>
          <p:cNvPr id="15" name="Text 13"/>
          <p:cNvSpPr/>
          <p:nvPr/>
        </p:nvSpPr>
        <p:spPr>
          <a:xfrm>
            <a:off x="868680" y="3977640"/>
            <a:ext cx="6126480" cy="201168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Alerter les secours immédiatement — sans attendre de voir si ça s'améliore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Gestes de secourisme si nécessaire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Conscient : position SEMI-ASSISE, jambes surélevées (position spécifique, question d'examen)</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Oxygénothérapie 15 L/min — le débit de tous les accidents graves de plongée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Surveillance renforcée : l'état peut basculer d'un coup</a:t>
            </a:r>
            <a:endParaRPr lang="en-US" sz="1150" dirty="0"/>
          </a:p>
        </p:txBody>
      </p:sp>
      <p:sp>
        <p:nvSpPr>
          <p:cNvPr id="16" name="Shape 14"/>
          <p:cNvSpPr/>
          <p:nvPr/>
        </p:nvSpPr>
        <p:spPr>
          <a:xfrm>
            <a:off x="7461504" y="3429000"/>
            <a:ext cx="4160520" cy="2651760"/>
          </a:xfrm>
          <a:prstGeom prst="roundRect">
            <a:avLst>
              <a:gd name="adj" fmla="val 3103"/>
            </a:avLst>
          </a:prstGeom>
          <a:solidFill>
            <a:srgbClr val="E7F3EC"/>
          </a:solidFill>
          <a:ln/>
          <a:effectLst>
            <a:outerShdw sx="100000" sy="100000" kx="0" ky="0" algn="bl" rotWithShape="0" blurRad="88900" dist="25400" dir="5400000">
              <a:srgbClr val="0A2942">
                <a:alpha val="16000"/>
              </a:srgbClr>
            </a:outerShdw>
          </a:effectLst>
        </p:spPr>
      </p:sp>
      <p:sp>
        <p:nvSpPr>
          <p:cNvPr id="17" name="Text 15"/>
          <p:cNvSpPr/>
          <p:nvPr/>
        </p:nvSpPr>
        <p:spPr>
          <a:xfrm>
            <a:off x="7717536" y="3566160"/>
            <a:ext cx="3657600" cy="365760"/>
          </a:xfrm>
          <a:prstGeom prst="rect">
            <a:avLst/>
          </a:prstGeom>
          <a:noFill/>
          <a:ln/>
        </p:spPr>
        <p:txBody>
          <a:bodyPr wrap="square" lIns="0" tIns="0" rIns="0" bIns="0" rtlCol="0" anchor="ctr"/>
          <a:lstStyle/>
          <a:p>
            <a:pPr indent="0" marL="0">
              <a:buNone/>
            </a:pPr>
            <a:r>
              <a:rPr lang="en-US" sz="1350" b="1" dirty="0">
                <a:solidFill>
                  <a:srgbClr val="2C8C5A"/>
                </a:solidFill>
                <a:latin typeface="Calibri" pitchFamily="34" charset="0"/>
                <a:ea typeface="Calibri" pitchFamily="34" charset="-122"/>
                <a:cs typeface="Calibri" pitchFamily="34" charset="-120"/>
              </a:rPr>
              <a:t>Prévention</a:t>
            </a:r>
            <a:endParaRPr lang="en-US" sz="1350" dirty="0"/>
          </a:p>
        </p:txBody>
      </p:sp>
      <p:sp>
        <p:nvSpPr>
          <p:cNvPr id="18" name="Text 16"/>
          <p:cNvSpPr/>
          <p:nvPr/>
        </p:nvSpPr>
        <p:spPr>
          <a:xfrm>
            <a:off x="7735824" y="3977640"/>
            <a:ext cx="3657600" cy="201168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Formation dès la piscine : le risque existe dès 1 m (l'air se dilate de ~10 % entre 1 m et la surface)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Formation des plongeurs de sécurité : proposer son détendeur à un apnéiste est un réflexe naturel — et une erreur potentiellement mortelle</a:t>
            </a:r>
            <a:endParaRPr lang="en-US" sz="1150" dirty="0"/>
          </a:p>
        </p:txBody>
      </p:sp>
      <p:sp>
        <p:nvSpPr>
          <p:cNvPr id="19" name="Text 17"/>
          <p:cNvSpPr/>
          <p:nvPr/>
        </p:nvSpPr>
        <p:spPr>
          <a:xfrm>
            <a:off x="548640" y="612648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Ce qu'il faut savoir dire aux secours : « après une remontée, mon plongeur a un signe neurologique / respiratoire ». Ces mots déclenchent la bonne réponse en face.</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FICHE ACCIDENT · DENTS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La barodontalgie : le plus simple des barotraumatismes</a:t>
            </a:r>
            <a:endParaRPr lang="en-US" sz="2800" dirty="0"/>
          </a:p>
        </p:txBody>
      </p:sp>
      <p:sp>
        <p:nvSpPr>
          <p:cNvPr id="4" name="Shape 2"/>
          <p:cNvSpPr/>
          <p:nvPr/>
        </p:nvSpPr>
        <p:spPr>
          <a:xfrm>
            <a:off x="548640" y="1417320"/>
            <a:ext cx="2697480" cy="274320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749808" y="1581912"/>
            <a:ext cx="457200" cy="45720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868680" y="1700784"/>
            <a:ext cx="219456" cy="219456"/>
          </a:xfrm>
          <a:prstGeom prst="rect">
            <a:avLst/>
          </a:prstGeom>
        </p:spPr>
      </p:pic>
      <p:sp>
        <p:nvSpPr>
          <p:cNvPr id="7" name="Text 4"/>
          <p:cNvSpPr/>
          <p:nvPr/>
        </p:nvSpPr>
        <p:spPr>
          <a:xfrm>
            <a:off x="1325880" y="1554480"/>
            <a:ext cx="1783080" cy="5029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Mécanisme</a:t>
            </a:r>
            <a:endParaRPr lang="en-US" sz="1250" dirty="0"/>
          </a:p>
        </p:txBody>
      </p:sp>
      <p:sp>
        <p:nvSpPr>
          <p:cNvPr id="8" name="Text 5"/>
          <p:cNvSpPr/>
          <p:nvPr/>
        </p:nvSpPr>
        <p:spPr>
          <a:xfrm>
            <a:off x="768096" y="2167128"/>
            <a:ext cx="2258568" cy="187452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Une cavité d'air emprisonnée DANS une dent subit la pression comme les autres : compression à la descente, dilatation à la remontée</a:t>
            </a:r>
            <a:endParaRPr lang="en-US" sz="1050" dirty="0"/>
          </a:p>
        </p:txBody>
      </p:sp>
      <p:sp>
        <p:nvSpPr>
          <p:cNvPr id="9" name="Shape 6"/>
          <p:cNvSpPr/>
          <p:nvPr/>
        </p:nvSpPr>
        <p:spPr>
          <a:xfrm>
            <a:off x="3346704" y="1417320"/>
            <a:ext cx="2697480" cy="274320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10" name="Shape 7"/>
          <p:cNvSpPr/>
          <p:nvPr/>
        </p:nvSpPr>
        <p:spPr>
          <a:xfrm>
            <a:off x="3547872" y="1581912"/>
            <a:ext cx="457200" cy="45720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3666744" y="1700784"/>
            <a:ext cx="219456" cy="219456"/>
          </a:xfrm>
          <a:prstGeom prst="rect">
            <a:avLst/>
          </a:prstGeom>
        </p:spPr>
      </p:pic>
      <p:sp>
        <p:nvSpPr>
          <p:cNvPr id="12" name="Text 8"/>
          <p:cNvSpPr/>
          <p:nvPr/>
        </p:nvSpPr>
        <p:spPr>
          <a:xfrm>
            <a:off x="4123944" y="1554480"/>
            <a:ext cx="1783080" cy="50292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Causes</a:t>
            </a:r>
            <a:endParaRPr lang="en-US" sz="1250" dirty="0"/>
          </a:p>
        </p:txBody>
      </p:sp>
      <p:sp>
        <p:nvSpPr>
          <p:cNvPr id="13" name="Text 9"/>
          <p:cNvSpPr/>
          <p:nvPr/>
        </p:nvSpPr>
        <p:spPr>
          <a:xfrm>
            <a:off x="3566160" y="2167128"/>
            <a:ext cx="2258568" cy="187452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Dent cariée</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Pansement provisoire (dent en cours de traitement)</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Plombage non étanche</a:t>
            </a:r>
            <a:endParaRPr lang="en-US" sz="1050" dirty="0"/>
          </a:p>
        </p:txBody>
      </p:sp>
      <p:sp>
        <p:nvSpPr>
          <p:cNvPr id="14" name="Shape 10"/>
          <p:cNvSpPr/>
          <p:nvPr/>
        </p:nvSpPr>
        <p:spPr>
          <a:xfrm>
            <a:off x="6144768" y="1417320"/>
            <a:ext cx="2697480" cy="2743200"/>
          </a:xfrm>
          <a:prstGeom prst="roundRect">
            <a:avLst>
              <a:gd name="adj" fmla="val 3051"/>
            </a:avLst>
          </a:prstGeom>
          <a:solidFill>
            <a:srgbClr val="FBE9E1"/>
          </a:solidFill>
          <a:ln/>
          <a:effectLst>
            <a:outerShdw sx="100000" sy="100000" kx="0" ky="0" algn="bl" rotWithShape="0" blurRad="88900" dist="25400" dir="5400000">
              <a:srgbClr val="0A2942">
                <a:alpha val="16000"/>
              </a:srgbClr>
            </a:outerShdw>
          </a:effectLst>
        </p:spPr>
      </p:sp>
      <p:sp>
        <p:nvSpPr>
          <p:cNvPr id="15" name="Shape 11"/>
          <p:cNvSpPr/>
          <p:nvPr/>
        </p:nvSpPr>
        <p:spPr>
          <a:xfrm>
            <a:off x="6345936" y="1581912"/>
            <a:ext cx="457200" cy="457200"/>
          </a:xfrm>
          <a:prstGeom prst="ellipse">
            <a:avLst/>
          </a:prstGeom>
          <a:solidFill>
            <a:srgbClr val="D9541E"/>
          </a:solidFill>
          <a:ln/>
        </p:spPr>
      </p:sp>
      <p:pic>
        <p:nvPicPr>
          <p:cNvPr id="16" name="Image 2" descr="preencoded.png">    </p:cNvPr>
          <p:cNvPicPr>
            <a:picLocks noChangeAspect="1"/>
          </p:cNvPicPr>
          <p:nvPr/>
        </p:nvPicPr>
        <p:blipFill>
          <a:blip r:embed="rId3"/>
          <a:stretch>
            <a:fillRect/>
          </a:stretch>
        </p:blipFill>
        <p:spPr>
          <a:xfrm>
            <a:off x="6464808" y="1700784"/>
            <a:ext cx="219456" cy="219456"/>
          </a:xfrm>
          <a:prstGeom prst="rect">
            <a:avLst/>
          </a:prstGeom>
        </p:spPr>
      </p:pic>
      <p:sp>
        <p:nvSpPr>
          <p:cNvPr id="17" name="Text 12"/>
          <p:cNvSpPr/>
          <p:nvPr/>
        </p:nvSpPr>
        <p:spPr>
          <a:xfrm>
            <a:off x="6922008" y="1554480"/>
            <a:ext cx="1783080" cy="502920"/>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Symptômes &amp; CAT</a:t>
            </a:r>
            <a:endParaRPr lang="en-US" sz="1250" dirty="0"/>
          </a:p>
        </p:txBody>
      </p:sp>
      <p:sp>
        <p:nvSpPr>
          <p:cNvPr id="18" name="Text 13"/>
          <p:cNvSpPr/>
          <p:nvPr/>
        </p:nvSpPr>
        <p:spPr>
          <a:xfrm>
            <a:off x="6364224" y="2167128"/>
            <a:ext cx="2258568" cy="187452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Ça fait mal, voire très mal (aux dents)</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Comme les sinus : on arrête de descendre, on signale</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Douleur forte → dentiste</a:t>
            </a:r>
            <a:endParaRPr lang="en-US" sz="1050" dirty="0"/>
          </a:p>
        </p:txBody>
      </p:sp>
      <p:sp>
        <p:nvSpPr>
          <p:cNvPr id="19" name="Shape 14"/>
          <p:cNvSpPr/>
          <p:nvPr/>
        </p:nvSpPr>
        <p:spPr>
          <a:xfrm>
            <a:off x="8942832" y="1417320"/>
            <a:ext cx="2697480" cy="2743200"/>
          </a:xfrm>
          <a:prstGeom prst="roundRect">
            <a:avLst>
              <a:gd name="adj" fmla="val 3051"/>
            </a:avLst>
          </a:prstGeom>
          <a:solidFill>
            <a:srgbClr val="E7F3EC"/>
          </a:solidFill>
          <a:ln/>
          <a:effectLst>
            <a:outerShdw sx="100000" sy="100000" kx="0" ky="0" algn="bl" rotWithShape="0" blurRad="88900" dist="25400" dir="5400000">
              <a:srgbClr val="0A2942">
                <a:alpha val="16000"/>
              </a:srgbClr>
            </a:outerShdw>
          </a:effectLst>
        </p:spPr>
      </p:sp>
      <p:sp>
        <p:nvSpPr>
          <p:cNvPr id="20" name="Shape 15"/>
          <p:cNvSpPr/>
          <p:nvPr/>
        </p:nvSpPr>
        <p:spPr>
          <a:xfrm>
            <a:off x="9144000" y="1581912"/>
            <a:ext cx="457200" cy="457200"/>
          </a:xfrm>
          <a:prstGeom prst="ellipse">
            <a:avLst/>
          </a:prstGeom>
          <a:solidFill>
            <a:srgbClr val="2C8C5A"/>
          </a:solidFill>
          <a:ln/>
        </p:spPr>
      </p:sp>
      <p:pic>
        <p:nvPicPr>
          <p:cNvPr id="21" name="Image 3" descr="preencoded.png">    </p:cNvPr>
          <p:cNvPicPr>
            <a:picLocks noChangeAspect="1"/>
          </p:cNvPicPr>
          <p:nvPr/>
        </p:nvPicPr>
        <p:blipFill>
          <a:blip r:embed="rId4"/>
          <a:stretch>
            <a:fillRect/>
          </a:stretch>
        </p:blipFill>
        <p:spPr>
          <a:xfrm>
            <a:off x="9262872" y="1700784"/>
            <a:ext cx="219456" cy="219456"/>
          </a:xfrm>
          <a:prstGeom prst="rect">
            <a:avLst/>
          </a:prstGeom>
        </p:spPr>
      </p:pic>
      <p:sp>
        <p:nvSpPr>
          <p:cNvPr id="22" name="Text 16"/>
          <p:cNvSpPr/>
          <p:nvPr/>
        </p:nvSpPr>
        <p:spPr>
          <a:xfrm>
            <a:off x="9720072" y="1554480"/>
            <a:ext cx="1783080" cy="502920"/>
          </a:xfrm>
          <a:prstGeom prst="rect">
            <a:avLst/>
          </a:prstGeom>
          <a:noFill/>
          <a:ln/>
        </p:spPr>
        <p:txBody>
          <a:bodyPr wrap="square" lIns="0" tIns="0" rIns="0" bIns="0" rtlCol="0" anchor="ctr"/>
          <a:lstStyle/>
          <a:p>
            <a:pPr indent="0" marL="0">
              <a:buNone/>
            </a:pPr>
            <a:r>
              <a:rPr lang="en-US" sz="1250" b="1" dirty="0">
                <a:solidFill>
                  <a:srgbClr val="2C8C5A"/>
                </a:solidFill>
                <a:latin typeface="Calibri" pitchFamily="34" charset="0"/>
                <a:ea typeface="Calibri" pitchFamily="34" charset="-122"/>
                <a:cs typeface="Calibri" pitchFamily="34" charset="-120"/>
              </a:rPr>
              <a:t>Prévention</a:t>
            </a:r>
            <a:endParaRPr lang="en-US" sz="1250" dirty="0"/>
          </a:p>
        </p:txBody>
      </p:sp>
      <p:sp>
        <p:nvSpPr>
          <p:cNvPr id="23" name="Text 17"/>
          <p:cNvSpPr/>
          <p:nvPr/>
        </p:nvSpPr>
        <p:spPr>
          <a:xfrm>
            <a:off x="9162288" y="2167128"/>
            <a:ext cx="2258568" cy="187452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Visite AU MOINS ANNUELLE chez le dentiste (mention « apnée »)</a:t>
            </a:r>
            <a:endParaRPr lang="en-US" sz="1050" dirty="0"/>
          </a:p>
          <a:p>
            <a:pPr marL="127000" indent="-127000">
              <a:spcAft>
                <a:spcPts val="500"/>
              </a:spcAft>
              <a:buSzPct val="100000"/>
              <a:buChar char="•"/>
            </a:pPr>
            <a:r>
              <a:rPr lang="en-US" sz="1050" dirty="0">
                <a:solidFill>
                  <a:srgbClr val="1F3347"/>
                </a:solidFill>
                <a:latin typeface="Calibri" pitchFamily="34" charset="0"/>
                <a:ea typeface="Calibri" pitchFamily="34" charset="-122"/>
                <a:cs typeface="Calibri" pitchFamily="34" charset="-120"/>
              </a:rPr>
              <a:t>Pas de plongée avec un pansement provisoire, jusqu'à la fin du traitement</a:t>
            </a:r>
            <a:endParaRPr lang="en-US" sz="1050" dirty="0"/>
          </a:p>
        </p:txBody>
      </p:sp>
      <p:sp>
        <p:nvSpPr>
          <p:cNvPr id="24" name="Shape 18"/>
          <p:cNvSpPr/>
          <p:nvPr/>
        </p:nvSpPr>
        <p:spPr>
          <a:xfrm>
            <a:off x="548640" y="4434840"/>
            <a:ext cx="11073384" cy="1463040"/>
          </a:xfrm>
          <a:prstGeom prst="roundRect">
            <a:avLst>
              <a:gd name="adj" fmla="val 5625"/>
            </a:avLst>
          </a:prstGeom>
          <a:solidFill>
            <a:srgbClr val="DCEBF5"/>
          </a:solidFill>
          <a:ln/>
          <a:effectLst>
            <a:outerShdw sx="100000" sy="100000" kx="0" ky="0" algn="bl" rotWithShape="0" blurRad="88900" dist="25400" dir="5400000">
              <a:srgbClr val="0A2942">
                <a:alpha val="16000"/>
              </a:srgbClr>
            </a:outerShdw>
          </a:effectLst>
        </p:spPr>
      </p:sp>
      <p:sp>
        <p:nvSpPr>
          <p:cNvPr id="25" name="Shape 19"/>
          <p:cNvSpPr/>
          <p:nvPr/>
        </p:nvSpPr>
        <p:spPr>
          <a:xfrm>
            <a:off x="822960" y="4709160"/>
            <a:ext cx="566928" cy="566928"/>
          </a:xfrm>
          <a:prstGeom prst="ellipse">
            <a:avLst/>
          </a:prstGeom>
          <a:solidFill>
            <a:srgbClr val="065A82"/>
          </a:solidFill>
          <a:ln/>
        </p:spPr>
      </p:sp>
      <p:pic>
        <p:nvPicPr>
          <p:cNvPr id="26" name="Image 4" descr="preencoded.png">    </p:cNvPr>
          <p:cNvPicPr>
            <a:picLocks noChangeAspect="1"/>
          </p:cNvPicPr>
          <p:nvPr/>
        </p:nvPicPr>
        <p:blipFill>
          <a:blip r:embed="rId5"/>
          <a:stretch>
            <a:fillRect/>
          </a:stretch>
        </p:blipFill>
        <p:spPr>
          <a:xfrm>
            <a:off x="970361" y="4856561"/>
            <a:ext cx="272125" cy="272125"/>
          </a:xfrm>
          <a:prstGeom prst="rect">
            <a:avLst/>
          </a:prstGeom>
        </p:spPr>
      </p:pic>
      <p:sp>
        <p:nvSpPr>
          <p:cNvPr id="27" name="Text 20"/>
          <p:cNvSpPr/>
          <p:nvPr/>
        </p:nvSpPr>
        <p:spPr>
          <a:xfrm>
            <a:off x="1600200" y="4636008"/>
            <a:ext cx="978408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Le vrai risque n'est pas la dent — c'est la panique</a:t>
            </a:r>
            <a:endParaRPr lang="en-US" sz="1400" dirty="0"/>
          </a:p>
        </p:txBody>
      </p:sp>
      <p:sp>
        <p:nvSpPr>
          <p:cNvPr id="28" name="Text 21"/>
          <p:cNvSpPr/>
          <p:nvPr/>
        </p:nvSpPr>
        <p:spPr>
          <a:xfrm>
            <a:off x="1600200" y="5010912"/>
            <a:ext cx="9738360" cy="82296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Une douleur dentaire fulgurante à 20 mètres est une cause de panique, et la panique n'est jamais bénigne. C'est le genre de question qu'on pense à poser à ses élèves une fois qu'on sait que ça existe : « travaux dentaires en cours ? »</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ACCIDENTS BIOCHIMIQUES · LA SYNCOPE (1/4)</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L'ennemi nº 1 : la perte de connaissance hypoxique</a:t>
            </a:r>
            <a:endParaRPr lang="en-US" sz="2800" dirty="0"/>
          </a:p>
        </p:txBody>
      </p:sp>
      <p:sp>
        <p:nvSpPr>
          <p:cNvPr id="4" name="Shape 2"/>
          <p:cNvSpPr/>
          <p:nvPr/>
        </p:nvSpPr>
        <p:spPr>
          <a:xfrm>
            <a:off x="548640" y="1371600"/>
            <a:ext cx="11073384" cy="1097280"/>
          </a:xfrm>
          <a:prstGeom prst="roundRect">
            <a:avLst>
              <a:gd name="adj" fmla="val 7500"/>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22960" y="1435608"/>
            <a:ext cx="10515600" cy="960120"/>
          </a:xfrm>
          <a:prstGeom prst="rect">
            <a:avLst/>
          </a:prstGeom>
          <a:noFill/>
          <a:ln/>
        </p:spPr>
        <p:txBody>
          <a:bodyPr wrap="square" lIns="0" tIns="0" rIns="0" bIns="0" rtlCol="0" anchor="ctr"/>
          <a:lstStyle/>
          <a:p>
            <a:pPr indent="0" marL="0">
              <a:lnSpc>
                <a:spcPct val="112000"/>
              </a:lnSpc>
              <a:buNone/>
            </a:pPr>
            <a:r>
              <a:rPr lang="en-US" sz="1250" b="1" dirty="0">
                <a:solidFill>
                  <a:srgbClr val="065A82"/>
                </a:solidFill>
                <a:latin typeface="Calibri" pitchFamily="34" charset="0"/>
                <a:ea typeface="Calibri" pitchFamily="34" charset="-122"/>
                <a:cs typeface="Calibri" pitchFamily="34" charset="-120"/>
              </a:rPr>
              <a:t>Mécanisme en une ligne : </a:t>
            </a:r>
            <a:pPr indent="0" marL="0">
              <a:lnSpc>
                <a:spcPct val="112000"/>
              </a:lnSpc>
              <a:buNone/>
            </a:pPr>
            <a:r>
              <a:rPr lang="en-US" sz="1250" dirty="0">
                <a:solidFill>
                  <a:srgbClr val="1F3347"/>
                </a:solidFill>
                <a:latin typeface="Calibri" pitchFamily="34" charset="0"/>
                <a:ea typeface="Calibri" pitchFamily="34" charset="-122"/>
                <a:cs typeface="Calibri" pitchFamily="34" charset="-120"/>
              </a:rPr>
              <a:t>le manque d'oxygène provoque des troubles de la conscience, puis la perte de connaissance. Terme exact : perte de connaissance anoxique — le cœur continue de battre plusieurs minutes, c'est ce qui rend la récupération possible si l'on sort la victime à temps.</a:t>
            </a:r>
            <a:endParaRPr lang="en-US" sz="1250" dirty="0"/>
          </a:p>
        </p:txBody>
      </p:sp>
      <p:sp>
        <p:nvSpPr>
          <p:cNvPr id="6" name="Text 4"/>
          <p:cNvSpPr/>
          <p:nvPr/>
        </p:nvSpPr>
        <p:spPr>
          <a:xfrm>
            <a:off x="548640" y="2697480"/>
            <a:ext cx="11064240" cy="320040"/>
          </a:xfrm>
          <a:prstGeom prst="rect">
            <a:avLst/>
          </a:prstGeom>
          <a:noFill/>
          <a:ln/>
        </p:spPr>
        <p:txBody>
          <a:bodyPr wrap="square" lIns="0" tIns="0" rIns="0" bIns="0" rtlCol="0" anchor="ctr"/>
          <a:lstStyle/>
          <a:p>
            <a:pPr indent="0" marL="0">
              <a:buNone/>
            </a:pPr>
            <a:r>
              <a:rPr lang="en-US" sz="1300" b="1" dirty="0">
                <a:solidFill>
                  <a:srgbClr val="1F3347"/>
                </a:solidFill>
                <a:latin typeface="Calibri" pitchFamily="34" charset="0"/>
                <a:ea typeface="Calibri" pitchFamily="34" charset="-122"/>
                <a:cs typeface="Calibri" pitchFamily="34" charset="-120"/>
              </a:rPr>
              <a:t>Les causes ? Le support est direct : de mauvais comportements. Il y en a trois.</a:t>
            </a:r>
            <a:endParaRPr lang="en-US" sz="1300" dirty="0"/>
          </a:p>
        </p:txBody>
      </p:sp>
      <p:sp>
        <p:nvSpPr>
          <p:cNvPr id="7" name="Shape 5"/>
          <p:cNvSpPr/>
          <p:nvPr/>
        </p:nvSpPr>
        <p:spPr>
          <a:xfrm>
            <a:off x="548640" y="3108960"/>
            <a:ext cx="3602736" cy="2377440"/>
          </a:xfrm>
          <a:prstGeom prst="roundRect">
            <a:avLst>
              <a:gd name="adj" fmla="val 3462"/>
            </a:avLst>
          </a:prstGeom>
          <a:solidFill>
            <a:srgbClr val="FBE9E1"/>
          </a:solidFill>
          <a:ln/>
          <a:effectLst>
            <a:outerShdw sx="100000" sy="100000" kx="0" ky="0" algn="bl" rotWithShape="0" blurRad="88900" dist="25400" dir="5400000">
              <a:srgbClr val="0A2942">
                <a:alpha val="16000"/>
              </a:srgbClr>
            </a:outerShdw>
          </a:effectLst>
        </p:spPr>
      </p:sp>
      <p:sp>
        <p:nvSpPr>
          <p:cNvPr id="8" name="Shape 6"/>
          <p:cNvSpPr/>
          <p:nvPr/>
        </p:nvSpPr>
        <p:spPr>
          <a:xfrm>
            <a:off x="777240" y="3291840"/>
            <a:ext cx="502920" cy="502920"/>
          </a:xfrm>
          <a:prstGeom prst="ellipse">
            <a:avLst/>
          </a:prstGeom>
          <a:solidFill>
            <a:srgbClr val="D9541E"/>
          </a:solidFill>
          <a:ln/>
        </p:spPr>
      </p:sp>
      <p:sp>
        <p:nvSpPr>
          <p:cNvPr id="9" name="Text 7"/>
          <p:cNvSpPr/>
          <p:nvPr/>
        </p:nvSpPr>
        <p:spPr>
          <a:xfrm>
            <a:off x="777240" y="32918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10" name="Text 8"/>
          <p:cNvSpPr/>
          <p:nvPr/>
        </p:nvSpPr>
        <p:spPr>
          <a:xfrm>
            <a:off x="1389888" y="3273552"/>
            <a:ext cx="2596896" cy="548640"/>
          </a:xfrm>
          <a:prstGeom prst="rect">
            <a:avLst/>
          </a:prstGeom>
          <a:noFill/>
          <a:ln/>
        </p:spPr>
        <p:txBody>
          <a:bodyPr wrap="square" lIns="0" tIns="0" rIns="0" bIns="0" rtlCol="0" anchor="ctr"/>
          <a:lstStyle/>
          <a:p>
            <a:pPr indent="0" marL="0">
              <a:lnSpc>
                <a:spcPct val="100000"/>
              </a:lnSpc>
              <a:buNone/>
            </a:pPr>
            <a:r>
              <a:rPr lang="en-US" sz="1250" b="1" dirty="0">
                <a:solidFill>
                  <a:srgbClr val="9C3A10"/>
                </a:solidFill>
                <a:latin typeface="Calibri" pitchFamily="34" charset="0"/>
                <a:ea typeface="Calibri" pitchFamily="34" charset="-122"/>
                <a:cs typeface="Calibri" pitchFamily="34" charset="-120"/>
              </a:rPr>
              <a:t>L'hyperventilation</a:t>
            </a:r>
            <a:endParaRPr lang="en-US" sz="1250" dirty="0"/>
          </a:p>
        </p:txBody>
      </p:sp>
      <p:sp>
        <p:nvSpPr>
          <p:cNvPr id="11" name="Text 9"/>
          <p:cNvSpPr/>
          <p:nvPr/>
        </p:nvSpPr>
        <p:spPr>
          <a:xfrm>
            <a:off x="804672" y="3931920"/>
            <a:ext cx="3090672" cy="14630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Le CO₂ lessivé retarde l'envie de respirer ; l'O₂, lui, chute normalement. On coupe l'alarme sans remplir le réservoir (démonstration diapos 33–34).</a:t>
            </a:r>
            <a:endParaRPr lang="en-US" sz="1050" dirty="0"/>
          </a:p>
        </p:txBody>
      </p:sp>
      <p:sp>
        <p:nvSpPr>
          <p:cNvPr id="12" name="Shape 10"/>
          <p:cNvSpPr/>
          <p:nvPr/>
        </p:nvSpPr>
        <p:spPr>
          <a:xfrm>
            <a:off x="4343400" y="3108960"/>
            <a:ext cx="3602736" cy="2377440"/>
          </a:xfrm>
          <a:prstGeom prst="roundRect">
            <a:avLst>
              <a:gd name="adj" fmla="val 3462"/>
            </a:avLst>
          </a:prstGeom>
          <a:solidFill>
            <a:srgbClr val="FBE9E1"/>
          </a:solidFill>
          <a:ln/>
          <a:effectLst>
            <a:outerShdw sx="100000" sy="100000" kx="0" ky="0" algn="bl" rotWithShape="0" blurRad="88900" dist="25400" dir="5400000">
              <a:srgbClr val="0A2942">
                <a:alpha val="16000"/>
              </a:srgbClr>
            </a:outerShdw>
          </a:effectLst>
        </p:spPr>
      </p:sp>
      <p:sp>
        <p:nvSpPr>
          <p:cNvPr id="13" name="Shape 11"/>
          <p:cNvSpPr/>
          <p:nvPr/>
        </p:nvSpPr>
        <p:spPr>
          <a:xfrm>
            <a:off x="4572000" y="3291840"/>
            <a:ext cx="502920" cy="502920"/>
          </a:xfrm>
          <a:prstGeom prst="ellipse">
            <a:avLst/>
          </a:prstGeom>
          <a:solidFill>
            <a:srgbClr val="D9541E"/>
          </a:solidFill>
          <a:ln/>
        </p:spPr>
      </p:sp>
      <p:sp>
        <p:nvSpPr>
          <p:cNvPr id="14" name="Text 12"/>
          <p:cNvSpPr/>
          <p:nvPr/>
        </p:nvSpPr>
        <p:spPr>
          <a:xfrm>
            <a:off x="4572000" y="32918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15" name="Text 13"/>
          <p:cNvSpPr/>
          <p:nvPr/>
        </p:nvSpPr>
        <p:spPr>
          <a:xfrm>
            <a:off x="5184648" y="3273552"/>
            <a:ext cx="2596896" cy="548640"/>
          </a:xfrm>
          <a:prstGeom prst="rect">
            <a:avLst/>
          </a:prstGeom>
          <a:noFill/>
          <a:ln/>
        </p:spPr>
        <p:txBody>
          <a:bodyPr wrap="square" lIns="0" tIns="0" rIns="0" bIns="0" rtlCol="0" anchor="ctr"/>
          <a:lstStyle/>
          <a:p>
            <a:pPr indent="0" marL="0">
              <a:lnSpc>
                <a:spcPct val="100000"/>
              </a:lnSpc>
              <a:buNone/>
            </a:pPr>
            <a:r>
              <a:rPr lang="en-US" sz="1250" b="1" dirty="0">
                <a:solidFill>
                  <a:srgbClr val="9C3A10"/>
                </a:solidFill>
                <a:latin typeface="Calibri" pitchFamily="34" charset="0"/>
                <a:ea typeface="Calibri" pitchFamily="34" charset="-122"/>
                <a:cs typeface="Calibri" pitchFamily="34" charset="-120"/>
              </a:rPr>
              <a:t>La chute des pressions partielles</a:t>
            </a:r>
            <a:endParaRPr lang="en-US" sz="1250" dirty="0"/>
          </a:p>
        </p:txBody>
      </p:sp>
      <p:sp>
        <p:nvSpPr>
          <p:cNvPr id="16" name="Text 14"/>
          <p:cNvSpPr/>
          <p:nvPr/>
        </p:nvSpPr>
        <p:spPr>
          <a:xfrm>
            <a:off x="4599432" y="3931920"/>
            <a:ext cx="3090672" cy="14630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À la remontée, la PpO₂ est divisée par la baisse de pression : syncope possible SANS hyperventilation, SANS effort, SANS signe avant-coureur (détail diapo suivante).</a:t>
            </a:r>
            <a:endParaRPr lang="en-US" sz="1050" dirty="0"/>
          </a:p>
        </p:txBody>
      </p:sp>
      <p:sp>
        <p:nvSpPr>
          <p:cNvPr id="17" name="Shape 15"/>
          <p:cNvSpPr/>
          <p:nvPr/>
        </p:nvSpPr>
        <p:spPr>
          <a:xfrm>
            <a:off x="8138160" y="3108960"/>
            <a:ext cx="3602736" cy="2377440"/>
          </a:xfrm>
          <a:prstGeom prst="roundRect">
            <a:avLst>
              <a:gd name="adj" fmla="val 3462"/>
            </a:avLst>
          </a:prstGeom>
          <a:solidFill>
            <a:srgbClr val="FBE9E1"/>
          </a:solidFill>
          <a:ln/>
          <a:effectLst>
            <a:outerShdw sx="100000" sy="100000" kx="0" ky="0" algn="bl" rotWithShape="0" blurRad="88900" dist="25400" dir="5400000">
              <a:srgbClr val="0A2942">
                <a:alpha val="16000"/>
              </a:srgbClr>
            </a:outerShdw>
          </a:effectLst>
        </p:spPr>
      </p:sp>
      <p:sp>
        <p:nvSpPr>
          <p:cNvPr id="18" name="Shape 16"/>
          <p:cNvSpPr/>
          <p:nvPr/>
        </p:nvSpPr>
        <p:spPr>
          <a:xfrm>
            <a:off x="8366760" y="3291840"/>
            <a:ext cx="502920" cy="502920"/>
          </a:xfrm>
          <a:prstGeom prst="ellipse">
            <a:avLst/>
          </a:prstGeom>
          <a:solidFill>
            <a:srgbClr val="D9541E"/>
          </a:solidFill>
          <a:ln/>
        </p:spPr>
      </p:sp>
      <p:sp>
        <p:nvSpPr>
          <p:cNvPr id="19" name="Text 17"/>
          <p:cNvSpPr/>
          <p:nvPr/>
        </p:nvSpPr>
        <p:spPr>
          <a:xfrm>
            <a:off x="8366760" y="32918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20" name="Text 18"/>
          <p:cNvSpPr/>
          <p:nvPr/>
        </p:nvSpPr>
        <p:spPr>
          <a:xfrm>
            <a:off x="8979408" y="3273552"/>
            <a:ext cx="2596896" cy="548640"/>
          </a:xfrm>
          <a:prstGeom prst="rect">
            <a:avLst/>
          </a:prstGeom>
          <a:noFill/>
          <a:ln/>
        </p:spPr>
        <p:txBody>
          <a:bodyPr wrap="square" lIns="0" tIns="0" rIns="0" bIns="0" rtlCol="0" anchor="ctr"/>
          <a:lstStyle/>
          <a:p>
            <a:pPr indent="0" marL="0">
              <a:lnSpc>
                <a:spcPct val="100000"/>
              </a:lnSpc>
              <a:buNone/>
            </a:pPr>
            <a:r>
              <a:rPr lang="en-US" sz="1250" b="1" dirty="0">
                <a:solidFill>
                  <a:srgbClr val="9C3A10"/>
                </a:solidFill>
                <a:latin typeface="Calibri" pitchFamily="34" charset="0"/>
                <a:ea typeface="Calibri" pitchFamily="34" charset="-122"/>
                <a:cs typeface="Calibri" pitchFamily="34" charset="-120"/>
              </a:rPr>
              <a:t>Le dépassement des limites</a:t>
            </a:r>
            <a:endParaRPr lang="en-US" sz="1250" dirty="0"/>
          </a:p>
        </p:txBody>
      </p:sp>
      <p:sp>
        <p:nvSpPr>
          <p:cNvPr id="21" name="Text 19"/>
          <p:cNvSpPr/>
          <p:nvPr/>
        </p:nvSpPr>
        <p:spPr>
          <a:xfrm>
            <a:off x="8394192" y="3931920"/>
            <a:ext cx="3090672" cy="1463040"/>
          </a:xfrm>
          <a:prstGeom prst="rect">
            <a:avLst/>
          </a:prstGeom>
          <a:noFill/>
          <a:ln/>
        </p:spPr>
        <p:txBody>
          <a:bodyPr wrap="square" lIns="0" tIns="0" rIns="0" bIns="0" rtlCol="0" anchor="t"/>
          <a:lstStyle/>
          <a:p>
            <a:pPr indent="0" marL="0">
              <a:lnSpc>
                <a:spcPct val="110000"/>
              </a:lnSpc>
              <a:buNone/>
            </a:pPr>
            <a:r>
              <a:rPr lang="en-US" sz="1050" dirty="0">
                <a:solidFill>
                  <a:srgbClr val="1F3347"/>
                </a:solidFill>
                <a:latin typeface="Calibri" pitchFamily="34" charset="0"/>
                <a:ea typeface="Calibri" pitchFamily="34" charset="-122"/>
                <a:cs typeface="Calibri" pitchFamily="34" charset="-120"/>
              </a:rPr>
              <a:t>Par méconnaissance ou non-respect… ou pour une raison extérieure : accrochage, filet, panne de matériel. D'où : on plonge accompagné, on connaît le site.</a:t>
            </a:r>
            <a:endParaRPr lang="en-US" sz="1050" dirty="0"/>
          </a:p>
        </p:txBody>
      </p:sp>
      <p:sp>
        <p:nvSpPr>
          <p:cNvPr id="22" name="Text 20"/>
          <p:cNvSpPr/>
          <p:nvPr/>
        </p:nvSpPr>
        <p:spPr>
          <a:xfrm>
            <a:off x="548640" y="58064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9C3A10"/>
                </a:solidFill>
                <a:latin typeface="Calibri" pitchFamily="34" charset="0"/>
                <a:ea typeface="Calibri" pitchFamily="34" charset="-122"/>
                <a:cs typeface="Calibri" pitchFamily="34" charset="-120"/>
              </a:rPr>
              <a:t>Facteur aggravant : l'altération du jugement… elle-même causée par l'hypoxie. Le manque d'oxygène dégrade la capacité à décider de remonter — c'est le cercle vicieux.</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ACCIDENTS BIOCHIMIQUES · LA SYNCOPE (2/4)</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L'exemple qui marque : syncoper sans avoir rien « fait de mal »</a:t>
            </a:r>
            <a:endParaRPr lang="en-US" sz="2800" dirty="0"/>
          </a:p>
        </p:txBody>
      </p:sp>
      <p:sp>
        <p:nvSpPr>
          <p:cNvPr id="4" name="Shape 2"/>
          <p:cNvSpPr/>
          <p:nvPr/>
        </p:nvSpPr>
        <p:spPr>
          <a:xfrm>
            <a:off x="548640" y="1417320"/>
            <a:ext cx="2112264" cy="2057400"/>
          </a:xfrm>
          <a:prstGeom prst="roundRect">
            <a:avLst>
              <a:gd name="adj" fmla="val 3556"/>
            </a:avLst>
          </a:prstGeom>
          <a:solidFill>
            <a:srgbClr val="1C7293"/>
          </a:solidFill>
          <a:ln/>
          <a:effectLst>
            <a:outerShdw sx="100000" sy="100000" kx="0" ky="0" algn="bl" rotWithShape="0" blurRad="88900" dist="25400" dir="5400000">
              <a:srgbClr val="0A2942">
                <a:alpha val="16000"/>
              </a:srgbClr>
            </a:outerShdw>
          </a:effectLst>
        </p:spPr>
      </p:sp>
      <p:sp>
        <p:nvSpPr>
          <p:cNvPr id="5" name="Text 3"/>
          <p:cNvSpPr/>
          <p:nvPr/>
        </p:nvSpPr>
        <p:spPr>
          <a:xfrm>
            <a:off x="731520" y="1563624"/>
            <a:ext cx="174650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Surface</a:t>
            </a:r>
            <a:endParaRPr lang="en-US" sz="1150" dirty="0"/>
          </a:p>
        </p:txBody>
      </p:sp>
      <p:sp>
        <p:nvSpPr>
          <p:cNvPr id="6" name="Text 4"/>
          <p:cNvSpPr/>
          <p:nvPr/>
        </p:nvSpPr>
        <p:spPr>
          <a:xfrm>
            <a:off x="731520" y="2130552"/>
            <a:ext cx="1746504" cy="119786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PpO₂ = 106 mmHg. Ventilation normale, aucune hyperventilation.</a:t>
            </a:r>
            <a:endParaRPr lang="en-US" sz="960" dirty="0"/>
          </a:p>
        </p:txBody>
      </p:sp>
      <p:sp>
        <p:nvSpPr>
          <p:cNvPr id="7" name="Text 5"/>
          <p:cNvSpPr/>
          <p:nvPr/>
        </p:nvSpPr>
        <p:spPr>
          <a:xfrm>
            <a:off x="2633472" y="221742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2788920" y="1417320"/>
            <a:ext cx="2112264" cy="2057400"/>
          </a:xfrm>
          <a:prstGeom prst="roundRect">
            <a:avLst>
              <a:gd name="adj" fmla="val 3556"/>
            </a:avLst>
          </a:prstGeom>
          <a:solidFill>
            <a:srgbClr val="065A82"/>
          </a:solidFill>
          <a:ln/>
          <a:effectLst>
            <a:outerShdw sx="100000" sy="100000" kx="0" ky="0" algn="bl" rotWithShape="0" blurRad="88900" dist="25400" dir="5400000">
              <a:srgbClr val="0A2942">
                <a:alpha val="16000"/>
              </a:srgbClr>
            </a:outerShdw>
          </a:effectLst>
        </p:spPr>
      </p:sp>
      <p:sp>
        <p:nvSpPr>
          <p:cNvPr id="9" name="Text 7"/>
          <p:cNvSpPr/>
          <p:nvPr/>
        </p:nvSpPr>
        <p:spPr>
          <a:xfrm>
            <a:off x="2971800" y="1563624"/>
            <a:ext cx="174650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Descente à −10 m</a:t>
            </a:r>
            <a:endParaRPr lang="en-US" sz="1150" dirty="0"/>
          </a:p>
        </p:txBody>
      </p:sp>
      <p:sp>
        <p:nvSpPr>
          <p:cNvPr id="10" name="Text 8"/>
          <p:cNvSpPr/>
          <p:nvPr/>
        </p:nvSpPr>
        <p:spPr>
          <a:xfrm>
            <a:off x="2971800" y="2130552"/>
            <a:ext cx="1746504" cy="119786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Rapide et SANS EFFORT (gueuse). Sous 2 bars : PpO₂ ≈ 200 mmHg. Il se sent très bien.</a:t>
            </a:r>
            <a:endParaRPr lang="en-US" sz="960" dirty="0"/>
          </a:p>
        </p:txBody>
      </p:sp>
      <p:sp>
        <p:nvSpPr>
          <p:cNvPr id="11" name="Text 9"/>
          <p:cNvSpPr/>
          <p:nvPr/>
        </p:nvSpPr>
        <p:spPr>
          <a:xfrm>
            <a:off x="4873752" y="221742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5029200" y="1417320"/>
            <a:ext cx="2112264" cy="2057400"/>
          </a:xfrm>
          <a:prstGeom prst="roundRect">
            <a:avLst>
              <a:gd name="adj" fmla="val 3556"/>
            </a:avLst>
          </a:prstGeom>
          <a:solidFill>
            <a:srgbClr val="C77F0A"/>
          </a:solidFill>
          <a:ln/>
          <a:effectLst>
            <a:outerShdw sx="100000" sy="100000" kx="0" ky="0" algn="bl" rotWithShape="0" blurRad="88900" dist="25400" dir="5400000">
              <a:srgbClr val="0A2942">
                <a:alpha val="16000"/>
              </a:srgbClr>
            </a:outerShdw>
          </a:effectLst>
        </p:spPr>
      </p:sp>
      <p:sp>
        <p:nvSpPr>
          <p:cNvPr id="13" name="Text 11"/>
          <p:cNvSpPr/>
          <p:nvPr/>
        </p:nvSpPr>
        <p:spPr>
          <a:xfrm>
            <a:off x="5212080" y="1563624"/>
            <a:ext cx="174650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Statique au fond</a:t>
            </a:r>
            <a:endParaRPr lang="en-US" sz="1150" dirty="0"/>
          </a:p>
        </p:txBody>
      </p:sp>
      <p:sp>
        <p:nvSpPr>
          <p:cNvPr id="14" name="Text 12"/>
          <p:cNvSpPr/>
          <p:nvPr/>
        </p:nvSpPr>
        <p:spPr>
          <a:xfrm>
            <a:off x="5212080" y="2130552"/>
            <a:ext cx="1746504" cy="119786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L'O₂ se consomme : PpO₂ descend à 60. Encore au-dessus du seuil : AUCUNE alerte ressentie.</a:t>
            </a:r>
            <a:endParaRPr lang="en-US" sz="960" dirty="0"/>
          </a:p>
        </p:txBody>
      </p:sp>
      <p:sp>
        <p:nvSpPr>
          <p:cNvPr id="15" name="Text 13"/>
          <p:cNvSpPr/>
          <p:nvPr/>
        </p:nvSpPr>
        <p:spPr>
          <a:xfrm>
            <a:off x="7114032" y="221742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7269480" y="1417320"/>
            <a:ext cx="2112264" cy="2057400"/>
          </a:xfrm>
          <a:prstGeom prst="roundRect">
            <a:avLst>
              <a:gd name="adj" fmla="val 3556"/>
            </a:avLst>
          </a:prstGeom>
          <a:solidFill>
            <a:srgbClr val="D9541E"/>
          </a:solidFill>
          <a:ln/>
          <a:effectLst>
            <a:outerShdw sx="100000" sy="100000" kx="0" ky="0" algn="bl" rotWithShape="0" blurRad="88900" dist="25400" dir="5400000">
              <a:srgbClr val="0A2942">
                <a:alpha val="16000"/>
              </a:srgbClr>
            </a:outerShdw>
          </a:effectLst>
        </p:spPr>
      </p:sp>
      <p:sp>
        <p:nvSpPr>
          <p:cNvPr id="17" name="Text 15"/>
          <p:cNvSpPr/>
          <p:nvPr/>
        </p:nvSpPr>
        <p:spPr>
          <a:xfrm>
            <a:off x="7452360" y="1563624"/>
            <a:ext cx="174650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Remontée</a:t>
            </a:r>
            <a:endParaRPr lang="en-US" sz="1150" dirty="0"/>
          </a:p>
        </p:txBody>
      </p:sp>
      <p:sp>
        <p:nvSpPr>
          <p:cNvPr id="18" name="Text 16"/>
          <p:cNvSpPr/>
          <p:nvPr/>
        </p:nvSpPr>
        <p:spPr>
          <a:xfrm>
            <a:off x="7452360" y="2130552"/>
            <a:ext cx="1746504" cy="119786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Rapide et sans effort (parachute). Pression divisée par 2 : PpO₂ 60 → 30 mmHg.</a:t>
            </a:r>
            <a:endParaRPr lang="en-US" sz="960" dirty="0"/>
          </a:p>
        </p:txBody>
      </p:sp>
      <p:sp>
        <p:nvSpPr>
          <p:cNvPr id="19" name="Text 17"/>
          <p:cNvSpPr/>
          <p:nvPr/>
        </p:nvSpPr>
        <p:spPr>
          <a:xfrm>
            <a:off x="9354312" y="221742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9509760" y="1417320"/>
            <a:ext cx="2112264" cy="2057400"/>
          </a:xfrm>
          <a:prstGeom prst="roundRect">
            <a:avLst>
              <a:gd name="adj" fmla="val 3556"/>
            </a:avLst>
          </a:prstGeom>
          <a:solidFill>
            <a:srgbClr val="8C2F0B"/>
          </a:solidFill>
          <a:ln/>
          <a:effectLst>
            <a:outerShdw sx="100000" sy="100000" kx="0" ky="0" algn="bl" rotWithShape="0" blurRad="88900" dist="25400" dir="5400000">
              <a:srgbClr val="0A2942">
                <a:alpha val="16000"/>
              </a:srgbClr>
            </a:outerShdw>
          </a:effectLst>
        </p:spPr>
      </p:sp>
      <p:sp>
        <p:nvSpPr>
          <p:cNvPr id="21" name="Text 19"/>
          <p:cNvSpPr/>
          <p:nvPr/>
        </p:nvSpPr>
        <p:spPr>
          <a:xfrm>
            <a:off x="9692640" y="1563624"/>
            <a:ext cx="174650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 SYNCOPE</a:t>
            </a:r>
            <a:endParaRPr lang="en-US" sz="1150" dirty="0"/>
          </a:p>
        </p:txBody>
      </p:sp>
      <p:sp>
        <p:nvSpPr>
          <p:cNvPr id="22" name="Text 20"/>
          <p:cNvSpPr/>
          <p:nvPr/>
        </p:nvSpPr>
        <p:spPr>
          <a:xfrm>
            <a:off x="9692640" y="2130552"/>
            <a:ext cx="1746504" cy="119786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30 mmHg : le seuil de perte de connaissance est atteint à l'approche de la surface.</a:t>
            </a:r>
            <a:endParaRPr lang="en-US" sz="960" dirty="0"/>
          </a:p>
        </p:txBody>
      </p:sp>
      <p:sp>
        <p:nvSpPr>
          <p:cNvPr id="23" name="Shape 21"/>
          <p:cNvSpPr/>
          <p:nvPr/>
        </p:nvSpPr>
        <p:spPr>
          <a:xfrm>
            <a:off x="548640" y="3886200"/>
            <a:ext cx="11073384" cy="1371600"/>
          </a:xfrm>
          <a:prstGeom prst="roundRect">
            <a:avLst>
              <a:gd name="adj" fmla="val 6000"/>
            </a:avLst>
          </a:prstGeom>
          <a:solidFill>
            <a:srgbClr val="FBE9E1"/>
          </a:solidFill>
          <a:ln/>
          <a:effectLst>
            <a:outerShdw sx="100000" sy="100000" kx="0" ky="0" algn="bl" rotWithShape="0" blurRad="88900" dist="25400" dir="5400000">
              <a:srgbClr val="0A2942">
                <a:alpha val="16000"/>
              </a:srgbClr>
            </a:outerShdw>
          </a:effectLst>
        </p:spPr>
      </p:sp>
      <p:sp>
        <p:nvSpPr>
          <p:cNvPr id="24" name="Shape 22"/>
          <p:cNvSpPr/>
          <p:nvPr/>
        </p:nvSpPr>
        <p:spPr>
          <a:xfrm>
            <a:off x="822960" y="4142232"/>
            <a:ext cx="566928" cy="566928"/>
          </a:xfrm>
          <a:prstGeom prst="ellipse">
            <a:avLst/>
          </a:prstGeom>
          <a:solidFill>
            <a:srgbClr val="D9541E"/>
          </a:solidFill>
          <a:ln/>
        </p:spPr>
      </p:sp>
      <p:pic>
        <p:nvPicPr>
          <p:cNvPr id="25" name="Image 0" descr="preencoded.png">    </p:cNvPr>
          <p:cNvPicPr>
            <a:picLocks noChangeAspect="1"/>
          </p:cNvPicPr>
          <p:nvPr/>
        </p:nvPicPr>
        <p:blipFill>
          <a:blip r:embed="rId1"/>
          <a:stretch>
            <a:fillRect/>
          </a:stretch>
        </p:blipFill>
        <p:spPr>
          <a:xfrm>
            <a:off x="970361" y="4289633"/>
            <a:ext cx="272125" cy="272125"/>
          </a:xfrm>
          <a:prstGeom prst="rect">
            <a:avLst/>
          </a:prstGeom>
        </p:spPr>
      </p:pic>
      <p:sp>
        <p:nvSpPr>
          <p:cNvPr id="26" name="Text 23"/>
          <p:cNvSpPr/>
          <p:nvPr/>
        </p:nvSpPr>
        <p:spPr>
          <a:xfrm>
            <a:off x="1600200" y="4069080"/>
            <a:ext cx="9784080" cy="365760"/>
          </a:xfrm>
          <a:prstGeom prst="rect">
            <a:avLst/>
          </a:prstGeom>
          <a:noFill/>
          <a:ln/>
        </p:spPr>
        <p:txBody>
          <a:bodyPr wrap="square" lIns="0" tIns="0" rIns="0" bIns="0" rtlCol="0" anchor="ctr"/>
          <a:lstStyle/>
          <a:p>
            <a:pPr indent="0" marL="0">
              <a:buNone/>
            </a:pPr>
            <a:r>
              <a:rPr lang="en-US" sz="1400" b="1" dirty="0">
                <a:solidFill>
                  <a:srgbClr val="9C3A10"/>
                </a:solidFill>
                <a:latin typeface="Calibri" pitchFamily="34" charset="0"/>
                <a:ea typeface="Calibri" pitchFamily="34" charset="-122"/>
                <a:cs typeface="Calibri" pitchFamily="34" charset="-120"/>
              </a:rPr>
              <a:t>Relisez la scène</a:t>
            </a:r>
            <a:endParaRPr lang="en-US" sz="1400" dirty="0"/>
          </a:p>
        </p:txBody>
      </p:sp>
      <p:sp>
        <p:nvSpPr>
          <p:cNvPr id="27" name="Text 24"/>
          <p:cNvSpPr/>
          <p:nvPr/>
        </p:nvSpPr>
        <p:spPr>
          <a:xfrm>
            <a:off x="1600200" y="4434840"/>
            <a:ext cx="9738360" cy="777240"/>
          </a:xfrm>
          <a:prstGeom prst="rect">
            <a:avLst/>
          </a:prstGeom>
          <a:noFill/>
          <a:ln/>
        </p:spPr>
        <p:txBody>
          <a:bodyPr wrap="square" lIns="0" tIns="0" rIns="0" bIns="0" rtlCol="0" anchor="t"/>
          <a:lstStyle/>
          <a:p>
            <a:pPr indent="0" marL="0">
              <a:lnSpc>
                <a:spcPct val="112000"/>
              </a:lnSpc>
              <a:buNone/>
            </a:pPr>
            <a:r>
              <a:rPr lang="en-US" sz="1200" dirty="0">
                <a:solidFill>
                  <a:srgbClr val="1F3347"/>
                </a:solidFill>
                <a:latin typeface="Calibri" pitchFamily="34" charset="0"/>
                <a:ea typeface="Calibri" pitchFamily="34" charset="-122"/>
                <a:cs typeface="Calibri" pitchFamily="34" charset="-120"/>
              </a:rPr>
              <a:t>Pas d'hyperventilation, aucun effort, aucune sensation de manque — et pourtant la syncope, uniquement à cause de la variation de pression. Voilà pourquoi rester au fond est dangereux en apnée profonde, et pourquoi la surveillance se joue À LA REMONTÉE, pas au fond.</a:t>
            </a:r>
            <a:endParaRPr lang="en-US" sz="1200" dirty="0"/>
          </a:p>
        </p:txBody>
      </p:sp>
      <p:sp>
        <p:nvSpPr>
          <p:cNvPr id="28" name="Shape 25"/>
          <p:cNvSpPr/>
          <p:nvPr/>
        </p:nvSpPr>
        <p:spPr>
          <a:xfrm>
            <a:off x="548640" y="5440680"/>
            <a:ext cx="11073384" cy="777240"/>
          </a:xfrm>
          <a:prstGeom prst="roundRect">
            <a:avLst>
              <a:gd name="adj" fmla="val 10588"/>
            </a:avLst>
          </a:prstGeom>
          <a:solidFill>
            <a:srgbClr val="DCEBF5"/>
          </a:solidFill>
          <a:ln/>
          <a:effectLst>
            <a:outerShdw sx="100000" sy="100000" kx="0" ky="0" algn="bl" rotWithShape="0" blurRad="88900" dist="25400" dir="5400000">
              <a:srgbClr val="0A2942">
                <a:alpha val="16000"/>
              </a:srgbClr>
            </a:outerShdw>
          </a:effectLst>
        </p:spPr>
      </p:sp>
      <p:sp>
        <p:nvSpPr>
          <p:cNvPr id="29" name="Text 26"/>
          <p:cNvSpPr/>
          <p:nvPr/>
        </p:nvSpPr>
        <p:spPr>
          <a:xfrm>
            <a:off x="822960" y="5486400"/>
            <a:ext cx="10515600" cy="685800"/>
          </a:xfrm>
          <a:prstGeom prst="rect">
            <a:avLst/>
          </a:prstGeom>
          <a:noFill/>
          <a:ln/>
        </p:spPr>
        <p:txBody>
          <a:bodyPr wrap="square" lIns="0" tIns="0" rIns="0" bIns="0" rtlCol="0" anchor="ctr"/>
          <a:lstStyle/>
          <a:p>
            <a:pPr indent="0" marL="0">
              <a:lnSpc>
                <a:spcPct val="108000"/>
              </a:lnSpc>
              <a:buNone/>
            </a:pPr>
            <a:r>
              <a:rPr lang="en-US" sz="1200" b="1" dirty="0">
                <a:solidFill>
                  <a:srgbClr val="065A82"/>
                </a:solidFill>
                <a:latin typeface="Calibri" pitchFamily="34" charset="0"/>
                <a:ea typeface="Calibri" pitchFamily="34" charset="-122"/>
                <a:cs typeface="Calibri" pitchFamily="34" charset="-120"/>
              </a:rPr>
              <a:t>Les 3 seuils (rappel) : </a:t>
            </a:r>
            <a:pPr indent="0" marL="0">
              <a:lnSpc>
                <a:spcPct val="108000"/>
              </a:lnSpc>
              <a:buNone/>
            </a:pPr>
            <a:r>
              <a:rPr lang="en-US" sz="1200" dirty="0">
                <a:solidFill>
                  <a:srgbClr val="1F3347"/>
                </a:solidFill>
                <a:latin typeface="Calibri" pitchFamily="34" charset="0"/>
                <a:ea typeface="Calibri" pitchFamily="34" charset="-122"/>
                <a:cs typeface="Calibri" pitchFamily="34" charset="-120"/>
              </a:rPr>
              <a:t>PpO₂ &lt; 50 mmHg : troubles de la mémoire · PpO₂ &lt; 30 mmHg : perte de connaissance · PpCO₂ &gt; 52 mmHg : rupture d'apnée.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ACCIDENTS BIOCHIMIQUES · LA SYNCOPE (3/4)</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Les signes : ce que l'on ressent, ce que le binôme voit</a:t>
            </a:r>
            <a:endParaRPr lang="en-US" sz="2800" dirty="0"/>
          </a:p>
        </p:txBody>
      </p:sp>
      <p:sp>
        <p:nvSpPr>
          <p:cNvPr id="4" name="Shape 2"/>
          <p:cNvSpPr/>
          <p:nvPr/>
        </p:nvSpPr>
        <p:spPr>
          <a:xfrm>
            <a:off x="548640" y="1371600"/>
            <a:ext cx="5440680" cy="3931920"/>
          </a:xfrm>
          <a:prstGeom prst="roundRect">
            <a:avLst>
              <a:gd name="adj" fmla="val 2093"/>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36192"/>
            <a:ext cx="4846320" cy="274320"/>
          </a:xfrm>
          <a:prstGeom prst="rect">
            <a:avLst/>
          </a:prstGeom>
          <a:noFill/>
          <a:ln/>
        </p:spPr>
        <p:txBody>
          <a:bodyPr wrap="square" lIns="0" tIns="0" rIns="0" bIns="0" rtlCol="0" anchor="ctr"/>
          <a:lstStyle/>
          <a:p>
            <a:pPr indent="0" marL="0">
              <a:buNone/>
            </a:pPr>
            <a:r>
              <a:rPr lang="en-US" sz="1200" b="1" spc="200" kern="0" dirty="0">
                <a:solidFill>
                  <a:srgbClr val="065A82"/>
                </a:solidFill>
                <a:latin typeface="Calibri" pitchFamily="34" charset="0"/>
                <a:ea typeface="Calibri" pitchFamily="34" charset="-122"/>
                <a:cs typeface="Calibri" pitchFamily="34" charset="-120"/>
              </a:rPr>
              <a:t>SUR SOI</a:t>
            </a:r>
            <a:endParaRPr lang="en-US" sz="1200" dirty="0"/>
          </a:p>
        </p:txBody>
      </p:sp>
      <p:sp>
        <p:nvSpPr>
          <p:cNvPr id="6" name="Text 4"/>
          <p:cNvSpPr/>
          <p:nvPr/>
        </p:nvSpPr>
        <p:spPr>
          <a:xfrm>
            <a:off x="868680" y="1874520"/>
            <a:ext cx="4892040" cy="274320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Sensation de bien-être, d'aisance INHABITUELLE — le plus traître de tous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Soif d'air</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Lourdeur et chaleur dans les cuisses (vasoconstriction + lactates)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Picotements dans les extrémités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Vertiges, troubles visuels (vision qui se rétrécit, points noirs)</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Tremblements</a:t>
            </a:r>
            <a:endParaRPr lang="en-US" sz="1150" dirty="0"/>
          </a:p>
        </p:txBody>
      </p:sp>
      <p:sp>
        <p:nvSpPr>
          <p:cNvPr id="7" name="Shape 5"/>
          <p:cNvSpPr/>
          <p:nvPr/>
        </p:nvSpPr>
        <p:spPr>
          <a:xfrm>
            <a:off x="822960" y="4617720"/>
            <a:ext cx="4892040" cy="548640"/>
          </a:xfrm>
          <a:prstGeom prst="roundRect">
            <a:avLst>
              <a:gd name="adj" fmla="val 13333"/>
            </a:avLst>
          </a:prstGeom>
          <a:solidFill>
            <a:srgbClr val="FBE9E1"/>
          </a:solidFill>
          <a:ln/>
        </p:spPr>
      </p:sp>
      <p:sp>
        <p:nvSpPr>
          <p:cNvPr id="8" name="Text 6"/>
          <p:cNvSpPr/>
          <p:nvPr/>
        </p:nvSpPr>
        <p:spPr>
          <a:xfrm>
            <a:off x="987552" y="4617720"/>
            <a:ext cx="4572000" cy="548640"/>
          </a:xfrm>
          <a:prstGeom prst="rect">
            <a:avLst/>
          </a:prstGeom>
          <a:noFill/>
          <a:ln/>
        </p:spPr>
        <p:txBody>
          <a:bodyPr wrap="square" lIns="0" tIns="0" rIns="0" bIns="0" rtlCol="0" anchor="ctr"/>
          <a:lstStyle/>
          <a:p>
            <a:pPr indent="0" marL="0">
              <a:buNone/>
            </a:pPr>
            <a:r>
              <a:rPr lang="en-US" sz="1050" b="1" dirty="0">
                <a:solidFill>
                  <a:srgbClr val="9C3A10"/>
                </a:solidFill>
                <a:latin typeface="Calibri" pitchFamily="34" charset="0"/>
                <a:ea typeface="Calibri" pitchFamily="34" charset="-122"/>
                <a:cs typeface="Calibri" pitchFamily="34" charset="-120"/>
              </a:rPr>
              <a:t>ATTENTION : la syncope ne prévient pas. Tous ces signes peuvent manquer.</a:t>
            </a:r>
            <a:endParaRPr lang="en-US" sz="1050" dirty="0"/>
          </a:p>
        </p:txBody>
      </p:sp>
      <p:sp>
        <p:nvSpPr>
          <p:cNvPr id="9" name="Shape 7"/>
          <p:cNvSpPr/>
          <p:nvPr/>
        </p:nvSpPr>
        <p:spPr>
          <a:xfrm>
            <a:off x="6181344" y="1371600"/>
            <a:ext cx="5440680" cy="3931920"/>
          </a:xfrm>
          <a:prstGeom prst="roundRect">
            <a:avLst>
              <a:gd name="adj" fmla="val 2093"/>
            </a:avLst>
          </a:prstGeom>
          <a:solidFill>
            <a:srgbClr val="F2F7FB"/>
          </a:solidFill>
          <a:ln/>
          <a:effectLst>
            <a:outerShdw sx="100000" sy="100000" kx="0" ky="0" algn="bl" rotWithShape="0" blurRad="88900" dist="25400" dir="5400000">
              <a:srgbClr val="0A2942">
                <a:alpha val="16000"/>
              </a:srgbClr>
            </a:outerShdw>
          </a:effectLst>
        </p:spPr>
      </p:sp>
      <p:sp>
        <p:nvSpPr>
          <p:cNvPr id="10" name="Text 8"/>
          <p:cNvSpPr/>
          <p:nvPr/>
        </p:nvSpPr>
        <p:spPr>
          <a:xfrm>
            <a:off x="6455664" y="1536192"/>
            <a:ext cx="4846320" cy="274320"/>
          </a:xfrm>
          <a:prstGeom prst="rect">
            <a:avLst/>
          </a:prstGeom>
          <a:noFill/>
          <a:ln/>
        </p:spPr>
        <p:txBody>
          <a:bodyPr wrap="square" lIns="0" tIns="0" rIns="0" bIns="0" rtlCol="0" anchor="ctr"/>
          <a:lstStyle/>
          <a:p>
            <a:pPr indent="0" marL="0">
              <a:buNone/>
            </a:pPr>
            <a:r>
              <a:rPr lang="en-US" sz="1200" b="1" spc="200" kern="0" dirty="0">
                <a:solidFill>
                  <a:srgbClr val="D9541E"/>
                </a:solidFill>
                <a:latin typeface="Calibri" pitchFamily="34" charset="0"/>
                <a:ea typeface="Calibri" pitchFamily="34" charset="-122"/>
                <a:cs typeface="Calibri" pitchFamily="34" charset="-120"/>
              </a:rPr>
              <a:t>SUR SON BINÔME</a:t>
            </a:r>
            <a:endParaRPr lang="en-US" sz="1200" dirty="0"/>
          </a:p>
        </p:txBody>
      </p:sp>
      <p:sp>
        <p:nvSpPr>
          <p:cNvPr id="11" name="Text 9"/>
          <p:cNvSpPr/>
          <p:nvPr/>
        </p:nvSpPr>
        <p:spPr>
          <a:xfrm>
            <a:off x="6501384" y="1874520"/>
            <a:ext cx="4892040" cy="329184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NON-RESPECT DES CONSIGNES définies — le premier indicateur, avant tout signe physique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Lâcher de bulles en fin d'apnée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Absence de mouvement, l'apnéiste se met à couler</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Tremblements désordonnés · accélération du rythme de nage en fin d'apnée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Forte extension du cou vers le mur ou la surface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Signe « ça ne va pas » · coloration anormale des lèvres/visage · regard vide · pas de réponse aux stimulations</a:t>
            </a:r>
            <a:endParaRPr lang="en-US" sz="1100" dirty="0"/>
          </a:p>
        </p:txBody>
      </p:sp>
      <p:sp>
        <p:nvSpPr>
          <p:cNvPr id="12" name="Shape 10"/>
          <p:cNvSpPr/>
          <p:nvPr/>
        </p:nvSpPr>
        <p:spPr>
          <a:xfrm>
            <a:off x="548640" y="5486400"/>
            <a:ext cx="11073384" cy="822960"/>
          </a:xfrm>
          <a:prstGeom prst="roundRect">
            <a:avLst>
              <a:gd name="adj" fmla="val 10000"/>
            </a:avLst>
          </a:prstGeom>
          <a:solidFill>
            <a:srgbClr val="FBE9E1"/>
          </a:solidFill>
          <a:ln/>
          <a:effectLst>
            <a:outerShdw sx="100000" sy="100000" kx="0" ky="0" algn="bl" rotWithShape="0" blurRad="88900" dist="25400" dir="5400000">
              <a:srgbClr val="0A2942">
                <a:alpha val="16000"/>
              </a:srgbClr>
            </a:outerShdw>
          </a:effectLst>
        </p:spPr>
      </p:sp>
      <p:sp>
        <p:nvSpPr>
          <p:cNvPr id="13" name="Text 11"/>
          <p:cNvSpPr/>
          <p:nvPr/>
        </p:nvSpPr>
        <p:spPr>
          <a:xfrm>
            <a:off x="822960" y="5532120"/>
            <a:ext cx="10515600" cy="731520"/>
          </a:xfrm>
          <a:prstGeom prst="rect">
            <a:avLst/>
          </a:prstGeom>
          <a:noFill/>
          <a:ln/>
        </p:spPr>
        <p:txBody>
          <a:bodyPr wrap="square" lIns="0" tIns="0" rIns="0" bIns="0" rtlCol="0" anchor="ctr"/>
          <a:lstStyle/>
          <a:p>
            <a:pPr indent="0" marL="0">
              <a:lnSpc>
                <a:spcPct val="108000"/>
              </a:lnSpc>
              <a:buNone/>
            </a:pPr>
            <a:r>
              <a:rPr lang="en-US" sz="1150" b="1" dirty="0">
                <a:solidFill>
                  <a:srgbClr val="9C3A10"/>
                </a:solidFill>
                <a:latin typeface="Calibri" pitchFamily="34" charset="0"/>
                <a:ea typeface="Calibri" pitchFamily="34" charset="-122"/>
                <a:cs typeface="Calibri" pitchFamily="34" charset="-120"/>
              </a:rPr>
              <a:t>Le signe à commenter absolument : </a:t>
            </a:r>
            <a:pPr indent="0" marL="0">
              <a:lnSpc>
                <a:spcPct val="108000"/>
              </a:lnSpc>
              <a:buNone/>
            </a:pPr>
            <a:r>
              <a:rPr lang="en-US" sz="1150" dirty="0">
                <a:solidFill>
                  <a:srgbClr val="1F3347"/>
                </a:solidFill>
                <a:latin typeface="Calibri" pitchFamily="34" charset="0"/>
                <a:ea typeface="Calibri" pitchFamily="34" charset="-122"/>
                <a:cs typeface="Calibri" pitchFamily="34" charset="-120"/>
              </a:rPr>
              <a:t>le corps ne prévient pas par une souffrance mais par un confort anormal. Un élève qui se dit « tiens, aujourd'hui c'est facile » doit s'inquiéter, pas se réjouir.</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ACCIDENTS BIOCHIMIQUES · LA SYNCOPE (4/4)</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Conduite à tenir : la position de la tête fait toute la différence</a:t>
            </a:r>
            <a:endParaRPr lang="en-US" sz="2800" dirty="0"/>
          </a:p>
        </p:txBody>
      </p:sp>
      <p:sp>
        <p:nvSpPr>
          <p:cNvPr id="4" name="Shape 2"/>
          <p:cNvSpPr/>
          <p:nvPr/>
        </p:nvSpPr>
        <p:spPr>
          <a:xfrm>
            <a:off x="548640" y="1417320"/>
            <a:ext cx="2672334" cy="1920240"/>
          </a:xfrm>
          <a:prstGeom prst="roundRect">
            <a:avLst>
              <a:gd name="adj" fmla="val 3810"/>
            </a:avLst>
          </a:prstGeom>
          <a:solidFill>
            <a:srgbClr val="C77F0A"/>
          </a:solidFill>
          <a:ln/>
          <a:effectLst>
            <a:outerShdw sx="100000" sy="100000" kx="0" ky="0" algn="bl" rotWithShape="0" blurRad="88900" dist="25400" dir="5400000">
              <a:srgbClr val="0A2942">
                <a:alpha val="16000"/>
              </a:srgbClr>
            </a:outerShdw>
          </a:effectLst>
        </p:spPr>
      </p:sp>
      <p:sp>
        <p:nvSpPr>
          <p:cNvPr id="5" name="Text 3"/>
          <p:cNvSpPr/>
          <p:nvPr/>
        </p:nvSpPr>
        <p:spPr>
          <a:xfrm>
            <a:off x="73152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Signes OU DOUTES</a:t>
            </a:r>
            <a:endParaRPr lang="en-US" sz="1150" dirty="0"/>
          </a:p>
        </p:txBody>
      </p:sp>
      <p:sp>
        <p:nvSpPr>
          <p:cNvPr id="6" name="Text 4"/>
          <p:cNvSpPr/>
          <p:nvPr/>
        </p:nvSpPr>
        <p:spPr>
          <a:xfrm>
            <a:off x="731520" y="2130552"/>
            <a:ext cx="2306574" cy="106070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On remonte l'apnéiste. On n'attend pas la confirmation : une intervention pour rien ne coûte rien.</a:t>
            </a:r>
            <a:endParaRPr lang="en-US" sz="960" dirty="0"/>
          </a:p>
        </p:txBody>
      </p:sp>
      <p:sp>
        <p:nvSpPr>
          <p:cNvPr id="7" name="Text 5"/>
          <p:cNvSpPr/>
          <p:nvPr/>
        </p:nvSpPr>
        <p:spPr>
          <a:xfrm>
            <a:off x="3193542" y="214884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3348990" y="1417320"/>
            <a:ext cx="2672334" cy="1920240"/>
          </a:xfrm>
          <a:prstGeom prst="roundRect">
            <a:avLst>
              <a:gd name="adj" fmla="val 3810"/>
            </a:avLst>
          </a:prstGeom>
          <a:solidFill>
            <a:srgbClr val="D9541E"/>
          </a:solidFill>
          <a:ln/>
          <a:effectLst>
            <a:outerShdw sx="100000" sy="100000" kx="0" ky="0" algn="bl" rotWithShape="0" blurRad="88900" dist="25400" dir="5400000">
              <a:srgbClr val="0A2942">
                <a:alpha val="16000"/>
              </a:srgbClr>
            </a:outerShdw>
          </a:effectLst>
        </p:spPr>
      </p:sp>
      <p:sp>
        <p:nvSpPr>
          <p:cNvPr id="9" name="Text 7"/>
          <p:cNvSpPr/>
          <p:nvPr/>
        </p:nvSpPr>
        <p:spPr>
          <a:xfrm>
            <a:off x="353187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Perte de connaissance</a:t>
            </a:r>
            <a:endParaRPr lang="en-US" sz="1150" dirty="0"/>
          </a:p>
        </p:txBody>
      </p:sp>
      <p:sp>
        <p:nvSpPr>
          <p:cNvPr id="10" name="Text 8"/>
          <p:cNvSpPr/>
          <p:nvPr/>
        </p:nvSpPr>
        <p:spPr>
          <a:xfrm>
            <a:off x="3531870" y="2130552"/>
            <a:ext cx="2306574" cy="106070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ÉTANCHÉITÉ des voies aériennes : main sur bouche et nez pendant la remontée (cf. séance sauvetage / RIFAA).</a:t>
            </a:r>
            <a:endParaRPr lang="en-US" sz="960" dirty="0"/>
          </a:p>
        </p:txBody>
      </p:sp>
      <p:sp>
        <p:nvSpPr>
          <p:cNvPr id="11" name="Text 9"/>
          <p:cNvSpPr/>
          <p:nvPr/>
        </p:nvSpPr>
        <p:spPr>
          <a:xfrm>
            <a:off x="5993892" y="214884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6149340" y="1417320"/>
            <a:ext cx="2672334" cy="1920240"/>
          </a:xfrm>
          <a:prstGeom prst="roundRect">
            <a:avLst>
              <a:gd name="adj" fmla="val 3810"/>
            </a:avLst>
          </a:prstGeom>
          <a:solidFill>
            <a:srgbClr val="065A82"/>
          </a:solidFill>
          <a:ln/>
          <a:effectLst>
            <a:outerShdw sx="100000" sy="100000" kx="0" ky="0" algn="bl" rotWithShape="0" blurRad="88900" dist="25400" dir="5400000">
              <a:srgbClr val="0A2942">
                <a:alpha val="16000"/>
              </a:srgbClr>
            </a:outerShdw>
          </a:effectLst>
        </p:spPr>
      </p:sp>
      <p:sp>
        <p:nvSpPr>
          <p:cNvPr id="13" name="Text 11"/>
          <p:cNvSpPr/>
          <p:nvPr/>
        </p:nvSpPr>
        <p:spPr>
          <a:xfrm>
            <a:off x="633222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En surface, au sec</a:t>
            </a:r>
            <a:endParaRPr lang="en-US" sz="1150" dirty="0"/>
          </a:p>
        </p:txBody>
      </p:sp>
      <p:sp>
        <p:nvSpPr>
          <p:cNvPr id="14" name="Text 12"/>
          <p:cNvSpPr/>
          <p:nvPr/>
        </p:nvSpPr>
        <p:spPr>
          <a:xfrm>
            <a:off x="6332220" y="2130552"/>
            <a:ext cx="2306574" cy="106070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O₂ 15 L/min · gestes de secourisme · alerter les secours si nécessaire.</a:t>
            </a:r>
            <a:endParaRPr lang="en-US" sz="960" dirty="0"/>
          </a:p>
        </p:txBody>
      </p:sp>
      <p:sp>
        <p:nvSpPr>
          <p:cNvPr id="15" name="Text 13"/>
          <p:cNvSpPr/>
          <p:nvPr/>
        </p:nvSpPr>
        <p:spPr>
          <a:xfrm>
            <a:off x="8794242" y="214884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949690" y="1417320"/>
            <a:ext cx="2672334" cy="1920240"/>
          </a:xfrm>
          <a:prstGeom prst="roundRect">
            <a:avLst>
              <a:gd name="adj" fmla="val 3810"/>
            </a:avLst>
          </a:prstGeom>
          <a:solidFill>
            <a:srgbClr val="2C8C5A"/>
          </a:solidFill>
          <a:ln/>
          <a:effectLst>
            <a:outerShdw sx="100000" sy="100000" kx="0" ky="0" algn="bl" rotWithShape="0" blurRad="88900" dist="25400" dir="5400000">
              <a:srgbClr val="0A2942">
                <a:alpha val="16000"/>
              </a:srgbClr>
            </a:outerShdw>
          </a:effectLst>
        </p:spPr>
      </p:sp>
      <p:sp>
        <p:nvSpPr>
          <p:cNvPr id="17" name="Text 15"/>
          <p:cNvSpPr/>
          <p:nvPr/>
        </p:nvSpPr>
        <p:spPr>
          <a:xfrm>
            <a:off x="9132570" y="1563624"/>
            <a:ext cx="2306574" cy="566928"/>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Reprise spontanée</a:t>
            </a:r>
            <a:endParaRPr lang="en-US" sz="1150" dirty="0"/>
          </a:p>
        </p:txBody>
      </p:sp>
      <p:sp>
        <p:nvSpPr>
          <p:cNvPr id="18" name="Text 16"/>
          <p:cNvSpPr/>
          <p:nvPr/>
        </p:nvSpPr>
        <p:spPr>
          <a:xfrm>
            <a:off x="9132570" y="2130552"/>
            <a:ext cx="2306574" cy="1060704"/>
          </a:xfrm>
          <a:prstGeom prst="rect">
            <a:avLst/>
          </a:prstGeom>
          <a:noFill/>
          <a:ln/>
        </p:spPr>
        <p:txBody>
          <a:bodyPr wrap="square" lIns="0" tIns="0" rIns="0" bIns="0" rtlCol="0" anchor="t"/>
          <a:lstStyle/>
          <a:p>
            <a:pPr indent="0" marL="0">
              <a:lnSpc>
                <a:spcPct val="105000"/>
              </a:lnSpc>
              <a:buNone/>
            </a:pPr>
            <a:r>
              <a:rPr lang="en-US" sz="960" dirty="0">
                <a:solidFill>
                  <a:srgbClr val="F0F6FA"/>
                </a:solidFill>
                <a:latin typeface="Calibri" pitchFamily="34" charset="0"/>
                <a:ea typeface="Calibri" pitchFamily="34" charset="-122"/>
                <a:cs typeface="Calibri" pitchFamily="34" charset="-120"/>
              </a:rPr>
              <a:t>Expliquer, dédramatiser, faire récupérer. Sa séance est terminée.</a:t>
            </a:r>
            <a:endParaRPr lang="en-US" sz="960" dirty="0"/>
          </a:p>
        </p:txBody>
      </p:sp>
      <p:sp>
        <p:nvSpPr>
          <p:cNvPr id="19" name="Shape 17"/>
          <p:cNvSpPr/>
          <p:nvPr/>
        </p:nvSpPr>
        <p:spPr>
          <a:xfrm>
            <a:off x="548640" y="3703320"/>
            <a:ext cx="11073384" cy="1234440"/>
          </a:xfrm>
          <a:prstGeom prst="roundRect">
            <a:avLst>
              <a:gd name="adj" fmla="val 6667"/>
            </a:avLst>
          </a:prstGeom>
          <a:solidFill>
            <a:srgbClr val="FBE9E1"/>
          </a:solidFill>
          <a:ln/>
          <a:effectLst>
            <a:outerShdw sx="100000" sy="100000" kx="0" ky="0" algn="bl" rotWithShape="0" blurRad="88900" dist="25400" dir="5400000">
              <a:srgbClr val="0A2942">
                <a:alpha val="16000"/>
              </a:srgbClr>
            </a:outerShdw>
          </a:effectLst>
        </p:spPr>
      </p:sp>
      <p:sp>
        <p:nvSpPr>
          <p:cNvPr id="20" name="Shape 18"/>
          <p:cNvSpPr/>
          <p:nvPr/>
        </p:nvSpPr>
        <p:spPr>
          <a:xfrm>
            <a:off x="822960" y="3931920"/>
            <a:ext cx="566928" cy="566928"/>
          </a:xfrm>
          <a:prstGeom prst="ellipse">
            <a:avLst/>
          </a:prstGeom>
          <a:solidFill>
            <a:srgbClr val="D9541E"/>
          </a:solidFill>
          <a:ln/>
        </p:spPr>
      </p:sp>
      <p:pic>
        <p:nvPicPr>
          <p:cNvPr id="21" name="Image 0" descr="preencoded.png">    </p:cNvPr>
          <p:cNvPicPr>
            <a:picLocks noChangeAspect="1"/>
          </p:cNvPicPr>
          <p:nvPr/>
        </p:nvPicPr>
        <p:blipFill>
          <a:blip r:embed="rId1"/>
          <a:stretch>
            <a:fillRect/>
          </a:stretch>
        </p:blipFill>
        <p:spPr>
          <a:xfrm>
            <a:off x="970361" y="4079321"/>
            <a:ext cx="272125" cy="272125"/>
          </a:xfrm>
          <a:prstGeom prst="rect">
            <a:avLst/>
          </a:prstGeom>
        </p:spPr>
      </p:pic>
      <p:sp>
        <p:nvSpPr>
          <p:cNvPr id="22" name="Text 19"/>
          <p:cNvSpPr/>
          <p:nvPr/>
        </p:nvSpPr>
        <p:spPr>
          <a:xfrm>
            <a:off x="1600200" y="3794760"/>
            <a:ext cx="9738360" cy="1097280"/>
          </a:xfrm>
          <a:prstGeom prst="rect">
            <a:avLst/>
          </a:prstGeom>
          <a:noFill/>
          <a:ln/>
        </p:spPr>
        <p:txBody>
          <a:bodyPr wrap="square" lIns="0" tIns="0" rIns="0" bIns="0" rtlCol="0" anchor="ctr"/>
          <a:lstStyle/>
          <a:p>
            <a:pPr indent="0" marL="0">
              <a:lnSpc>
                <a:spcPct val="110000"/>
              </a:lnSpc>
              <a:buNone/>
            </a:pPr>
            <a:r>
              <a:rPr lang="en-US" sz="1150" b="1" dirty="0">
                <a:solidFill>
                  <a:srgbClr val="9C3A10"/>
                </a:solidFill>
                <a:latin typeface="Calibri" pitchFamily="34" charset="0"/>
                <a:ea typeface="Calibri" pitchFamily="34" charset="-122"/>
                <a:cs typeface="Calibri" pitchFamily="34" charset="-120"/>
              </a:rPr>
              <a:t>Pourquoi l'étanchéité : </a:t>
            </a:r>
            <a:pPr indent="0" marL="0">
              <a:lnSpc>
                <a:spcPct val="110000"/>
              </a:lnSpc>
              <a:buNone/>
            </a:pPr>
            <a:r>
              <a:rPr lang="en-US" sz="1150" dirty="0">
                <a:solidFill>
                  <a:srgbClr val="1F3347"/>
                </a:solidFill>
                <a:latin typeface="Calibri" pitchFamily="34" charset="0"/>
                <a:ea typeface="Calibri" pitchFamily="34" charset="-122"/>
                <a:cs typeface="Calibri" pitchFamily="34" charset="-120"/>
              </a:rPr>
              <a:t>la PDC provoque un arrêt ventilatoire transitoire, puis la ventilation REPREND AUTOMATIQUEMENT quand le CO₂ remonte. Tête hors de l'eau : un incident (souvent sans souvenir). Tête sous l'eau : une noyade. Toute la différence entre un incident et un drame, c'est la position de la tête — et c'est vous qui la déterminez.</a:t>
            </a:r>
            <a:endParaRPr lang="en-US" sz="1150" dirty="0"/>
          </a:p>
        </p:txBody>
      </p:sp>
      <p:sp>
        <p:nvSpPr>
          <p:cNvPr id="23" name="Shape 20"/>
          <p:cNvSpPr/>
          <p:nvPr/>
        </p:nvSpPr>
        <p:spPr>
          <a:xfrm>
            <a:off x="548640" y="5120640"/>
            <a:ext cx="11073384" cy="1188720"/>
          </a:xfrm>
          <a:prstGeom prst="roundRect">
            <a:avLst>
              <a:gd name="adj" fmla="val 6923"/>
            </a:avLst>
          </a:prstGeom>
          <a:solidFill>
            <a:srgbClr val="E7F3EC"/>
          </a:solidFill>
          <a:ln/>
          <a:effectLst>
            <a:outerShdw sx="100000" sy="100000" kx="0" ky="0" algn="bl" rotWithShape="0" blurRad="88900" dist="25400" dir="5400000">
              <a:srgbClr val="0A2942">
                <a:alpha val="16000"/>
              </a:srgbClr>
            </a:outerShdw>
          </a:effectLst>
        </p:spPr>
      </p:sp>
      <p:sp>
        <p:nvSpPr>
          <p:cNvPr id="24" name="Text 21"/>
          <p:cNvSpPr/>
          <p:nvPr/>
        </p:nvSpPr>
        <p:spPr>
          <a:xfrm>
            <a:off x="822960" y="5230368"/>
            <a:ext cx="10515600" cy="320040"/>
          </a:xfrm>
          <a:prstGeom prst="rect">
            <a:avLst/>
          </a:prstGeom>
          <a:noFill/>
          <a:ln/>
        </p:spPr>
        <p:txBody>
          <a:bodyPr wrap="square" lIns="0" tIns="0" rIns="0" bIns="0" rtlCol="0" anchor="ctr"/>
          <a:lstStyle/>
          <a:p>
            <a:pPr indent="0" marL="0">
              <a:buNone/>
            </a:pPr>
            <a:r>
              <a:rPr lang="en-US" sz="1300" b="1" dirty="0">
                <a:solidFill>
                  <a:srgbClr val="2C8C5A"/>
                </a:solidFill>
                <a:latin typeface="Calibri" pitchFamily="34" charset="0"/>
                <a:ea typeface="Calibri" pitchFamily="34" charset="-122"/>
                <a:cs typeface="Calibri" pitchFamily="34" charset="-120"/>
              </a:rPr>
              <a:t>Les 4 règles de prévention — à faire réciter, pas à lire</a:t>
            </a:r>
            <a:endParaRPr lang="en-US" sz="1300" dirty="0"/>
          </a:p>
        </p:txBody>
      </p:sp>
      <p:sp>
        <p:nvSpPr>
          <p:cNvPr id="25" name="Text 22"/>
          <p:cNvSpPr/>
          <p:nvPr/>
        </p:nvSpPr>
        <p:spPr>
          <a:xfrm>
            <a:off x="822960" y="5577840"/>
            <a:ext cx="10515600" cy="685800"/>
          </a:xfrm>
          <a:prstGeom prst="rect">
            <a:avLst/>
          </a:prstGeom>
          <a:noFill/>
          <a:ln/>
        </p:spPr>
        <p:txBody>
          <a:bodyPr wrap="square" lIns="0" tIns="0" rIns="0" bIns="0" rtlCol="0" anchor="t"/>
          <a:lstStyle/>
          <a:p>
            <a:pPr indent="0" marL="0">
              <a:lnSpc>
                <a:spcPct val="110000"/>
              </a:lnSpc>
              <a:buNone/>
            </a:pPr>
            <a:r>
              <a:rPr lang="en-US" sz="1100" b="1" dirty="0">
                <a:solidFill>
                  <a:srgbClr val="1F3347"/>
                </a:solidFill>
                <a:latin typeface="Calibri" pitchFamily="34" charset="0"/>
                <a:ea typeface="Calibri" pitchFamily="34" charset="-122"/>
                <a:cs typeface="Calibri" pitchFamily="34" charset="-120"/>
              </a:rPr>
              <a:t>1. Pas d'hyperventilation   </a:t>
            </a:r>
            <a:pPr indent="0" marL="0">
              <a:lnSpc>
                <a:spcPct val="110000"/>
              </a:lnSpc>
              <a:buNone/>
            </a:pPr>
            <a:r>
              <a:rPr lang="en-US" sz="1100" b="1" dirty="0">
                <a:solidFill>
                  <a:srgbClr val="1F3347"/>
                </a:solidFill>
                <a:latin typeface="Calibri" pitchFamily="34" charset="0"/>
                <a:ea typeface="Calibri" pitchFamily="34" charset="-122"/>
                <a:cs typeface="Calibri" pitchFamily="34" charset="-120"/>
              </a:rPr>
              <a:t>2. Pas d'apnée au fond   </a:t>
            </a:r>
            <a:pPr indent="0" marL="0">
              <a:lnSpc>
                <a:spcPct val="110000"/>
              </a:lnSpc>
              <a:buNone/>
            </a:pPr>
            <a:r>
              <a:rPr lang="en-US" sz="1100" b="1" dirty="0">
                <a:solidFill>
                  <a:srgbClr val="1F3347"/>
                </a:solidFill>
                <a:latin typeface="Calibri" pitchFamily="34" charset="0"/>
                <a:ea typeface="Calibri" pitchFamily="34" charset="-122"/>
                <a:cs typeface="Calibri" pitchFamily="34" charset="-120"/>
              </a:rPr>
              <a:t>3. Respecter ses limites — celles DU JOUR (forme, fatigue, froid, moral)   </a:t>
            </a:r>
            <a:pPr indent="0" marL="0">
              <a:lnSpc>
                <a:spcPct val="110000"/>
              </a:lnSpc>
              <a:buNone/>
            </a:pPr>
            <a:r>
              <a:rPr lang="en-US" sz="1100" b="1" dirty="0">
                <a:solidFill>
                  <a:srgbClr val="1F3347"/>
                </a:solidFill>
                <a:latin typeface="Calibri" pitchFamily="34" charset="0"/>
                <a:ea typeface="Calibri" pitchFamily="34" charset="-122"/>
                <a:cs typeface="Calibri" pitchFamily="34" charset="-120"/>
              </a:rPr>
              <a:t>4. Jamais d'apnée seul, avec une surveillance EFFECTIVE — quelqu'un qui regarde vraiment, en position d'intervenir. Un binôme resté sur le bateau n'est pas une surveillance.</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ACCIDENTS BIOPHYSIQUES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taravana : l'accident de décompression de l'apnéiste</a:t>
            </a:r>
            <a:endParaRPr lang="en-US" sz="2800" dirty="0"/>
          </a:p>
        </p:txBody>
      </p:sp>
      <p:sp>
        <p:nvSpPr>
          <p:cNvPr id="4" name="Shape 2"/>
          <p:cNvSpPr/>
          <p:nvPr/>
        </p:nvSpPr>
        <p:spPr>
          <a:xfrm>
            <a:off x="548640" y="1371600"/>
            <a:ext cx="2697480" cy="301752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5" name="Text 3"/>
          <p:cNvSpPr/>
          <p:nvPr/>
        </p:nvSpPr>
        <p:spPr>
          <a:xfrm>
            <a:off x="749808" y="1499616"/>
            <a:ext cx="2295144" cy="32004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Mécanisme</a:t>
            </a:r>
            <a:endParaRPr lang="en-US" sz="1250" dirty="0"/>
          </a:p>
        </p:txBody>
      </p:sp>
      <p:sp>
        <p:nvSpPr>
          <p:cNvPr id="6" name="Text 4"/>
          <p:cNvSpPr/>
          <p:nvPr/>
        </p:nvSpPr>
        <p:spPr>
          <a:xfrm>
            <a:off x="768096" y="1874520"/>
            <a:ext cx="2258568" cy="2423160"/>
          </a:xfrm>
          <a:prstGeom prst="rect">
            <a:avLst/>
          </a:prstGeom>
          <a:noFill/>
          <a:ln/>
        </p:spPr>
        <p:txBody>
          <a:bodyPr wrap="square" lIns="0" tIns="0" rIns="0" bIns="0" rtlCol="0" anchor="t"/>
          <a:lstStyle/>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Henry : l'azote se dissout dans les tissus à la descente</a:t>
            </a:r>
            <a:endParaRPr lang="en-US" sz="1020" dirty="0"/>
          </a:p>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Sursaturation critique à la remontée → bulles dans les tissus</a:t>
            </a:r>
            <a:endParaRPr lang="en-US" sz="1020" dirty="0"/>
          </a:p>
        </p:txBody>
      </p:sp>
      <p:sp>
        <p:nvSpPr>
          <p:cNvPr id="7" name="Shape 5"/>
          <p:cNvSpPr/>
          <p:nvPr/>
        </p:nvSpPr>
        <p:spPr>
          <a:xfrm>
            <a:off x="3346704" y="1371600"/>
            <a:ext cx="2697480" cy="3017520"/>
          </a:xfrm>
          <a:prstGeom prst="roundRect">
            <a:avLst>
              <a:gd name="adj" fmla="val 3051"/>
            </a:avLst>
          </a:prstGeom>
          <a:solidFill>
            <a:srgbClr val="F2F7FB"/>
          </a:solidFill>
          <a:ln/>
          <a:effectLst>
            <a:outerShdw sx="100000" sy="100000" kx="0" ky="0" algn="bl" rotWithShape="0" blurRad="88900" dist="25400" dir="5400000">
              <a:srgbClr val="0A2942">
                <a:alpha val="16000"/>
              </a:srgbClr>
            </a:outerShdw>
          </a:effectLst>
        </p:spPr>
      </p:sp>
      <p:sp>
        <p:nvSpPr>
          <p:cNvPr id="8" name="Text 6"/>
          <p:cNvSpPr/>
          <p:nvPr/>
        </p:nvSpPr>
        <p:spPr>
          <a:xfrm>
            <a:off x="3547872" y="1499616"/>
            <a:ext cx="2295144" cy="32004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Causes</a:t>
            </a:r>
            <a:endParaRPr lang="en-US" sz="1250" dirty="0"/>
          </a:p>
        </p:txBody>
      </p:sp>
      <p:sp>
        <p:nvSpPr>
          <p:cNvPr id="9" name="Text 7"/>
          <p:cNvSpPr/>
          <p:nvPr/>
        </p:nvSpPr>
        <p:spPr>
          <a:xfrm>
            <a:off x="3566160" y="1874520"/>
            <a:ext cx="2258568" cy="2423160"/>
          </a:xfrm>
          <a:prstGeom prst="rect">
            <a:avLst/>
          </a:prstGeom>
          <a:noFill/>
          <a:ln/>
        </p:spPr>
        <p:txBody>
          <a:bodyPr wrap="square" lIns="0" tIns="0" rIns="0" bIns="0" rtlCol="0" anchor="t"/>
          <a:lstStyle/>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Répétition de descentes PROFONDES avec récupérations COURTES</a:t>
            </a:r>
            <a:endParaRPr lang="en-US" sz="1020" dirty="0"/>
          </a:p>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Vitesse de remontée rapide</a:t>
            </a:r>
            <a:endParaRPr lang="en-US" sz="1020" dirty="0"/>
          </a:p>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Les deux sont indissociables : c'est le CUMUL qui fait l'accident</a:t>
            </a:r>
            <a:endParaRPr lang="en-US" sz="1020" dirty="0"/>
          </a:p>
        </p:txBody>
      </p:sp>
      <p:sp>
        <p:nvSpPr>
          <p:cNvPr id="10" name="Shape 8"/>
          <p:cNvSpPr/>
          <p:nvPr/>
        </p:nvSpPr>
        <p:spPr>
          <a:xfrm>
            <a:off x="6144768" y="1371600"/>
            <a:ext cx="2697480" cy="3017520"/>
          </a:xfrm>
          <a:prstGeom prst="roundRect">
            <a:avLst>
              <a:gd name="adj" fmla="val 3051"/>
            </a:avLst>
          </a:prstGeom>
          <a:solidFill>
            <a:srgbClr val="FBE9E1"/>
          </a:solidFill>
          <a:ln/>
          <a:effectLst>
            <a:outerShdw sx="100000" sy="100000" kx="0" ky="0" algn="bl" rotWithShape="0" blurRad="88900" dist="25400" dir="5400000">
              <a:srgbClr val="0A2942">
                <a:alpha val="16000"/>
              </a:srgbClr>
            </a:outerShdw>
          </a:effectLst>
        </p:spPr>
      </p:sp>
      <p:sp>
        <p:nvSpPr>
          <p:cNvPr id="11" name="Text 9"/>
          <p:cNvSpPr/>
          <p:nvPr/>
        </p:nvSpPr>
        <p:spPr>
          <a:xfrm>
            <a:off x="6345936" y="1499616"/>
            <a:ext cx="2295144" cy="320040"/>
          </a:xfrm>
          <a:prstGeom prst="rect">
            <a:avLst/>
          </a:prstGeom>
          <a:noFill/>
          <a:ln/>
        </p:spPr>
        <p:txBody>
          <a:bodyPr wrap="square" lIns="0" tIns="0" rIns="0" bIns="0" rtlCol="0" anchor="ctr"/>
          <a:lstStyle/>
          <a:p>
            <a:pPr indent="0" marL="0">
              <a:buNone/>
            </a:pPr>
            <a:r>
              <a:rPr lang="en-US" sz="1250" b="1" dirty="0">
                <a:solidFill>
                  <a:srgbClr val="9C3A10"/>
                </a:solidFill>
                <a:latin typeface="Calibri" pitchFamily="34" charset="0"/>
                <a:ea typeface="Calibri" pitchFamily="34" charset="-122"/>
                <a:cs typeface="Calibri" pitchFamily="34" charset="-120"/>
              </a:rPr>
              <a:t>Symptômes</a:t>
            </a:r>
            <a:endParaRPr lang="en-US" sz="1250" dirty="0"/>
          </a:p>
        </p:txBody>
      </p:sp>
      <p:sp>
        <p:nvSpPr>
          <p:cNvPr id="12" name="Text 10"/>
          <p:cNvSpPr/>
          <p:nvPr/>
        </p:nvSpPr>
        <p:spPr>
          <a:xfrm>
            <a:off x="6364224" y="1874520"/>
            <a:ext cx="2258568" cy="2423160"/>
          </a:xfrm>
          <a:prstGeom prst="rect">
            <a:avLst/>
          </a:prstGeom>
          <a:noFill/>
          <a:ln/>
        </p:spPr>
        <p:txBody>
          <a:bodyPr wrap="square" lIns="0" tIns="0" rIns="0" bIns="0" rtlCol="0" anchor="t"/>
          <a:lstStyle/>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Selon l'endroit où les bulles se forment ou se coincent</a:t>
            </a:r>
            <a:endParaRPr lang="en-US" sz="1020" dirty="0"/>
          </a:p>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Tableau classique NEUROLOGIQUE : vertiges, picotements, paralysies, troubles visuels — après une session</a:t>
            </a:r>
            <a:endParaRPr lang="en-US" sz="1020" dirty="0"/>
          </a:p>
        </p:txBody>
      </p:sp>
      <p:sp>
        <p:nvSpPr>
          <p:cNvPr id="13" name="Shape 11"/>
          <p:cNvSpPr/>
          <p:nvPr/>
        </p:nvSpPr>
        <p:spPr>
          <a:xfrm>
            <a:off x="8942832" y="1371600"/>
            <a:ext cx="2697480" cy="3017520"/>
          </a:xfrm>
          <a:prstGeom prst="roundRect">
            <a:avLst>
              <a:gd name="adj" fmla="val 3051"/>
            </a:avLst>
          </a:prstGeom>
          <a:solidFill>
            <a:srgbClr val="E7F3EC"/>
          </a:solidFill>
          <a:ln/>
          <a:effectLst>
            <a:outerShdw sx="100000" sy="100000" kx="0" ky="0" algn="bl" rotWithShape="0" blurRad="88900" dist="25400" dir="5400000">
              <a:srgbClr val="0A2942">
                <a:alpha val="16000"/>
              </a:srgbClr>
            </a:outerShdw>
          </a:effectLst>
        </p:spPr>
      </p:sp>
      <p:sp>
        <p:nvSpPr>
          <p:cNvPr id="14" name="Text 12"/>
          <p:cNvSpPr/>
          <p:nvPr/>
        </p:nvSpPr>
        <p:spPr>
          <a:xfrm>
            <a:off x="9144000" y="1499616"/>
            <a:ext cx="2295144" cy="320040"/>
          </a:xfrm>
          <a:prstGeom prst="rect">
            <a:avLst/>
          </a:prstGeom>
          <a:noFill/>
          <a:ln/>
        </p:spPr>
        <p:txBody>
          <a:bodyPr wrap="square" lIns="0" tIns="0" rIns="0" bIns="0" rtlCol="0" anchor="ctr"/>
          <a:lstStyle/>
          <a:p>
            <a:pPr indent="0" marL="0">
              <a:buNone/>
            </a:pPr>
            <a:r>
              <a:rPr lang="en-US" sz="1250" b="1" dirty="0">
                <a:solidFill>
                  <a:srgbClr val="2C8C5A"/>
                </a:solidFill>
                <a:latin typeface="Calibri" pitchFamily="34" charset="0"/>
                <a:ea typeface="Calibri" pitchFamily="34" charset="-122"/>
                <a:cs typeface="Calibri" pitchFamily="34" charset="-120"/>
              </a:rPr>
              <a:t>CAT &amp; Prévention</a:t>
            </a:r>
            <a:endParaRPr lang="en-US" sz="1250" dirty="0"/>
          </a:p>
        </p:txBody>
      </p:sp>
      <p:sp>
        <p:nvSpPr>
          <p:cNvPr id="15" name="Text 13"/>
          <p:cNvSpPr/>
          <p:nvPr/>
        </p:nvSpPr>
        <p:spPr>
          <a:xfrm>
            <a:off x="9162288" y="1874520"/>
            <a:ext cx="2258568" cy="2423160"/>
          </a:xfrm>
          <a:prstGeom prst="rect">
            <a:avLst/>
          </a:prstGeom>
          <a:noFill/>
          <a:ln/>
        </p:spPr>
        <p:txBody>
          <a:bodyPr wrap="square" lIns="0" tIns="0" rIns="0" bIns="0" rtlCol="0" anchor="t"/>
          <a:lstStyle/>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CAT : comme un ADD scaphandre — O₂ 15 L/min, alerte, évacuation</a:t>
            </a:r>
            <a:endParaRPr lang="en-US" sz="1020" dirty="0"/>
          </a:p>
          <a:p>
            <a:pPr marL="127000" indent="-127000">
              <a:spcAft>
                <a:spcPts val="500"/>
              </a:spcAft>
              <a:buSzPct val="100000"/>
              <a:buChar char="•"/>
            </a:pPr>
            <a:r>
              <a:rPr lang="en-US" sz="1020" dirty="0">
                <a:solidFill>
                  <a:srgbClr val="1F3347"/>
                </a:solidFill>
                <a:latin typeface="Calibri" pitchFamily="34" charset="0"/>
                <a:ea typeface="Calibri" pitchFamily="34" charset="-122"/>
                <a:cs typeface="Calibri" pitchFamily="34" charset="-120"/>
              </a:rPr>
              <a:t>Prévention : intervalle de surface SUFFISANT entre apnées profondes (courbe de sécurité du Dr Héran)</a:t>
            </a:r>
            <a:endParaRPr lang="en-US" sz="1020" dirty="0"/>
          </a:p>
        </p:txBody>
      </p:sp>
      <p:sp>
        <p:nvSpPr>
          <p:cNvPr id="16" name="Shape 14"/>
          <p:cNvSpPr/>
          <p:nvPr/>
        </p:nvSpPr>
        <p:spPr>
          <a:xfrm>
            <a:off x="548640" y="4572000"/>
            <a:ext cx="11073384" cy="1508760"/>
          </a:xfrm>
          <a:prstGeom prst="roundRect">
            <a:avLst>
              <a:gd name="adj" fmla="val 5455"/>
            </a:avLst>
          </a:prstGeom>
          <a:solidFill>
            <a:srgbClr val="DCEBF5"/>
          </a:solidFill>
          <a:ln/>
          <a:effectLst>
            <a:outerShdw sx="100000" sy="100000" kx="0" ky="0" algn="bl" rotWithShape="0" blurRad="88900" dist="25400" dir="5400000">
              <a:srgbClr val="0A2942">
                <a:alpha val="16000"/>
              </a:srgbClr>
            </a:outerShdw>
          </a:effectLst>
        </p:spPr>
      </p:sp>
      <p:sp>
        <p:nvSpPr>
          <p:cNvPr id="17" name="Shape 15"/>
          <p:cNvSpPr/>
          <p:nvPr/>
        </p:nvSpPr>
        <p:spPr>
          <a:xfrm>
            <a:off x="822960" y="4846320"/>
            <a:ext cx="566928" cy="566928"/>
          </a:xfrm>
          <a:prstGeom prst="ellipse">
            <a:avLst/>
          </a:prstGeom>
          <a:solidFill>
            <a:srgbClr val="065A82"/>
          </a:solidFill>
          <a:ln/>
        </p:spPr>
      </p:sp>
      <p:pic>
        <p:nvPicPr>
          <p:cNvPr id="18" name="Image 0" descr="preencoded.png">    </p:cNvPr>
          <p:cNvPicPr>
            <a:picLocks noChangeAspect="1"/>
          </p:cNvPicPr>
          <p:nvPr/>
        </p:nvPicPr>
        <p:blipFill>
          <a:blip r:embed="rId1"/>
          <a:stretch>
            <a:fillRect/>
          </a:stretch>
        </p:blipFill>
        <p:spPr>
          <a:xfrm>
            <a:off x="970361" y="4993721"/>
            <a:ext cx="272125" cy="272125"/>
          </a:xfrm>
          <a:prstGeom prst="rect">
            <a:avLst/>
          </a:prstGeom>
        </p:spPr>
      </p:pic>
      <p:sp>
        <p:nvSpPr>
          <p:cNvPr id="19" name="Text 16"/>
          <p:cNvSpPr/>
          <p:nvPr/>
        </p:nvSpPr>
        <p:spPr>
          <a:xfrm>
            <a:off x="1600200" y="4754880"/>
            <a:ext cx="9784080" cy="365760"/>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Qui est concerné dans nos clubs</a:t>
            </a:r>
            <a:endParaRPr lang="en-US" sz="1400" dirty="0"/>
          </a:p>
        </p:txBody>
      </p:sp>
      <p:sp>
        <p:nvSpPr>
          <p:cNvPr id="20" name="Text 17"/>
          <p:cNvSpPr/>
          <p:nvPr/>
        </p:nvSpPr>
        <p:spPr>
          <a:xfrm>
            <a:off x="1600200" y="5120640"/>
            <a:ext cx="9738360" cy="914400"/>
          </a:xfrm>
          <a:prstGeom prst="rect">
            <a:avLst/>
          </a:prstGeom>
          <a:noFill/>
          <a:ln/>
        </p:spPr>
        <p:txBody>
          <a:bodyPr wrap="square" lIns="0" tIns="0" rIns="0" bIns="0" rtlCol="0" anchor="t"/>
          <a:lstStyle/>
          <a:p>
            <a:pPr indent="0" marL="0">
              <a:lnSpc>
                <a:spcPct val="110000"/>
              </a:lnSpc>
              <a:buNone/>
            </a:pPr>
            <a:r>
              <a:rPr lang="en-US" sz="1150" dirty="0">
                <a:solidFill>
                  <a:srgbClr val="1F3347"/>
                </a:solidFill>
                <a:latin typeface="Calibri" pitchFamily="34" charset="0"/>
                <a:ea typeface="Calibri" pitchFamily="34" charset="-122"/>
                <a:cs typeface="Calibri" pitchFamily="34" charset="-120"/>
              </a:rPr>
              <a:t>Le nom vient des pêcheurs de perles polynésiens (dizaines de descentes profondes par jour). Aujourd'hui : les chasseurs sous-marins — beaucoup de descentes, récupérations courtes « parce que le poisson est là » — et le scooter a aggravé le phénomène. Le levier n'est pas « descendez moins profond », c'est « attendez plus longtemps entre deux » : l'intervalle de surface est un paramètre de sécurité, pas un temps mort.</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AUTRES ACCIDENTS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L'hypothermie : l'incident le plus fréquent de nos séances</a:t>
            </a:r>
            <a:endParaRPr lang="en-US" sz="2800" dirty="0"/>
          </a:p>
        </p:txBody>
      </p:sp>
      <p:sp>
        <p:nvSpPr>
          <p:cNvPr id="4" name="Shape 2"/>
          <p:cNvSpPr/>
          <p:nvPr/>
        </p:nvSpPr>
        <p:spPr>
          <a:xfrm>
            <a:off x="548640" y="1371600"/>
            <a:ext cx="4023360" cy="2377440"/>
          </a:xfrm>
          <a:prstGeom prst="roundRect">
            <a:avLst>
              <a:gd name="adj" fmla="val 3462"/>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822960" y="1554480"/>
            <a:ext cx="3291840" cy="777240"/>
          </a:xfrm>
          <a:prstGeom prst="rect">
            <a:avLst/>
          </a:prstGeom>
          <a:noFill/>
          <a:ln/>
        </p:spPr>
        <p:txBody>
          <a:bodyPr wrap="square" lIns="0" tIns="0" rIns="0" bIns="0" rtlCol="0" anchor="ctr"/>
          <a:lstStyle/>
          <a:p>
            <a:pPr indent="0" marL="0">
              <a:buNone/>
            </a:pPr>
            <a:r>
              <a:rPr lang="en-US" sz="4400" b="1" dirty="0">
                <a:solidFill>
                  <a:srgbClr val="065A82"/>
                </a:solidFill>
                <a:latin typeface="Cambria" pitchFamily="34" charset="0"/>
                <a:ea typeface="Cambria" pitchFamily="34" charset="-122"/>
                <a:cs typeface="Cambria" pitchFamily="34" charset="-120"/>
              </a:rPr>
              <a:t>33°</a:t>
            </a:r>
            <a:endParaRPr lang="en-US" sz="4400" dirty="0"/>
          </a:p>
        </p:txBody>
      </p:sp>
      <p:sp>
        <p:nvSpPr>
          <p:cNvPr id="6" name="Text 4"/>
          <p:cNvSpPr/>
          <p:nvPr/>
        </p:nvSpPr>
        <p:spPr>
          <a:xfrm>
            <a:off x="822960" y="2377440"/>
            <a:ext cx="3474720" cy="320040"/>
          </a:xfrm>
          <a:prstGeom prst="rect">
            <a:avLst/>
          </a:prstGeom>
          <a:noFill/>
          <a:ln/>
        </p:spPr>
        <p:txBody>
          <a:bodyPr wrap="square" lIns="0" tIns="0" rIns="0" bIns="0" rtlCol="0" anchor="ctr"/>
          <a:lstStyle/>
          <a:p>
            <a:pPr indent="0" marL="0">
              <a:buNone/>
            </a:pPr>
            <a:r>
              <a:rPr lang="en-US" sz="1200" b="1" dirty="0">
                <a:solidFill>
                  <a:srgbClr val="1F3347"/>
                </a:solidFill>
                <a:latin typeface="Calibri" pitchFamily="34" charset="0"/>
                <a:ea typeface="Calibri" pitchFamily="34" charset="-122"/>
                <a:cs typeface="Calibri" pitchFamily="34" charset="-120"/>
              </a:rPr>
              <a:t>l'équilibre thermique dans l'eau</a:t>
            </a:r>
            <a:endParaRPr lang="en-US" sz="1200" dirty="0"/>
          </a:p>
        </p:txBody>
      </p:sp>
      <p:sp>
        <p:nvSpPr>
          <p:cNvPr id="7" name="Text 5"/>
          <p:cNvSpPr/>
          <p:nvPr/>
        </p:nvSpPr>
        <p:spPr>
          <a:xfrm>
            <a:off x="822960" y="2743200"/>
            <a:ext cx="3520440" cy="914400"/>
          </a:xfrm>
          <a:prstGeom prst="rect">
            <a:avLst/>
          </a:prstGeom>
          <a:noFill/>
          <a:ln/>
        </p:spPr>
        <p:txBody>
          <a:bodyPr wrap="square" lIns="0" tIns="0" rIns="0" bIns="0" rtlCol="0" anchor="t"/>
          <a:lstStyle/>
          <a:p>
            <a:pPr indent="0" marL="0">
              <a:lnSpc>
                <a:spcPct val="110000"/>
              </a:lnSpc>
              <a:buNone/>
            </a:pPr>
            <a:r>
              <a:rPr lang="en-US" sz="1050" dirty="0">
                <a:solidFill>
                  <a:srgbClr val="5B7288"/>
                </a:solidFill>
                <a:latin typeface="Calibri" pitchFamily="34" charset="0"/>
                <a:ea typeface="Calibri" pitchFamily="34" charset="-122"/>
                <a:cs typeface="Calibri" pitchFamily="34" charset="-120"/>
              </a:rPr>
              <a:t>En dessous, le corps perd de la chaleur — beaucoup plus vite dans l'eau que dans l'air. Même en eau « chaude », on se refroidit.</a:t>
            </a:r>
            <a:endParaRPr lang="en-US" sz="1050" dirty="0"/>
          </a:p>
        </p:txBody>
      </p:sp>
      <p:sp>
        <p:nvSpPr>
          <p:cNvPr id="8" name="Shape 6"/>
          <p:cNvSpPr/>
          <p:nvPr/>
        </p:nvSpPr>
        <p:spPr>
          <a:xfrm>
            <a:off x="4754880" y="1371600"/>
            <a:ext cx="6867144" cy="2377440"/>
          </a:xfrm>
          <a:prstGeom prst="roundRect">
            <a:avLst>
              <a:gd name="adj" fmla="val 3462"/>
            </a:avLst>
          </a:prstGeom>
          <a:solidFill>
            <a:srgbClr val="F2F7FB"/>
          </a:solidFill>
          <a:ln/>
          <a:effectLst>
            <a:outerShdw sx="100000" sy="100000" kx="0" ky="0" algn="bl" rotWithShape="0" blurRad="88900" dist="25400" dir="5400000">
              <a:srgbClr val="0A2942">
                <a:alpha val="16000"/>
              </a:srgbClr>
            </a:outerShdw>
          </a:effectLst>
        </p:spPr>
      </p:sp>
      <p:sp>
        <p:nvSpPr>
          <p:cNvPr id="9" name="Text 7"/>
          <p:cNvSpPr/>
          <p:nvPr/>
        </p:nvSpPr>
        <p:spPr>
          <a:xfrm>
            <a:off x="5029200" y="1508760"/>
            <a:ext cx="640080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Symptômes — une gradation à connaître</a:t>
            </a:r>
            <a:endParaRPr lang="en-US" sz="1300" dirty="0"/>
          </a:p>
        </p:txBody>
      </p:sp>
      <p:sp>
        <p:nvSpPr>
          <p:cNvPr id="10" name="Shape 8"/>
          <p:cNvSpPr/>
          <p:nvPr/>
        </p:nvSpPr>
        <p:spPr>
          <a:xfrm>
            <a:off x="5029200" y="1965960"/>
            <a:ext cx="1531620" cy="777240"/>
          </a:xfrm>
          <a:prstGeom prst="roundRect">
            <a:avLst>
              <a:gd name="adj" fmla="val 9412"/>
            </a:avLst>
          </a:prstGeom>
          <a:solidFill>
            <a:srgbClr val="1C7293"/>
          </a:solidFill>
          <a:ln/>
          <a:effectLst>
            <a:outerShdw sx="100000" sy="100000" kx="0" ky="0" algn="bl" rotWithShape="0" blurRad="88900" dist="25400" dir="5400000">
              <a:srgbClr val="0A2942">
                <a:alpha val="16000"/>
              </a:srgbClr>
            </a:outerShdw>
          </a:effectLst>
        </p:spPr>
      </p:sp>
      <p:sp>
        <p:nvSpPr>
          <p:cNvPr id="11" name="Text 9"/>
          <p:cNvSpPr/>
          <p:nvPr/>
        </p:nvSpPr>
        <p:spPr>
          <a:xfrm>
            <a:off x="5212080" y="2112264"/>
            <a:ext cx="1165860" cy="484632"/>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Calibri" pitchFamily="34" charset="0"/>
                <a:ea typeface="Calibri" pitchFamily="34" charset="-122"/>
                <a:cs typeface="Calibri" pitchFamily="34" charset="-120"/>
              </a:rPr>
              <a:t>Chair de poule, frissons</a:t>
            </a:r>
            <a:endParaRPr lang="en-US" sz="980" dirty="0"/>
          </a:p>
        </p:txBody>
      </p:sp>
      <p:sp>
        <p:nvSpPr>
          <p:cNvPr id="12" name="Text 10"/>
          <p:cNvSpPr/>
          <p:nvPr/>
        </p:nvSpPr>
        <p:spPr>
          <a:xfrm>
            <a:off x="6533388" y="212598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6652260" y="1965960"/>
            <a:ext cx="1531620" cy="777240"/>
          </a:xfrm>
          <a:prstGeom prst="roundRect">
            <a:avLst>
              <a:gd name="adj" fmla="val 9412"/>
            </a:avLst>
          </a:prstGeom>
          <a:solidFill>
            <a:srgbClr val="C77F0A"/>
          </a:solidFill>
          <a:ln/>
          <a:effectLst>
            <a:outerShdw sx="100000" sy="100000" kx="0" ky="0" algn="bl" rotWithShape="0" blurRad="88900" dist="25400" dir="5400000">
              <a:srgbClr val="0A2942">
                <a:alpha val="16000"/>
              </a:srgbClr>
            </a:outerShdw>
          </a:effectLst>
        </p:spPr>
      </p:sp>
      <p:sp>
        <p:nvSpPr>
          <p:cNvPr id="14" name="Text 12"/>
          <p:cNvSpPr/>
          <p:nvPr/>
        </p:nvSpPr>
        <p:spPr>
          <a:xfrm>
            <a:off x="6835140" y="2112264"/>
            <a:ext cx="1165860" cy="484632"/>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Calibri" pitchFamily="34" charset="0"/>
                <a:ea typeface="Calibri" pitchFamily="34" charset="-122"/>
                <a:cs typeface="Calibri" pitchFamily="34" charset="-120"/>
              </a:rPr>
              <a:t>Tremblements, perte de dextérité</a:t>
            </a:r>
            <a:endParaRPr lang="en-US" sz="980" dirty="0"/>
          </a:p>
        </p:txBody>
      </p:sp>
      <p:sp>
        <p:nvSpPr>
          <p:cNvPr id="15" name="Text 13"/>
          <p:cNvSpPr/>
          <p:nvPr/>
        </p:nvSpPr>
        <p:spPr>
          <a:xfrm>
            <a:off x="8156448" y="212598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275320" y="1965960"/>
            <a:ext cx="1531620" cy="777240"/>
          </a:xfrm>
          <a:prstGeom prst="roundRect">
            <a:avLst>
              <a:gd name="adj" fmla="val 9412"/>
            </a:avLst>
          </a:prstGeom>
          <a:solidFill>
            <a:srgbClr val="D9541E"/>
          </a:solidFill>
          <a:ln/>
          <a:effectLst>
            <a:outerShdw sx="100000" sy="100000" kx="0" ky="0" algn="bl" rotWithShape="0" blurRad="88900" dist="25400" dir="5400000">
              <a:srgbClr val="0A2942">
                <a:alpha val="16000"/>
              </a:srgbClr>
            </a:outerShdw>
          </a:effectLst>
        </p:spPr>
      </p:sp>
      <p:sp>
        <p:nvSpPr>
          <p:cNvPr id="17" name="Text 15"/>
          <p:cNvSpPr/>
          <p:nvPr/>
        </p:nvSpPr>
        <p:spPr>
          <a:xfrm>
            <a:off x="8458200" y="2112264"/>
            <a:ext cx="1165860" cy="484632"/>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Calibri" pitchFamily="34" charset="0"/>
                <a:ea typeface="Calibri" pitchFamily="34" charset="-122"/>
                <a:cs typeface="Calibri" pitchFamily="34" charset="-120"/>
              </a:rPr>
              <a:t>Difficulté à parler, confusion</a:t>
            </a:r>
            <a:endParaRPr lang="en-US" sz="980" dirty="0"/>
          </a:p>
        </p:txBody>
      </p:sp>
      <p:sp>
        <p:nvSpPr>
          <p:cNvPr id="18" name="Text 16"/>
          <p:cNvSpPr/>
          <p:nvPr/>
        </p:nvSpPr>
        <p:spPr>
          <a:xfrm>
            <a:off x="9779508" y="2125980"/>
            <a:ext cx="201168" cy="457200"/>
          </a:xfrm>
          <a:prstGeom prst="rect">
            <a:avLst/>
          </a:prstGeom>
          <a:noFill/>
          <a:ln/>
        </p:spPr>
        <p:txBody>
          <a:bodyPr wrap="square" lIns="0" tIns="0" rIns="0" bIns="0" rtlCol="0" anchor="ctr"/>
          <a:lstStyle/>
          <a:p>
            <a:pPr algn="ctr" indent="0" marL="0">
              <a:buNone/>
            </a:pPr>
            <a:r>
              <a:rPr lang="en-US" sz="1500" b="1" dirty="0">
                <a:solidFill>
                  <a:srgbClr val="D9541E"/>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9898380" y="1965960"/>
            <a:ext cx="1531620" cy="777240"/>
          </a:xfrm>
          <a:prstGeom prst="roundRect">
            <a:avLst>
              <a:gd name="adj" fmla="val 9412"/>
            </a:avLst>
          </a:prstGeom>
          <a:solidFill>
            <a:srgbClr val="8C2F0B"/>
          </a:solidFill>
          <a:ln/>
          <a:effectLst>
            <a:outerShdw sx="100000" sy="100000" kx="0" ky="0" algn="bl" rotWithShape="0" blurRad="88900" dist="25400" dir="5400000">
              <a:srgbClr val="0A2942">
                <a:alpha val="16000"/>
              </a:srgbClr>
            </a:outerShdw>
          </a:effectLst>
        </p:spPr>
      </p:sp>
      <p:sp>
        <p:nvSpPr>
          <p:cNvPr id="20" name="Text 18"/>
          <p:cNvSpPr/>
          <p:nvPr/>
        </p:nvSpPr>
        <p:spPr>
          <a:xfrm>
            <a:off x="10081260" y="2112264"/>
            <a:ext cx="1165860" cy="484632"/>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Calibri" pitchFamily="34" charset="0"/>
                <a:ea typeface="Calibri" pitchFamily="34" charset="-122"/>
                <a:cs typeface="Calibri" pitchFamily="34" charset="-120"/>
              </a:rPr>
              <a:t>ARRÊT des tremblements = GRAVITÉ</a:t>
            </a:r>
            <a:endParaRPr lang="en-US" sz="980" dirty="0"/>
          </a:p>
        </p:txBody>
      </p:sp>
      <p:sp>
        <p:nvSpPr>
          <p:cNvPr id="21" name="Text 19"/>
          <p:cNvSpPr/>
          <p:nvPr/>
        </p:nvSpPr>
        <p:spPr>
          <a:xfrm>
            <a:off x="5029200" y="2880360"/>
            <a:ext cx="6400800" cy="365760"/>
          </a:xfrm>
          <a:prstGeom prst="rect">
            <a:avLst/>
          </a:prstGeom>
          <a:noFill/>
          <a:ln/>
        </p:spPr>
        <p:txBody>
          <a:bodyPr wrap="square" lIns="0" tIns="0" rIns="0" bIns="0" rtlCol="0" anchor="ctr"/>
          <a:lstStyle/>
          <a:p>
            <a:pPr indent="0" marL="0">
              <a:buNone/>
            </a:pPr>
            <a:r>
              <a:rPr lang="en-US" sz="1050" b="1" i="1" dirty="0">
                <a:solidFill>
                  <a:srgbClr val="9C3A10"/>
                </a:solidFill>
                <a:latin typeface="Calibri" pitchFamily="34" charset="0"/>
                <a:ea typeface="Calibri" pitchFamily="34" charset="-122"/>
                <a:cs typeface="Calibri" pitchFamily="34" charset="-120"/>
              </a:rPr>
              <a:t>Quand un plongeur qui grelottait cesse de grelotter, ce n'est pas qu'il va mieux.</a:t>
            </a:r>
            <a:endParaRPr lang="en-US" sz="1050" dirty="0"/>
          </a:p>
        </p:txBody>
      </p:sp>
      <p:sp>
        <p:nvSpPr>
          <p:cNvPr id="22" name="Shape 20"/>
          <p:cNvSpPr/>
          <p:nvPr/>
        </p:nvSpPr>
        <p:spPr>
          <a:xfrm>
            <a:off x="548640" y="3977640"/>
            <a:ext cx="5440680" cy="2103120"/>
          </a:xfrm>
          <a:prstGeom prst="roundRect">
            <a:avLst>
              <a:gd name="adj" fmla="val 3913"/>
            </a:avLst>
          </a:prstGeom>
          <a:solidFill>
            <a:srgbClr val="FBE9E1"/>
          </a:solidFill>
          <a:ln/>
          <a:effectLst>
            <a:outerShdw sx="100000" sy="100000" kx="0" ky="0" algn="bl" rotWithShape="0" blurRad="88900" dist="25400" dir="5400000">
              <a:srgbClr val="0A2942">
                <a:alpha val="16000"/>
              </a:srgbClr>
            </a:outerShdw>
          </a:effectLst>
        </p:spPr>
      </p:sp>
      <p:sp>
        <p:nvSpPr>
          <p:cNvPr id="23" name="Text 21"/>
          <p:cNvSpPr/>
          <p:nvPr/>
        </p:nvSpPr>
        <p:spPr>
          <a:xfrm>
            <a:off x="822960" y="4114800"/>
            <a:ext cx="4846320" cy="320040"/>
          </a:xfrm>
          <a:prstGeom prst="rect">
            <a:avLst/>
          </a:prstGeom>
          <a:noFill/>
          <a:ln/>
        </p:spPr>
        <p:txBody>
          <a:bodyPr wrap="square" lIns="0" tIns="0" rIns="0" bIns="0" rtlCol="0" anchor="ctr"/>
          <a:lstStyle/>
          <a:p>
            <a:pPr indent="0" marL="0">
              <a:buNone/>
            </a:pPr>
            <a:r>
              <a:rPr lang="en-US" sz="1300" b="1" dirty="0">
                <a:solidFill>
                  <a:srgbClr val="9C3A10"/>
                </a:solidFill>
                <a:latin typeface="Calibri" pitchFamily="34" charset="0"/>
                <a:ea typeface="Calibri" pitchFamily="34" charset="-122"/>
                <a:cs typeface="Calibri" pitchFamily="34" charset="-120"/>
              </a:rPr>
              <a:t>Conduite à tenir</a:t>
            </a:r>
            <a:endParaRPr lang="en-US" sz="1300" dirty="0"/>
          </a:p>
        </p:txBody>
      </p:sp>
      <p:sp>
        <p:nvSpPr>
          <p:cNvPr id="24" name="Text 22"/>
          <p:cNvSpPr/>
          <p:nvPr/>
        </p:nvSpPr>
        <p:spPr>
          <a:xfrm>
            <a:off x="868680" y="4480560"/>
            <a:ext cx="4846320" cy="150876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STOP · sortir de l'eau</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Déshabiller et SÉCHER : une combinaison humide continue de refroidir</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Couvrir · boire chaud et sucré</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Si grave : appeler les secours</a:t>
            </a:r>
            <a:endParaRPr lang="en-US" sz="1150" dirty="0"/>
          </a:p>
        </p:txBody>
      </p:sp>
      <p:sp>
        <p:nvSpPr>
          <p:cNvPr id="25" name="Shape 23"/>
          <p:cNvSpPr/>
          <p:nvPr/>
        </p:nvSpPr>
        <p:spPr>
          <a:xfrm>
            <a:off x="6181344" y="3977640"/>
            <a:ext cx="5440680" cy="2103120"/>
          </a:xfrm>
          <a:prstGeom prst="roundRect">
            <a:avLst>
              <a:gd name="adj" fmla="val 3913"/>
            </a:avLst>
          </a:prstGeom>
          <a:solidFill>
            <a:srgbClr val="E7F3EC"/>
          </a:solidFill>
          <a:ln/>
          <a:effectLst>
            <a:outerShdw sx="100000" sy="100000" kx="0" ky="0" algn="bl" rotWithShape="0" blurRad="88900" dist="25400" dir="5400000">
              <a:srgbClr val="0A2942">
                <a:alpha val="16000"/>
              </a:srgbClr>
            </a:outerShdw>
          </a:effectLst>
        </p:spPr>
      </p:sp>
      <p:sp>
        <p:nvSpPr>
          <p:cNvPr id="26" name="Text 24"/>
          <p:cNvSpPr/>
          <p:nvPr/>
        </p:nvSpPr>
        <p:spPr>
          <a:xfrm>
            <a:off x="6455664" y="4114800"/>
            <a:ext cx="4937760" cy="320040"/>
          </a:xfrm>
          <a:prstGeom prst="rect">
            <a:avLst/>
          </a:prstGeom>
          <a:noFill/>
          <a:ln/>
        </p:spPr>
        <p:txBody>
          <a:bodyPr wrap="square" lIns="0" tIns="0" rIns="0" bIns="0" rtlCol="0" anchor="ctr"/>
          <a:lstStyle/>
          <a:p>
            <a:pPr indent="0" marL="0">
              <a:buNone/>
            </a:pPr>
            <a:r>
              <a:rPr lang="en-US" sz="1300" b="1" dirty="0">
                <a:solidFill>
                  <a:srgbClr val="2C8C5A"/>
                </a:solidFill>
                <a:latin typeface="Calibri" pitchFamily="34" charset="0"/>
                <a:ea typeface="Calibri" pitchFamily="34" charset="-122"/>
                <a:cs typeface="Calibri" pitchFamily="34" charset="-120"/>
              </a:rPr>
              <a:t>Prévention : la check-list du directeur de séance</a:t>
            </a:r>
            <a:endParaRPr lang="en-US" sz="1300" dirty="0"/>
          </a:p>
        </p:txBody>
      </p:sp>
      <p:sp>
        <p:nvSpPr>
          <p:cNvPr id="27" name="Text 25"/>
          <p:cNvSpPr/>
          <p:nvPr/>
        </p:nvSpPr>
        <p:spPr>
          <a:xfrm>
            <a:off x="6501384" y="4480560"/>
            <a:ext cx="4937760" cy="150876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État de fatigue des plongeurs ? Alimentés ? (sortie de 8 h : la moitié n'a rien mangé)</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Matériel : épaisseur, taille (une combinaison trop grande = radiateur à l'envers), cagoule</a:t>
            </a:r>
            <a:endParaRPr lang="en-US" sz="1100" dirty="0"/>
          </a:p>
          <a:p>
            <a:pPr marL="127000" indent="-127000">
              <a:spcAft>
                <a:spcPts val="500"/>
              </a:spcAft>
              <a:buSzPct val="100000"/>
              <a:buChar char="•"/>
            </a:pPr>
            <a:r>
              <a:rPr lang="en-US" sz="1100" dirty="0">
                <a:solidFill>
                  <a:srgbClr val="1F3347"/>
                </a:solidFill>
                <a:latin typeface="Calibri" pitchFamily="34" charset="0"/>
                <a:ea typeface="Calibri" pitchFamily="34" charset="-122"/>
                <a:cs typeface="Calibri" pitchFamily="34" charset="-120"/>
              </a:rPr>
              <a:t>La question directe À CHAQUE remontée, individuellement : « as-tu froid ? » — et vérifier : la réponse est toujours non</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AUTRES ACCIDENTS</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Ce qui arrive vraiment : la hiérarchie réelle du risque</a:t>
            </a:r>
            <a:endParaRPr lang="en-US" sz="2800" dirty="0"/>
          </a:p>
        </p:txBody>
      </p:sp>
      <p:sp>
        <p:nvSpPr>
          <p:cNvPr id="4" name="Shape 2"/>
          <p:cNvSpPr/>
          <p:nvPr/>
        </p:nvSpPr>
        <p:spPr>
          <a:xfrm>
            <a:off x="548640" y="1371600"/>
            <a:ext cx="3602736" cy="1783080"/>
          </a:xfrm>
          <a:prstGeom prst="roundRect">
            <a:avLst>
              <a:gd name="adj" fmla="val 4615"/>
            </a:avLst>
          </a:prstGeom>
          <a:solidFill>
            <a:srgbClr val="F2F7FB"/>
          </a:solidFill>
          <a:ln/>
          <a:effectLst>
            <a:outerShdw sx="100000" sy="100000" kx="0" ky="0" algn="bl" rotWithShape="0" blurRad="88900" dist="25400" dir="5400000">
              <a:srgbClr val="0A2942">
                <a:alpha val="16000"/>
              </a:srgbClr>
            </a:outerShdw>
          </a:effectLst>
        </p:spPr>
      </p:sp>
      <p:sp>
        <p:nvSpPr>
          <p:cNvPr id="5" name="Shape 3"/>
          <p:cNvSpPr/>
          <p:nvPr/>
        </p:nvSpPr>
        <p:spPr>
          <a:xfrm>
            <a:off x="749808" y="1554480"/>
            <a:ext cx="457200" cy="457200"/>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868680" y="1673352"/>
            <a:ext cx="219456" cy="219456"/>
          </a:xfrm>
          <a:prstGeom prst="rect">
            <a:avLst/>
          </a:prstGeom>
        </p:spPr>
      </p:pic>
      <p:sp>
        <p:nvSpPr>
          <p:cNvPr id="7" name="Text 4"/>
          <p:cNvSpPr/>
          <p:nvPr/>
        </p:nvSpPr>
        <p:spPr>
          <a:xfrm>
            <a:off x="1335024" y="1517904"/>
            <a:ext cx="2688336" cy="512064"/>
          </a:xfrm>
          <a:prstGeom prst="rect">
            <a:avLst/>
          </a:prstGeom>
          <a:noFill/>
          <a:ln/>
        </p:spPr>
        <p:txBody>
          <a:bodyPr wrap="square" lIns="0" tIns="0" rIns="0" bIns="0" rtlCol="0" anchor="ctr"/>
          <a:lstStyle/>
          <a:p>
            <a:pPr indent="0" marL="0">
              <a:lnSpc>
                <a:spcPct val="100000"/>
              </a:lnSpc>
              <a:buNone/>
            </a:pPr>
            <a:r>
              <a:rPr lang="en-US" sz="1250" b="1" dirty="0">
                <a:solidFill>
                  <a:srgbClr val="1F3347"/>
                </a:solidFill>
                <a:latin typeface="Calibri" pitchFamily="34" charset="0"/>
                <a:ea typeface="Calibri" pitchFamily="34" charset="-122"/>
                <a:cs typeface="Calibri" pitchFamily="34" charset="-120"/>
              </a:rPr>
              <a:t>Hypoglycémie</a:t>
            </a:r>
            <a:endParaRPr lang="en-US" sz="1250" dirty="0"/>
          </a:p>
        </p:txBody>
      </p:sp>
      <p:sp>
        <p:nvSpPr>
          <p:cNvPr id="8" name="Text 5"/>
          <p:cNvSpPr/>
          <p:nvPr/>
        </p:nvSpPr>
        <p:spPr>
          <a:xfrm>
            <a:off x="786384" y="2121408"/>
            <a:ext cx="3127248" cy="868680"/>
          </a:xfrm>
          <a:prstGeom prst="rect">
            <a:avLst/>
          </a:prstGeom>
          <a:noFill/>
          <a:ln/>
        </p:spPr>
        <p:txBody>
          <a:bodyPr wrap="square" lIns="0" tIns="0" rIns="0" bIns="0" rtlCol="0" anchor="t"/>
          <a:lstStyle/>
          <a:p>
            <a:pPr indent="0" marL="0">
              <a:lnSpc>
                <a:spcPct val="110000"/>
              </a:lnSpc>
              <a:buNone/>
            </a:pPr>
            <a:r>
              <a:rPr lang="en-US" sz="1020" dirty="0">
                <a:solidFill>
                  <a:srgbClr val="5B7288"/>
                </a:solidFill>
                <a:latin typeface="Calibri" pitchFamily="34" charset="0"/>
                <a:ea typeface="Calibri" pitchFamily="34" charset="-122"/>
                <a:cs typeface="Calibri" pitchFamily="34" charset="-120"/>
              </a:rPr>
              <a:t>Fatigue brutale, nausées, vertiges, « mouches ». Très fréquent. Prévention : manger avant et pendant une sortie longue.</a:t>
            </a:r>
            <a:endParaRPr lang="en-US" sz="1020" dirty="0"/>
          </a:p>
        </p:txBody>
      </p:sp>
      <p:sp>
        <p:nvSpPr>
          <p:cNvPr id="9" name="Shape 6"/>
          <p:cNvSpPr/>
          <p:nvPr/>
        </p:nvSpPr>
        <p:spPr>
          <a:xfrm>
            <a:off x="4343400" y="1371600"/>
            <a:ext cx="3602736" cy="1783080"/>
          </a:xfrm>
          <a:prstGeom prst="roundRect">
            <a:avLst>
              <a:gd name="adj" fmla="val 4615"/>
            </a:avLst>
          </a:prstGeom>
          <a:solidFill>
            <a:srgbClr val="F2F7FB"/>
          </a:solidFill>
          <a:ln/>
          <a:effectLst>
            <a:outerShdw sx="100000" sy="100000" kx="0" ky="0" algn="bl" rotWithShape="0" blurRad="88900" dist="25400" dir="5400000">
              <a:srgbClr val="0A2942">
                <a:alpha val="16000"/>
              </a:srgbClr>
            </a:outerShdw>
          </a:effectLst>
        </p:spPr>
      </p:sp>
      <p:sp>
        <p:nvSpPr>
          <p:cNvPr id="10" name="Shape 7"/>
          <p:cNvSpPr/>
          <p:nvPr/>
        </p:nvSpPr>
        <p:spPr>
          <a:xfrm>
            <a:off x="4544568" y="1554480"/>
            <a:ext cx="457200" cy="457200"/>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4663440" y="1673352"/>
            <a:ext cx="219456" cy="219456"/>
          </a:xfrm>
          <a:prstGeom prst="rect">
            <a:avLst/>
          </a:prstGeom>
        </p:spPr>
      </p:pic>
      <p:sp>
        <p:nvSpPr>
          <p:cNvPr id="12" name="Text 8"/>
          <p:cNvSpPr/>
          <p:nvPr/>
        </p:nvSpPr>
        <p:spPr>
          <a:xfrm>
            <a:off x="5129784" y="1517904"/>
            <a:ext cx="2688336" cy="512064"/>
          </a:xfrm>
          <a:prstGeom prst="rect">
            <a:avLst/>
          </a:prstGeom>
          <a:noFill/>
          <a:ln/>
        </p:spPr>
        <p:txBody>
          <a:bodyPr wrap="square" lIns="0" tIns="0" rIns="0" bIns="0" rtlCol="0" anchor="ctr"/>
          <a:lstStyle/>
          <a:p>
            <a:pPr indent="0" marL="0">
              <a:lnSpc>
                <a:spcPct val="100000"/>
              </a:lnSpc>
              <a:buNone/>
            </a:pPr>
            <a:r>
              <a:rPr lang="en-US" sz="1250" b="1" dirty="0">
                <a:solidFill>
                  <a:srgbClr val="1F3347"/>
                </a:solidFill>
                <a:latin typeface="Calibri" pitchFamily="34" charset="0"/>
                <a:ea typeface="Calibri" pitchFamily="34" charset="-122"/>
                <a:cs typeface="Calibri" pitchFamily="34" charset="-120"/>
              </a:rPr>
              <a:t>Le milieu</a:t>
            </a:r>
            <a:endParaRPr lang="en-US" sz="1250" dirty="0"/>
          </a:p>
        </p:txBody>
      </p:sp>
      <p:sp>
        <p:nvSpPr>
          <p:cNvPr id="13" name="Text 9"/>
          <p:cNvSpPr/>
          <p:nvPr/>
        </p:nvSpPr>
        <p:spPr>
          <a:xfrm>
            <a:off x="4581144" y="2121408"/>
            <a:ext cx="3127248" cy="868680"/>
          </a:xfrm>
          <a:prstGeom prst="rect">
            <a:avLst/>
          </a:prstGeom>
          <a:noFill/>
          <a:ln/>
        </p:spPr>
        <p:txBody>
          <a:bodyPr wrap="square" lIns="0" tIns="0" rIns="0" bIns="0" rtlCol="0" anchor="t"/>
          <a:lstStyle/>
          <a:p>
            <a:pPr indent="0" marL="0">
              <a:lnSpc>
                <a:spcPct val="110000"/>
              </a:lnSpc>
              <a:buNone/>
            </a:pPr>
            <a:r>
              <a:rPr lang="en-US" sz="1020" dirty="0">
                <a:solidFill>
                  <a:srgbClr val="5B7288"/>
                </a:solidFill>
                <a:latin typeface="Calibri" pitchFamily="34" charset="0"/>
                <a:ea typeface="Calibri" pitchFamily="34" charset="-122"/>
                <a:cs typeface="Calibri" pitchFamily="34" charset="-120"/>
              </a:rPr>
              <a:t>Houle, courant, froid, visibilité, hydrocution : la météo se lit avant la séance, pas pendant.</a:t>
            </a:r>
            <a:endParaRPr lang="en-US" sz="1020" dirty="0"/>
          </a:p>
        </p:txBody>
      </p:sp>
      <p:sp>
        <p:nvSpPr>
          <p:cNvPr id="14" name="Shape 10"/>
          <p:cNvSpPr/>
          <p:nvPr/>
        </p:nvSpPr>
        <p:spPr>
          <a:xfrm>
            <a:off x="8138160" y="1371600"/>
            <a:ext cx="3602736" cy="1783080"/>
          </a:xfrm>
          <a:prstGeom prst="roundRect">
            <a:avLst>
              <a:gd name="adj" fmla="val 4615"/>
            </a:avLst>
          </a:prstGeom>
          <a:solidFill>
            <a:srgbClr val="F2F7FB"/>
          </a:solidFill>
          <a:ln/>
          <a:effectLst>
            <a:outerShdw sx="100000" sy="100000" kx="0" ky="0" algn="bl" rotWithShape="0" blurRad="88900" dist="25400" dir="5400000">
              <a:srgbClr val="0A2942">
                <a:alpha val="16000"/>
              </a:srgbClr>
            </a:outerShdw>
          </a:effectLst>
        </p:spPr>
      </p:sp>
      <p:sp>
        <p:nvSpPr>
          <p:cNvPr id="15" name="Shape 11"/>
          <p:cNvSpPr/>
          <p:nvPr/>
        </p:nvSpPr>
        <p:spPr>
          <a:xfrm>
            <a:off x="8339328" y="1554480"/>
            <a:ext cx="457200" cy="457200"/>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8458200" y="1673352"/>
            <a:ext cx="219456" cy="219456"/>
          </a:xfrm>
          <a:prstGeom prst="rect">
            <a:avLst/>
          </a:prstGeom>
        </p:spPr>
      </p:pic>
      <p:sp>
        <p:nvSpPr>
          <p:cNvPr id="17" name="Text 12"/>
          <p:cNvSpPr/>
          <p:nvPr/>
        </p:nvSpPr>
        <p:spPr>
          <a:xfrm>
            <a:off x="8924544" y="1517904"/>
            <a:ext cx="2688336" cy="512064"/>
          </a:xfrm>
          <a:prstGeom prst="rect">
            <a:avLst/>
          </a:prstGeom>
          <a:noFill/>
          <a:ln/>
        </p:spPr>
        <p:txBody>
          <a:bodyPr wrap="square" lIns="0" tIns="0" rIns="0" bIns="0" rtlCol="0" anchor="ctr"/>
          <a:lstStyle/>
          <a:p>
            <a:pPr indent="0" marL="0">
              <a:lnSpc>
                <a:spcPct val="100000"/>
              </a:lnSpc>
              <a:buNone/>
            </a:pPr>
            <a:r>
              <a:rPr lang="en-US" sz="1250" b="1" dirty="0">
                <a:solidFill>
                  <a:srgbClr val="1F3347"/>
                </a:solidFill>
                <a:latin typeface="Calibri" pitchFamily="34" charset="0"/>
                <a:ea typeface="Calibri" pitchFamily="34" charset="-122"/>
                <a:cs typeface="Calibri" pitchFamily="34" charset="-120"/>
              </a:rPr>
              <a:t>Les activités humaines</a:t>
            </a:r>
            <a:endParaRPr lang="en-US" sz="1250" dirty="0"/>
          </a:p>
        </p:txBody>
      </p:sp>
      <p:sp>
        <p:nvSpPr>
          <p:cNvPr id="18" name="Text 13"/>
          <p:cNvSpPr/>
          <p:nvPr/>
        </p:nvSpPr>
        <p:spPr>
          <a:xfrm>
            <a:off x="8375904" y="2121408"/>
            <a:ext cx="3127248" cy="868680"/>
          </a:xfrm>
          <a:prstGeom prst="rect">
            <a:avLst/>
          </a:prstGeom>
          <a:noFill/>
          <a:ln/>
        </p:spPr>
        <p:txBody>
          <a:bodyPr wrap="square" lIns="0" tIns="0" rIns="0" bIns="0" rtlCol="0" anchor="t"/>
          <a:lstStyle/>
          <a:p>
            <a:pPr indent="0" marL="0">
              <a:lnSpc>
                <a:spcPct val="110000"/>
              </a:lnSpc>
              <a:buNone/>
            </a:pPr>
            <a:r>
              <a:rPr lang="en-US" sz="1020" dirty="0">
                <a:solidFill>
                  <a:srgbClr val="5B7288"/>
                </a:solidFill>
                <a:latin typeface="Calibri" pitchFamily="34" charset="0"/>
                <a:ea typeface="Calibri" pitchFamily="34" charset="-122"/>
                <a:cs typeface="Calibri" pitchFamily="34" charset="-120"/>
              </a:rPr>
              <a:t>Le premier vrai danger des sorties : les BATEAUX. Pavillon, balisage, bouée de surface, surveillance.</a:t>
            </a:r>
            <a:endParaRPr lang="en-US" sz="1020" dirty="0"/>
          </a:p>
        </p:txBody>
      </p:sp>
      <p:sp>
        <p:nvSpPr>
          <p:cNvPr id="19" name="Shape 14"/>
          <p:cNvSpPr/>
          <p:nvPr/>
        </p:nvSpPr>
        <p:spPr>
          <a:xfrm>
            <a:off x="548640" y="3383280"/>
            <a:ext cx="3602736" cy="1783080"/>
          </a:xfrm>
          <a:prstGeom prst="roundRect">
            <a:avLst>
              <a:gd name="adj" fmla="val 4615"/>
            </a:avLst>
          </a:prstGeom>
          <a:solidFill>
            <a:srgbClr val="F2F7FB"/>
          </a:solidFill>
          <a:ln/>
          <a:effectLst>
            <a:outerShdw sx="100000" sy="100000" kx="0" ky="0" algn="bl" rotWithShape="0" blurRad="88900" dist="25400" dir="5400000">
              <a:srgbClr val="0A2942">
                <a:alpha val="16000"/>
              </a:srgbClr>
            </a:outerShdw>
          </a:effectLst>
        </p:spPr>
      </p:sp>
      <p:sp>
        <p:nvSpPr>
          <p:cNvPr id="20" name="Shape 15"/>
          <p:cNvSpPr/>
          <p:nvPr/>
        </p:nvSpPr>
        <p:spPr>
          <a:xfrm>
            <a:off x="749808" y="3566160"/>
            <a:ext cx="457200" cy="457200"/>
          </a:xfrm>
          <a:prstGeom prst="ellipse">
            <a:avLst/>
          </a:prstGeom>
          <a:solidFill>
            <a:srgbClr val="065A82"/>
          </a:solidFill>
          <a:ln/>
        </p:spPr>
      </p:sp>
      <p:pic>
        <p:nvPicPr>
          <p:cNvPr id="21" name="Image 3" descr="preencoded.png">    </p:cNvPr>
          <p:cNvPicPr>
            <a:picLocks noChangeAspect="1"/>
          </p:cNvPicPr>
          <p:nvPr/>
        </p:nvPicPr>
        <p:blipFill>
          <a:blip r:embed="rId4"/>
          <a:stretch>
            <a:fillRect/>
          </a:stretch>
        </p:blipFill>
        <p:spPr>
          <a:xfrm>
            <a:off x="868680" y="3685032"/>
            <a:ext cx="219456" cy="219456"/>
          </a:xfrm>
          <a:prstGeom prst="rect">
            <a:avLst/>
          </a:prstGeom>
        </p:spPr>
      </p:pic>
      <p:sp>
        <p:nvSpPr>
          <p:cNvPr id="22" name="Text 16"/>
          <p:cNvSpPr/>
          <p:nvPr/>
        </p:nvSpPr>
        <p:spPr>
          <a:xfrm>
            <a:off x="1335024" y="3529584"/>
            <a:ext cx="2688336" cy="512064"/>
          </a:xfrm>
          <a:prstGeom prst="rect">
            <a:avLst/>
          </a:prstGeom>
          <a:noFill/>
          <a:ln/>
        </p:spPr>
        <p:txBody>
          <a:bodyPr wrap="square" lIns="0" tIns="0" rIns="0" bIns="0" rtlCol="0" anchor="ctr"/>
          <a:lstStyle/>
          <a:p>
            <a:pPr indent="0" marL="0">
              <a:lnSpc>
                <a:spcPct val="100000"/>
              </a:lnSpc>
              <a:buNone/>
            </a:pPr>
            <a:r>
              <a:rPr lang="en-US" sz="1250" b="1" dirty="0">
                <a:solidFill>
                  <a:srgbClr val="1F3347"/>
                </a:solidFill>
                <a:latin typeface="Calibri" pitchFamily="34" charset="0"/>
                <a:ea typeface="Calibri" pitchFamily="34" charset="-122"/>
                <a:cs typeface="Calibri" pitchFamily="34" charset="-120"/>
              </a:rPr>
              <a:t>Faune &amp; flore</a:t>
            </a:r>
            <a:endParaRPr lang="en-US" sz="1250" dirty="0"/>
          </a:p>
        </p:txBody>
      </p:sp>
      <p:sp>
        <p:nvSpPr>
          <p:cNvPr id="23" name="Text 17"/>
          <p:cNvSpPr/>
          <p:nvPr/>
        </p:nvSpPr>
        <p:spPr>
          <a:xfrm>
            <a:off x="786384" y="4133088"/>
            <a:ext cx="3127248" cy="868680"/>
          </a:xfrm>
          <a:prstGeom prst="rect">
            <a:avLst/>
          </a:prstGeom>
          <a:noFill/>
          <a:ln/>
        </p:spPr>
        <p:txBody>
          <a:bodyPr wrap="square" lIns="0" tIns="0" rIns="0" bIns="0" rtlCol="0" anchor="t"/>
          <a:lstStyle/>
          <a:p>
            <a:pPr indent="0" marL="0">
              <a:lnSpc>
                <a:spcPct val="110000"/>
              </a:lnSpc>
              <a:buNone/>
            </a:pPr>
            <a:r>
              <a:rPr lang="en-US" sz="1020" dirty="0">
                <a:solidFill>
                  <a:srgbClr val="5B7288"/>
                </a:solidFill>
                <a:latin typeface="Calibri" pitchFamily="34" charset="0"/>
                <a:ea typeface="Calibri" pitchFamily="34" charset="-122"/>
                <a:cs typeface="Calibri" pitchFamily="34" charset="-120"/>
              </a:rPr>
              <a:t>Selon site : méduses, poissons-pierre, cônes, ptérois, coraux de feu… Chaque club doit savoir quoi faire — et avoir de quoi le faire.</a:t>
            </a:r>
            <a:endParaRPr lang="en-US" sz="1020" dirty="0"/>
          </a:p>
        </p:txBody>
      </p:sp>
      <p:sp>
        <p:nvSpPr>
          <p:cNvPr id="24" name="Shape 18"/>
          <p:cNvSpPr/>
          <p:nvPr/>
        </p:nvSpPr>
        <p:spPr>
          <a:xfrm>
            <a:off x="4343400" y="3383280"/>
            <a:ext cx="3602736" cy="1783080"/>
          </a:xfrm>
          <a:prstGeom prst="roundRect">
            <a:avLst>
              <a:gd name="adj" fmla="val 4615"/>
            </a:avLst>
          </a:prstGeom>
          <a:solidFill>
            <a:srgbClr val="F2F7FB"/>
          </a:solidFill>
          <a:ln/>
          <a:effectLst>
            <a:outerShdw sx="100000" sy="100000" kx="0" ky="0" algn="bl" rotWithShape="0" blurRad="88900" dist="25400" dir="5400000">
              <a:srgbClr val="0A2942">
                <a:alpha val="16000"/>
              </a:srgbClr>
            </a:outerShdw>
          </a:effectLst>
        </p:spPr>
      </p:sp>
      <p:sp>
        <p:nvSpPr>
          <p:cNvPr id="25" name="Shape 19"/>
          <p:cNvSpPr/>
          <p:nvPr/>
        </p:nvSpPr>
        <p:spPr>
          <a:xfrm>
            <a:off x="4544568" y="3566160"/>
            <a:ext cx="457200" cy="457200"/>
          </a:xfrm>
          <a:prstGeom prst="ellipse">
            <a:avLst/>
          </a:prstGeom>
          <a:solidFill>
            <a:srgbClr val="065A82"/>
          </a:solidFill>
          <a:ln/>
        </p:spPr>
      </p:sp>
      <p:pic>
        <p:nvPicPr>
          <p:cNvPr id="26" name="Image 4" descr="preencoded.png">    </p:cNvPr>
          <p:cNvPicPr>
            <a:picLocks noChangeAspect="1"/>
          </p:cNvPicPr>
          <p:nvPr/>
        </p:nvPicPr>
        <p:blipFill>
          <a:blip r:embed="rId5"/>
          <a:stretch>
            <a:fillRect/>
          </a:stretch>
        </p:blipFill>
        <p:spPr>
          <a:xfrm>
            <a:off x="4663440" y="3685032"/>
            <a:ext cx="219456" cy="219456"/>
          </a:xfrm>
          <a:prstGeom prst="rect">
            <a:avLst/>
          </a:prstGeom>
        </p:spPr>
      </p:pic>
      <p:sp>
        <p:nvSpPr>
          <p:cNvPr id="27" name="Text 20"/>
          <p:cNvSpPr/>
          <p:nvPr/>
        </p:nvSpPr>
        <p:spPr>
          <a:xfrm>
            <a:off x="5129784" y="3529584"/>
            <a:ext cx="2688336" cy="512064"/>
          </a:xfrm>
          <a:prstGeom prst="rect">
            <a:avLst/>
          </a:prstGeom>
          <a:noFill/>
          <a:ln/>
        </p:spPr>
        <p:txBody>
          <a:bodyPr wrap="square" lIns="0" tIns="0" rIns="0" bIns="0" rtlCol="0" anchor="ctr"/>
          <a:lstStyle/>
          <a:p>
            <a:pPr indent="0" marL="0">
              <a:lnSpc>
                <a:spcPct val="100000"/>
              </a:lnSpc>
              <a:buNone/>
            </a:pPr>
            <a:r>
              <a:rPr lang="en-US" sz="1250" b="1" dirty="0">
                <a:solidFill>
                  <a:srgbClr val="1F3347"/>
                </a:solidFill>
                <a:latin typeface="Calibri" pitchFamily="34" charset="0"/>
                <a:ea typeface="Calibri" pitchFamily="34" charset="-122"/>
                <a:cs typeface="Calibri" pitchFamily="34" charset="-120"/>
              </a:rPr>
              <a:t>La crise cardiaque</a:t>
            </a:r>
            <a:endParaRPr lang="en-US" sz="1250" dirty="0"/>
          </a:p>
        </p:txBody>
      </p:sp>
      <p:sp>
        <p:nvSpPr>
          <p:cNvPr id="28" name="Text 21"/>
          <p:cNvSpPr/>
          <p:nvPr/>
        </p:nvSpPr>
        <p:spPr>
          <a:xfrm>
            <a:off x="4581144" y="4133088"/>
            <a:ext cx="3127248" cy="868680"/>
          </a:xfrm>
          <a:prstGeom prst="rect">
            <a:avLst/>
          </a:prstGeom>
          <a:noFill/>
          <a:ln/>
        </p:spPr>
        <p:txBody>
          <a:bodyPr wrap="square" lIns="0" tIns="0" rIns="0" bIns="0" rtlCol="0" anchor="t"/>
          <a:lstStyle/>
          <a:p>
            <a:pPr indent="0" marL="0">
              <a:lnSpc>
                <a:spcPct val="110000"/>
              </a:lnSpc>
              <a:buNone/>
            </a:pPr>
            <a:r>
              <a:rPr lang="en-US" sz="1020" dirty="0">
                <a:solidFill>
                  <a:srgbClr val="5B7288"/>
                </a:solidFill>
                <a:latin typeface="Calibri" pitchFamily="34" charset="0"/>
                <a:ea typeface="Calibri" pitchFamily="34" charset="-122"/>
                <a:cs typeface="Calibri" pitchFamily="34" charset="-120"/>
              </a:rPr>
              <a:t>Cause majeure d'accident mortel en activité subaquatique : c'est le sens du certificat médical.</a:t>
            </a:r>
            <a:endParaRPr lang="en-US" sz="1020" dirty="0"/>
          </a:p>
        </p:txBody>
      </p:sp>
      <p:sp>
        <p:nvSpPr>
          <p:cNvPr id="29" name="Shape 22"/>
          <p:cNvSpPr/>
          <p:nvPr/>
        </p:nvSpPr>
        <p:spPr>
          <a:xfrm>
            <a:off x="8138160" y="3383280"/>
            <a:ext cx="3602736" cy="1783080"/>
          </a:xfrm>
          <a:prstGeom prst="roundRect">
            <a:avLst>
              <a:gd name="adj" fmla="val 4615"/>
            </a:avLst>
          </a:prstGeom>
          <a:solidFill>
            <a:srgbClr val="F2F7FB"/>
          </a:solidFill>
          <a:ln/>
          <a:effectLst>
            <a:outerShdw sx="100000" sy="100000" kx="0" ky="0" algn="bl" rotWithShape="0" blurRad="88900" dist="25400" dir="5400000">
              <a:srgbClr val="0A2942">
                <a:alpha val="16000"/>
              </a:srgbClr>
            </a:outerShdw>
          </a:effectLst>
        </p:spPr>
      </p:sp>
      <p:sp>
        <p:nvSpPr>
          <p:cNvPr id="30" name="Shape 23"/>
          <p:cNvSpPr/>
          <p:nvPr/>
        </p:nvSpPr>
        <p:spPr>
          <a:xfrm>
            <a:off x="8339328" y="3566160"/>
            <a:ext cx="457200" cy="457200"/>
          </a:xfrm>
          <a:prstGeom prst="ellipse">
            <a:avLst/>
          </a:prstGeom>
          <a:solidFill>
            <a:srgbClr val="065A82"/>
          </a:solidFill>
          <a:ln/>
        </p:spPr>
      </p:sp>
      <p:pic>
        <p:nvPicPr>
          <p:cNvPr id="31" name="Image 5" descr="preencoded.png">    </p:cNvPr>
          <p:cNvPicPr>
            <a:picLocks noChangeAspect="1"/>
          </p:cNvPicPr>
          <p:nvPr/>
        </p:nvPicPr>
        <p:blipFill>
          <a:blip r:embed="rId6"/>
          <a:stretch>
            <a:fillRect/>
          </a:stretch>
        </p:blipFill>
        <p:spPr>
          <a:xfrm>
            <a:off x="8458200" y="3685032"/>
            <a:ext cx="219456" cy="219456"/>
          </a:xfrm>
          <a:prstGeom prst="rect">
            <a:avLst/>
          </a:prstGeom>
        </p:spPr>
      </p:pic>
      <p:sp>
        <p:nvSpPr>
          <p:cNvPr id="32" name="Text 24"/>
          <p:cNvSpPr/>
          <p:nvPr/>
        </p:nvSpPr>
        <p:spPr>
          <a:xfrm>
            <a:off x="8924544" y="3529584"/>
            <a:ext cx="2688336" cy="512064"/>
          </a:xfrm>
          <a:prstGeom prst="rect">
            <a:avLst/>
          </a:prstGeom>
          <a:noFill/>
          <a:ln/>
        </p:spPr>
        <p:txBody>
          <a:bodyPr wrap="square" lIns="0" tIns="0" rIns="0" bIns="0" rtlCol="0" anchor="ctr"/>
          <a:lstStyle/>
          <a:p>
            <a:pPr indent="0" marL="0">
              <a:lnSpc>
                <a:spcPct val="100000"/>
              </a:lnSpc>
              <a:buNone/>
            </a:pPr>
            <a:r>
              <a:rPr lang="en-US" sz="1250" b="1" dirty="0">
                <a:solidFill>
                  <a:srgbClr val="1F3347"/>
                </a:solidFill>
                <a:latin typeface="Calibri" pitchFamily="34" charset="0"/>
                <a:ea typeface="Calibri" pitchFamily="34" charset="-122"/>
                <a:cs typeface="Calibri" pitchFamily="34" charset="-120"/>
              </a:rPr>
              <a:t>La noyade</a:t>
            </a:r>
            <a:endParaRPr lang="en-US" sz="1250" dirty="0"/>
          </a:p>
        </p:txBody>
      </p:sp>
      <p:sp>
        <p:nvSpPr>
          <p:cNvPr id="33" name="Text 25"/>
          <p:cNvSpPr/>
          <p:nvPr/>
        </p:nvSpPr>
        <p:spPr>
          <a:xfrm>
            <a:off x="8375904" y="4133088"/>
            <a:ext cx="3127248" cy="868680"/>
          </a:xfrm>
          <a:prstGeom prst="rect">
            <a:avLst/>
          </a:prstGeom>
          <a:noFill/>
          <a:ln/>
        </p:spPr>
        <p:txBody>
          <a:bodyPr wrap="square" lIns="0" tIns="0" rIns="0" bIns="0" rtlCol="0" anchor="t"/>
          <a:lstStyle/>
          <a:p>
            <a:pPr indent="0" marL="0">
              <a:lnSpc>
                <a:spcPct val="110000"/>
              </a:lnSpc>
              <a:buNone/>
            </a:pPr>
            <a:r>
              <a:rPr lang="en-US" sz="1020" dirty="0">
                <a:solidFill>
                  <a:srgbClr val="5B7288"/>
                </a:solidFill>
                <a:latin typeface="Calibri" pitchFamily="34" charset="0"/>
                <a:ea typeface="Calibri" pitchFamily="34" charset="-122"/>
                <a:cs typeface="Calibri" pitchFamily="34" charset="-120"/>
              </a:rPr>
              <a:t>Presque toujours la CONSÉQUENCE d'un autre accident de cette liste — syncope en tête.</a:t>
            </a:r>
            <a:endParaRPr lang="en-US" sz="1020" dirty="0"/>
          </a:p>
        </p:txBody>
      </p:sp>
      <p:sp>
        <p:nvSpPr>
          <p:cNvPr id="34" name="Shape 26"/>
          <p:cNvSpPr/>
          <p:nvPr/>
        </p:nvSpPr>
        <p:spPr>
          <a:xfrm>
            <a:off x="548640" y="5257800"/>
            <a:ext cx="11073384" cy="914400"/>
          </a:xfrm>
          <a:prstGeom prst="roundRect">
            <a:avLst>
              <a:gd name="adj" fmla="val 9000"/>
            </a:avLst>
          </a:prstGeom>
          <a:solidFill>
            <a:srgbClr val="DCEBF5"/>
          </a:solidFill>
          <a:ln/>
          <a:effectLst>
            <a:outerShdw sx="100000" sy="100000" kx="0" ky="0" algn="bl" rotWithShape="0" blurRad="88900" dist="25400" dir="5400000">
              <a:srgbClr val="0A2942">
                <a:alpha val="16000"/>
              </a:srgbClr>
            </a:outerShdw>
          </a:effectLst>
        </p:spPr>
      </p:sp>
      <p:sp>
        <p:nvSpPr>
          <p:cNvPr id="35" name="Text 27"/>
          <p:cNvSpPr/>
          <p:nvPr/>
        </p:nvSpPr>
        <p:spPr>
          <a:xfrm>
            <a:off x="822960" y="5303520"/>
            <a:ext cx="10515600" cy="822960"/>
          </a:xfrm>
          <a:prstGeom prst="rect">
            <a:avLst/>
          </a:prstGeom>
          <a:noFill/>
          <a:ln/>
        </p:spPr>
        <p:txBody>
          <a:bodyPr wrap="square" lIns="0" tIns="0" rIns="0" bIns="0" rtlCol="0" anchor="ctr"/>
          <a:lstStyle/>
          <a:p>
            <a:pPr indent="0" marL="0">
              <a:lnSpc>
                <a:spcPct val="110000"/>
              </a:lnSpc>
              <a:buNone/>
            </a:pPr>
            <a:r>
              <a:rPr lang="en-US" sz="1150" b="1" dirty="0">
                <a:solidFill>
                  <a:srgbClr val="065A82"/>
                </a:solidFill>
                <a:latin typeface="Calibri" pitchFamily="34" charset="0"/>
                <a:ea typeface="Calibri" pitchFamily="34" charset="-122"/>
                <a:cs typeface="Calibri" pitchFamily="34" charset="-120"/>
              </a:rPr>
              <a:t>Le message de clôture du module accidents : </a:t>
            </a:r>
            <a:pPr indent="0" marL="0">
              <a:lnSpc>
                <a:spcPct val="110000"/>
              </a:lnSpc>
              <a:buNone/>
            </a:pPr>
            <a:r>
              <a:rPr lang="en-US" sz="1150" dirty="0">
                <a:solidFill>
                  <a:srgbClr val="1F3347"/>
                </a:solidFill>
                <a:latin typeface="Calibri" pitchFamily="34" charset="0"/>
                <a:ea typeface="Calibri" pitchFamily="34" charset="-122"/>
                <a:cs typeface="Calibri" pitchFamily="34" charset="-120"/>
              </a:rPr>
              <a:t>ce qui vous arrivera dans une carrière de moniteur, ce n'est pas l'embolie spectaculaire — c'est un élève qui a froid, qui n'a pas mangé, dont les oreilles ne passent pas, et un bateau qui coupe la zone. Les accidents graves sont rares parce que la prévention fonctionne. Votre travail, c'est de la faire fonctionner.</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SYNTHÈSE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Les barotraumatismes en un tableau</a:t>
            </a:r>
            <a:endParaRPr lang="en-US" sz="2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73384" cy="914400"/>
        </p:xfrm>
        <a:graphic>
          <a:graphicData uri="http://schemas.openxmlformats.org/drawingml/2006/table">
            <a:tbl>
              <a:tblPr/>
              <a:tblGrid>
                <a:gridCol w="1554480"/>
                <a:gridCol w="2514600"/>
                <a:gridCol w="2011680"/>
                <a:gridCol w="2587752"/>
                <a:gridCol w="2404872"/>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Cavité</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Mécanisme clé</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Signal d'alerte</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Geste / CAT</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Prévention clé</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r>
              <a:tr h="804672">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Oreille moyenne</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Tympan déformé si pas de compensation</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Otalgie croissante, acouphènes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Descente : STOP · remontée : Toynbee · jamais Valsalva en remontant</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 En douceur, avant d'avoir mal, tout le long » · BTV</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804672">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Sinus</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Ostium bouché : parois rigides, muqueuse aspirée/écrasée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Douleur localisée, épistaxis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STOP · saignement = fin de séance · ORL si persistant</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Pas de plongée enrhumé · pas de décongestionnant</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r>
              <a:tr h="804672">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Masque</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Effet ventouse sur yeux et nez</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Yeux injectés, épistaxis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STOP · troubles visuels → ophtalmo le jour même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Souffler par le nez régulièrement · petit volume · pas de lunettes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868680">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Poumons</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Air pris au fond qui se dilate : alvéoles déchirées, embolie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Signes de choc, pulmonaires, neurologiques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Alerte · semi-assis jambes surélevées · O₂ 15 L/min</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JAMAIS d'air au fond · formation des plongeurs de sécurité</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r>
              <a:tr h="685800">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Dents</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Cavité d'air dans une dent (carie, plombage)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Douleur dentaire fulgurante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Comme les sinus · dentiste si douleur forte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Visite dentaire annuelle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17220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Un principe unique (Mariotte + cavité non équilibrée), cinq déclinaisons — et une prévention presque toujours technique.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SYNTHÈSE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Syncope, taravana, hypothermie : le tableau des familles 2 à 4</a:t>
            </a:r>
            <a:endParaRPr lang="en-US" sz="2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73384" cy="914400"/>
        </p:xfrm>
        <a:graphic>
          <a:graphicData uri="http://schemas.openxmlformats.org/drawingml/2006/table">
            <a:tbl>
              <a:tblPr/>
              <a:tblGrid>
                <a:gridCol w="1600200"/>
                <a:gridCol w="2468880"/>
                <a:gridCol w="2286000"/>
                <a:gridCol w="2313432"/>
                <a:gridCol w="2404872"/>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Accident</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Cause racine</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Ce que voit le cadre</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Geste / CAT</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Prévention clé</a:t>
                      </a:r>
                      <a:endParaRPr lang="en-US" sz="110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065A82"/>
                    </a:solidFill>
                  </a:tcPr>
                </a:tc>
              </a:tr>
              <a:tr h="960120">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Syncope hypoxique</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Hyperventilation · chute des Pp à la remontée · dépassement des limites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Consignes non respectées, bulles, arrêt de nage, regard vide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Doute = on remonte · étanchéité voies aériennes · O₂ 15 L/min</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Les 4 règles : pas d'hyperventilation, pas d'apnée au fond, limites du jour, jamais seul</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777240">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Taravana</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Azote accumulé : profondes + répétées + récup courtes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Signes neurologiques APRÈS la session</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O₂ 15 L/min · alerte · évacuation (= ADD)</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Intervalle de surface suffisant (courbe de sécurité)</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r>
              <a:tr h="777240">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Hypothermie</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Eau &lt; 33°, immersion prolongée, matériel, jeûne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Frissons → maladresse → confusion → arrêt des frissons (gravité)</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Sortir, sécher, couvrir, boire chaud et sucré</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Check-list : fatigue ? alimentés ? matériel ? « as-tu froid ? »</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FFFFF"/>
                    </a:solidFill>
                  </a:tcPr>
                </a:tc>
              </a:tr>
              <a:tr h="640080">
                <a:tc>
                  <a:txBody>
                    <a:bodyPr/>
                    <a:lstStyle/>
                    <a:p>
                      <a:pPr indent="0" marL="0">
                        <a:buNone/>
                      </a:pPr>
                      <a:r>
                        <a:rPr lang="en-US" sz="1050" b="1" dirty="0">
                          <a:solidFill>
                            <a:srgbClr val="1F3347"/>
                          </a:solidFill>
                          <a:latin typeface="Calibri" pitchFamily="34" charset="0"/>
                          <a:ea typeface="Calibri" pitchFamily="34" charset="-122"/>
                          <a:cs typeface="Calibri" pitchFamily="34" charset="-120"/>
                        </a:rPr>
                        <a:t>Hypoglycémie</a:t>
                      </a:r>
                      <a:endParaRPr lang="en-US" sz="105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DCEBF5"/>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Jeûne + effort + froid</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Fatigue brutale, vertiges, nausées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Arrêt, sucre, surveillance</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c>
                  <a:txBody>
                    <a:bodyPr/>
                    <a:lstStyle/>
                    <a:p>
                      <a:pPr indent="0" marL="0">
                        <a:buNone/>
                      </a:pPr>
                      <a:r>
                        <a:rPr lang="en-US" sz="980" dirty="0">
                          <a:solidFill>
                            <a:srgbClr val="1F3347"/>
                          </a:solidFill>
                          <a:latin typeface="Calibri" pitchFamily="34" charset="0"/>
                          <a:ea typeface="Calibri" pitchFamily="34" charset="-122"/>
                          <a:cs typeface="Calibri" pitchFamily="34" charset="-120"/>
                        </a:rPr>
                        <a:t>Manger avant et pendant les sorties longues</a:t>
                      </a:r>
                      <a:endParaRPr lang="en-US" sz="980" dirty="0">
                        <a:latin typeface="Calibri" charset="0"/>
                        <a:ea typeface="Calibri" charset="0"/>
                        <a:cs typeface="Calibri" charset="0"/>
                      </a:endParaRPr>
                    </a:p>
                  </a:txBody>
                  <a:tcPr marL="54864" marR="54864" marT="54864" marB="54864" anchor="ctr">
                    <a:lnL w="12700" cap="flat" cmpd="sng" algn="ctr">
                      <a:solidFill>
                        <a:srgbClr val="D8E4EE"/>
                      </a:solidFill>
                      <a:prstDash val="solid"/>
                      <a:round/>
                      <a:headEnd type="none" w="med" len="med"/>
                      <a:tailEnd type="none" w="med" len="med"/>
                    </a:lnL>
                    <a:lnR w="12700" cap="flat" cmpd="sng" algn="ctr">
                      <a:solidFill>
                        <a:srgbClr val="D8E4EE"/>
                      </a:solidFill>
                      <a:prstDash val="solid"/>
                      <a:round/>
                      <a:headEnd type="none" w="med" len="med"/>
                      <a:tailEnd type="none" w="med" len="med"/>
                    </a:lnR>
                    <a:lnT w="12700" cap="flat" cmpd="sng" algn="ctr">
                      <a:solidFill>
                        <a:srgbClr val="D8E4EE"/>
                      </a:solidFill>
                      <a:prstDash val="solid"/>
                      <a:round/>
                      <a:headEnd type="none" w="med" len="med"/>
                      <a:tailEnd type="none" w="med" len="med"/>
                    </a:lnT>
                    <a:lnB w="12700" cap="flat" cmpd="sng" algn="ctr">
                      <a:solidFill>
                        <a:srgbClr val="D8E4EE"/>
                      </a:solidFill>
                      <a:prstDash val="solid"/>
                      <a:round/>
                      <a:headEnd type="none" w="med" len="med"/>
                      <a:tailEnd type="none" w="med" len="med"/>
                    </a:lnB>
                    <a:solidFill>
                      <a:srgbClr val="F7FAFD"/>
                    </a:solidFill>
                  </a:tcPr>
                </a:tc>
              </a:tr>
            </a:tbl>
          </a:graphicData>
        </a:graphic>
      </p:graphicFrame>
      <p:sp>
        <p:nvSpPr>
          <p:cNvPr id="5" name="Text 2"/>
          <p:cNvSpPr/>
          <p:nvPr/>
        </p:nvSpPr>
        <p:spPr>
          <a:xfrm>
            <a:off x="548640" y="60350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9C3A10"/>
                </a:solidFill>
                <a:latin typeface="Calibri" pitchFamily="34" charset="0"/>
                <a:ea typeface="Calibri" pitchFamily="34" charset="-122"/>
                <a:cs typeface="Calibri" pitchFamily="34" charset="-120"/>
              </a:rPr>
              <a:t>Point commun des accidents graves : tout signe neurologique ou respiratoire après une plongée = urgence → alerter, oxygéner (15 L/min), surveiller.</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SYNTHÈSE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Les chiffres à savoir sans hésiter</a:t>
            </a:r>
            <a:endParaRPr lang="en-US" sz="2800" dirty="0"/>
          </a:p>
        </p:txBody>
      </p:sp>
      <p:sp>
        <p:nvSpPr>
          <p:cNvPr id="4" name="Shape 2"/>
          <p:cNvSpPr/>
          <p:nvPr/>
        </p:nvSpPr>
        <p:spPr>
          <a:xfrm>
            <a:off x="548640" y="1371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5" name="Text 3"/>
          <p:cNvSpPr/>
          <p:nvPr/>
        </p:nvSpPr>
        <p:spPr>
          <a:xfrm>
            <a:off x="713232" y="1444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+1 bar</a:t>
            </a:r>
            <a:endParaRPr lang="en-US" sz="1700" dirty="0"/>
          </a:p>
        </p:txBody>
      </p:sp>
      <p:sp>
        <p:nvSpPr>
          <p:cNvPr id="6" name="Text 4"/>
          <p:cNvSpPr/>
          <p:nvPr/>
        </p:nvSpPr>
        <p:spPr>
          <a:xfrm>
            <a:off x="713232" y="1828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tous les 10 m d'eau</a:t>
            </a:r>
            <a:endParaRPr lang="en-US" sz="900" dirty="0"/>
          </a:p>
        </p:txBody>
      </p:sp>
      <p:sp>
        <p:nvSpPr>
          <p:cNvPr id="7" name="Shape 5"/>
          <p:cNvSpPr/>
          <p:nvPr/>
        </p:nvSpPr>
        <p:spPr>
          <a:xfrm>
            <a:off x="3346704" y="1371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8" name="Text 6"/>
          <p:cNvSpPr/>
          <p:nvPr/>
        </p:nvSpPr>
        <p:spPr>
          <a:xfrm>
            <a:off x="3511296" y="1444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97 %</a:t>
            </a:r>
            <a:endParaRPr lang="en-US" sz="1700" dirty="0"/>
          </a:p>
        </p:txBody>
      </p:sp>
      <p:sp>
        <p:nvSpPr>
          <p:cNvPr id="9" name="Text 7"/>
          <p:cNvSpPr/>
          <p:nvPr/>
        </p:nvSpPr>
        <p:spPr>
          <a:xfrm>
            <a:off x="3511296" y="1828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saturation de l'Hb en ventilation normale</a:t>
            </a:r>
            <a:endParaRPr lang="en-US" sz="900" dirty="0"/>
          </a:p>
        </p:txBody>
      </p:sp>
      <p:sp>
        <p:nvSpPr>
          <p:cNvPr id="10" name="Shape 8"/>
          <p:cNvSpPr/>
          <p:nvPr/>
        </p:nvSpPr>
        <p:spPr>
          <a:xfrm>
            <a:off x="6144768" y="1371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11" name="Text 9"/>
          <p:cNvSpPr/>
          <p:nvPr/>
        </p:nvSpPr>
        <p:spPr>
          <a:xfrm>
            <a:off x="6309360" y="1444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150 m²</a:t>
            </a:r>
            <a:endParaRPr lang="en-US" sz="1700" dirty="0"/>
          </a:p>
        </p:txBody>
      </p:sp>
      <p:sp>
        <p:nvSpPr>
          <p:cNvPr id="12" name="Text 10"/>
          <p:cNvSpPr/>
          <p:nvPr/>
        </p:nvSpPr>
        <p:spPr>
          <a:xfrm>
            <a:off x="6309360" y="1828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surface d'échange alvéolaire (paroi 2 µm)</a:t>
            </a:r>
            <a:endParaRPr lang="en-US" sz="900" dirty="0"/>
          </a:p>
        </p:txBody>
      </p:sp>
      <p:sp>
        <p:nvSpPr>
          <p:cNvPr id="13" name="Shape 11"/>
          <p:cNvSpPr/>
          <p:nvPr/>
        </p:nvSpPr>
        <p:spPr>
          <a:xfrm>
            <a:off x="8942832" y="1371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14" name="Text 12"/>
          <p:cNvSpPr/>
          <p:nvPr/>
        </p:nvSpPr>
        <p:spPr>
          <a:xfrm>
            <a:off x="9107424" y="1444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500 mL</a:t>
            </a:r>
            <a:endParaRPr lang="en-US" sz="1700" dirty="0"/>
          </a:p>
        </p:txBody>
      </p:sp>
      <p:sp>
        <p:nvSpPr>
          <p:cNvPr id="15" name="Text 13"/>
          <p:cNvSpPr/>
          <p:nvPr/>
        </p:nvSpPr>
        <p:spPr>
          <a:xfrm>
            <a:off x="9107424" y="1828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volume courant — dont 150 mL d'espace mort</a:t>
            </a:r>
            <a:endParaRPr lang="en-US" sz="900" dirty="0"/>
          </a:p>
        </p:txBody>
      </p:sp>
      <p:sp>
        <p:nvSpPr>
          <p:cNvPr id="16" name="Shape 14"/>
          <p:cNvSpPr/>
          <p:nvPr/>
        </p:nvSpPr>
        <p:spPr>
          <a:xfrm>
            <a:off x="548640" y="2514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17" name="Text 15"/>
          <p:cNvSpPr/>
          <p:nvPr/>
        </p:nvSpPr>
        <p:spPr>
          <a:xfrm>
            <a:off x="713232" y="2587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4,5 L</a:t>
            </a:r>
            <a:endParaRPr lang="en-US" sz="1700" dirty="0"/>
          </a:p>
        </p:txBody>
      </p:sp>
      <p:sp>
        <p:nvSpPr>
          <p:cNvPr id="18" name="Text 16"/>
          <p:cNvSpPr/>
          <p:nvPr/>
        </p:nvSpPr>
        <p:spPr>
          <a:xfrm>
            <a:off x="713232" y="2971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capacité vitale (+1,5 L de volume résiduel)</a:t>
            </a:r>
            <a:endParaRPr lang="en-US" sz="900" dirty="0"/>
          </a:p>
        </p:txBody>
      </p:sp>
      <p:sp>
        <p:nvSpPr>
          <p:cNvPr id="19" name="Shape 17"/>
          <p:cNvSpPr/>
          <p:nvPr/>
        </p:nvSpPr>
        <p:spPr>
          <a:xfrm>
            <a:off x="3346704" y="2514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20" name="Text 18"/>
          <p:cNvSpPr/>
          <p:nvPr/>
        </p:nvSpPr>
        <p:spPr>
          <a:xfrm>
            <a:off x="3511296" y="2587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15–20</a:t>
            </a:r>
            <a:endParaRPr lang="en-US" sz="1700" dirty="0"/>
          </a:p>
        </p:txBody>
      </p:sp>
      <p:sp>
        <p:nvSpPr>
          <p:cNvPr id="21" name="Text 19"/>
          <p:cNvSpPr/>
          <p:nvPr/>
        </p:nvSpPr>
        <p:spPr>
          <a:xfrm>
            <a:off x="3511296" y="2971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cycles respiratoires/min au repos</a:t>
            </a:r>
            <a:endParaRPr lang="en-US" sz="900" dirty="0"/>
          </a:p>
        </p:txBody>
      </p:sp>
      <p:sp>
        <p:nvSpPr>
          <p:cNvPr id="22" name="Shape 20"/>
          <p:cNvSpPr/>
          <p:nvPr/>
        </p:nvSpPr>
        <p:spPr>
          <a:xfrm>
            <a:off x="6144768" y="2514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23" name="Text 21"/>
          <p:cNvSpPr/>
          <p:nvPr/>
        </p:nvSpPr>
        <p:spPr>
          <a:xfrm>
            <a:off x="6309360" y="2587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60–75</a:t>
            </a:r>
            <a:endParaRPr lang="en-US" sz="1700" dirty="0"/>
          </a:p>
        </p:txBody>
      </p:sp>
      <p:sp>
        <p:nvSpPr>
          <p:cNvPr id="24" name="Text 22"/>
          <p:cNvSpPr/>
          <p:nvPr/>
        </p:nvSpPr>
        <p:spPr>
          <a:xfrm>
            <a:off x="6309360" y="2971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battements cardiaques/min au repos</a:t>
            </a:r>
            <a:endParaRPr lang="en-US" sz="900" dirty="0"/>
          </a:p>
        </p:txBody>
      </p:sp>
      <p:sp>
        <p:nvSpPr>
          <p:cNvPr id="25" name="Shape 23"/>
          <p:cNvSpPr/>
          <p:nvPr/>
        </p:nvSpPr>
        <p:spPr>
          <a:xfrm>
            <a:off x="8942832" y="2514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26" name="Text 24"/>
          <p:cNvSpPr/>
          <p:nvPr/>
        </p:nvSpPr>
        <p:spPr>
          <a:xfrm>
            <a:off x="9107424" y="2587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−30 %</a:t>
            </a:r>
            <a:endParaRPr lang="en-US" sz="1700" dirty="0"/>
          </a:p>
        </p:txBody>
      </p:sp>
      <p:sp>
        <p:nvSpPr>
          <p:cNvPr id="27" name="Text 25"/>
          <p:cNvSpPr/>
          <p:nvPr/>
        </p:nvSpPr>
        <p:spPr>
          <a:xfrm>
            <a:off x="9107424" y="2971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de FC : la bradycardie (max vers 20 s)</a:t>
            </a:r>
            <a:endParaRPr lang="en-US" sz="900" dirty="0"/>
          </a:p>
        </p:txBody>
      </p:sp>
      <p:sp>
        <p:nvSpPr>
          <p:cNvPr id="28" name="Shape 26"/>
          <p:cNvSpPr/>
          <p:nvPr/>
        </p:nvSpPr>
        <p:spPr>
          <a:xfrm>
            <a:off x="548640" y="3657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29" name="Text 27"/>
          <p:cNvSpPr/>
          <p:nvPr/>
        </p:nvSpPr>
        <p:spPr>
          <a:xfrm>
            <a:off x="713232" y="3730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+6 %</a:t>
            </a:r>
            <a:endParaRPr lang="en-US" sz="1700" dirty="0"/>
          </a:p>
        </p:txBody>
      </p:sp>
      <p:sp>
        <p:nvSpPr>
          <p:cNvPr id="30" name="Text 28"/>
          <p:cNvSpPr/>
          <p:nvPr/>
        </p:nvSpPr>
        <p:spPr>
          <a:xfrm>
            <a:off x="713232" y="4114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d'hématocrite : contraction splénique (≈ 60 min)</a:t>
            </a:r>
            <a:endParaRPr lang="en-US" sz="900" dirty="0"/>
          </a:p>
        </p:txBody>
      </p:sp>
      <p:sp>
        <p:nvSpPr>
          <p:cNvPr id="31" name="Shape 29"/>
          <p:cNvSpPr/>
          <p:nvPr/>
        </p:nvSpPr>
        <p:spPr>
          <a:xfrm>
            <a:off x="3346704" y="3657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32" name="Text 30"/>
          <p:cNvSpPr/>
          <p:nvPr/>
        </p:nvSpPr>
        <p:spPr>
          <a:xfrm>
            <a:off x="3511296" y="3730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&gt; 52 mmHg</a:t>
            </a:r>
            <a:endParaRPr lang="en-US" sz="1700" dirty="0"/>
          </a:p>
        </p:txBody>
      </p:sp>
      <p:sp>
        <p:nvSpPr>
          <p:cNvPr id="33" name="Text 31"/>
          <p:cNvSpPr/>
          <p:nvPr/>
        </p:nvSpPr>
        <p:spPr>
          <a:xfrm>
            <a:off x="3511296" y="4114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PpCO₂ : rupture d'apnée</a:t>
            </a:r>
            <a:endParaRPr lang="en-US" sz="900" dirty="0"/>
          </a:p>
        </p:txBody>
      </p:sp>
      <p:sp>
        <p:nvSpPr>
          <p:cNvPr id="34" name="Shape 32"/>
          <p:cNvSpPr/>
          <p:nvPr/>
        </p:nvSpPr>
        <p:spPr>
          <a:xfrm>
            <a:off x="6144768" y="3657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35" name="Text 33"/>
          <p:cNvSpPr/>
          <p:nvPr/>
        </p:nvSpPr>
        <p:spPr>
          <a:xfrm>
            <a:off x="6309360" y="3730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&lt; 30 mmHg</a:t>
            </a:r>
            <a:endParaRPr lang="en-US" sz="1700" dirty="0"/>
          </a:p>
        </p:txBody>
      </p:sp>
      <p:sp>
        <p:nvSpPr>
          <p:cNvPr id="36" name="Text 34"/>
          <p:cNvSpPr/>
          <p:nvPr/>
        </p:nvSpPr>
        <p:spPr>
          <a:xfrm>
            <a:off x="6309360" y="4114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PpO₂ : perte de connaissance (&lt; 50 : troubles mémoire)</a:t>
            </a:r>
            <a:endParaRPr lang="en-US" sz="900" dirty="0"/>
          </a:p>
        </p:txBody>
      </p:sp>
      <p:sp>
        <p:nvSpPr>
          <p:cNvPr id="37" name="Shape 35"/>
          <p:cNvSpPr/>
          <p:nvPr/>
        </p:nvSpPr>
        <p:spPr>
          <a:xfrm>
            <a:off x="8942832" y="3657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38" name="Text 36"/>
          <p:cNvSpPr/>
          <p:nvPr/>
        </p:nvSpPr>
        <p:spPr>
          <a:xfrm>
            <a:off x="9107424" y="3730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15 L/min</a:t>
            </a:r>
            <a:endParaRPr lang="en-US" sz="1700" dirty="0"/>
          </a:p>
        </p:txBody>
      </p:sp>
      <p:sp>
        <p:nvSpPr>
          <p:cNvPr id="39" name="Text 37"/>
          <p:cNvSpPr/>
          <p:nvPr/>
        </p:nvSpPr>
        <p:spPr>
          <a:xfrm>
            <a:off x="9107424" y="4114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le débit d'oxygénothérapie de tous les accidents graves</a:t>
            </a:r>
            <a:endParaRPr lang="en-US" sz="900" dirty="0"/>
          </a:p>
        </p:txBody>
      </p:sp>
      <p:sp>
        <p:nvSpPr>
          <p:cNvPr id="40" name="Shape 38"/>
          <p:cNvSpPr/>
          <p:nvPr/>
        </p:nvSpPr>
        <p:spPr>
          <a:xfrm>
            <a:off x="548640" y="4800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41" name="Text 39"/>
          <p:cNvSpPr/>
          <p:nvPr/>
        </p:nvSpPr>
        <p:spPr>
          <a:xfrm>
            <a:off x="713232" y="4873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1 m</a:t>
            </a:r>
            <a:endParaRPr lang="en-US" sz="1700" dirty="0"/>
          </a:p>
        </p:txBody>
      </p:sp>
      <p:sp>
        <p:nvSpPr>
          <p:cNvPr id="42" name="Text 40"/>
          <p:cNvSpPr/>
          <p:nvPr/>
        </p:nvSpPr>
        <p:spPr>
          <a:xfrm>
            <a:off x="713232" y="5257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il suffit d'1 m pour une surpression pulmonaire</a:t>
            </a:r>
            <a:endParaRPr lang="en-US" sz="900" dirty="0"/>
          </a:p>
        </p:txBody>
      </p:sp>
      <p:sp>
        <p:nvSpPr>
          <p:cNvPr id="43" name="Shape 41"/>
          <p:cNvSpPr/>
          <p:nvPr/>
        </p:nvSpPr>
        <p:spPr>
          <a:xfrm>
            <a:off x="3346704" y="4800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44" name="Text 42"/>
          <p:cNvSpPr/>
          <p:nvPr/>
        </p:nvSpPr>
        <p:spPr>
          <a:xfrm>
            <a:off x="3511296" y="4873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33°</a:t>
            </a:r>
            <a:endParaRPr lang="en-US" sz="1700" dirty="0"/>
          </a:p>
        </p:txBody>
      </p:sp>
      <p:sp>
        <p:nvSpPr>
          <p:cNvPr id="45" name="Text 43"/>
          <p:cNvSpPr/>
          <p:nvPr/>
        </p:nvSpPr>
        <p:spPr>
          <a:xfrm>
            <a:off x="3511296" y="5257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l'équilibre thermique dans l'eau</a:t>
            </a:r>
            <a:endParaRPr lang="en-US" sz="900" dirty="0"/>
          </a:p>
        </p:txBody>
      </p:sp>
      <p:sp>
        <p:nvSpPr>
          <p:cNvPr id="46" name="Shape 44"/>
          <p:cNvSpPr/>
          <p:nvPr/>
        </p:nvSpPr>
        <p:spPr>
          <a:xfrm>
            <a:off x="6144768" y="4800600"/>
            <a:ext cx="2697480" cy="1024128"/>
          </a:xfrm>
          <a:prstGeom prst="roundRect">
            <a:avLst>
              <a:gd name="adj" fmla="val 6250"/>
            </a:avLst>
          </a:prstGeom>
          <a:solidFill>
            <a:srgbClr val="DCEBF5"/>
          </a:solidFill>
          <a:ln/>
          <a:effectLst>
            <a:outerShdw sx="100000" sy="100000" kx="0" ky="0" algn="bl" rotWithShape="0" blurRad="88900" dist="25400" dir="5400000">
              <a:srgbClr val="0A2942">
                <a:alpha val="16000"/>
              </a:srgbClr>
            </a:outerShdw>
          </a:effectLst>
        </p:spPr>
      </p:sp>
      <p:sp>
        <p:nvSpPr>
          <p:cNvPr id="47" name="Text 45"/>
          <p:cNvSpPr/>
          <p:nvPr/>
        </p:nvSpPr>
        <p:spPr>
          <a:xfrm>
            <a:off x="6309360" y="4873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30 s</a:t>
            </a:r>
            <a:endParaRPr lang="en-US" sz="1700" dirty="0"/>
          </a:p>
        </p:txBody>
      </p:sp>
      <p:sp>
        <p:nvSpPr>
          <p:cNvPr id="48" name="Text 46"/>
          <p:cNvSpPr/>
          <p:nvPr/>
        </p:nvSpPr>
        <p:spPr>
          <a:xfrm>
            <a:off x="6309360" y="5257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de surveillance après CHAQUE sortie</a:t>
            </a:r>
            <a:endParaRPr lang="en-US" sz="900" dirty="0"/>
          </a:p>
        </p:txBody>
      </p:sp>
      <p:sp>
        <p:nvSpPr>
          <p:cNvPr id="49" name="Shape 47"/>
          <p:cNvSpPr/>
          <p:nvPr/>
        </p:nvSpPr>
        <p:spPr>
          <a:xfrm>
            <a:off x="8942832" y="4800600"/>
            <a:ext cx="2697480" cy="1024128"/>
          </a:xfrm>
          <a:prstGeom prst="roundRect">
            <a:avLst>
              <a:gd name="adj" fmla="val 6250"/>
            </a:avLst>
          </a:prstGeom>
          <a:solidFill>
            <a:srgbClr val="F2F7FB"/>
          </a:solidFill>
          <a:ln/>
          <a:effectLst>
            <a:outerShdw sx="100000" sy="100000" kx="0" ky="0" algn="bl" rotWithShape="0" blurRad="88900" dist="25400" dir="5400000">
              <a:srgbClr val="0A2942">
                <a:alpha val="16000"/>
              </a:srgbClr>
            </a:outerShdw>
          </a:effectLst>
        </p:spPr>
      </p:sp>
      <p:sp>
        <p:nvSpPr>
          <p:cNvPr id="50" name="Text 48"/>
          <p:cNvSpPr/>
          <p:nvPr/>
        </p:nvSpPr>
        <p:spPr>
          <a:xfrm>
            <a:off x="9107424" y="4873752"/>
            <a:ext cx="2368296" cy="384048"/>
          </a:xfrm>
          <a:prstGeom prst="rect">
            <a:avLst/>
          </a:prstGeom>
          <a:noFill/>
          <a:ln/>
        </p:spPr>
        <p:txBody>
          <a:bodyPr wrap="square" lIns="0" tIns="0" rIns="0" bIns="0" rtlCol="0" anchor="ctr"/>
          <a:lstStyle/>
          <a:p>
            <a:pPr indent="0" marL="0">
              <a:buNone/>
            </a:pPr>
            <a:r>
              <a:rPr lang="en-US" sz="1700" b="1" dirty="0">
                <a:solidFill>
                  <a:srgbClr val="065A82"/>
                </a:solidFill>
                <a:latin typeface="Cambria" pitchFamily="34" charset="0"/>
                <a:ea typeface="Cambria" pitchFamily="34" charset="-122"/>
                <a:cs typeface="Cambria" pitchFamily="34" charset="-120"/>
              </a:rPr>
              <a:t>≥ 2×</a:t>
            </a:r>
            <a:endParaRPr lang="en-US" sz="1700" dirty="0"/>
          </a:p>
        </p:txBody>
      </p:sp>
      <p:sp>
        <p:nvSpPr>
          <p:cNvPr id="51" name="Text 49"/>
          <p:cNvSpPr/>
          <p:nvPr/>
        </p:nvSpPr>
        <p:spPr>
          <a:xfrm>
            <a:off x="9107424" y="5257800"/>
            <a:ext cx="2368296" cy="512064"/>
          </a:xfrm>
          <a:prstGeom prst="rect">
            <a:avLst/>
          </a:prstGeom>
          <a:noFill/>
          <a:ln/>
        </p:spPr>
        <p:txBody>
          <a:bodyPr wrap="square" lIns="0" tIns="0" rIns="0" bIns="0" rtlCol="0" anchor="t"/>
          <a:lstStyle/>
          <a:p>
            <a:pPr indent="0" marL="0">
              <a:lnSpc>
                <a:spcPct val="100000"/>
              </a:lnSpc>
              <a:buNone/>
            </a:pPr>
            <a:r>
              <a:rPr lang="en-US" sz="900" dirty="0">
                <a:solidFill>
                  <a:srgbClr val="1F3347"/>
                </a:solidFill>
                <a:latin typeface="Calibri" pitchFamily="34" charset="0"/>
                <a:ea typeface="Calibri" pitchFamily="34" charset="-122"/>
                <a:cs typeface="Calibri" pitchFamily="34" charset="-120"/>
              </a:rPr>
              <a:t>le temps d'apnée : la récupération minimale</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SYNTHÈSE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Le réflexe commun à tous les accidents : un logigramme unique</a:t>
            </a:r>
            <a:endParaRPr lang="en-US" sz="2800" dirty="0"/>
          </a:p>
        </p:txBody>
      </p:sp>
      <p:sp>
        <p:nvSpPr>
          <p:cNvPr id="4" name="Shape 2"/>
          <p:cNvSpPr/>
          <p:nvPr/>
        </p:nvSpPr>
        <p:spPr>
          <a:xfrm>
            <a:off x="548640" y="1417320"/>
            <a:ext cx="2112264" cy="2011680"/>
          </a:xfrm>
          <a:prstGeom prst="roundRect">
            <a:avLst>
              <a:gd name="adj" fmla="val 3636"/>
            </a:avLst>
          </a:prstGeom>
          <a:solidFill>
            <a:srgbClr val="065A82"/>
          </a:solidFill>
          <a:ln/>
          <a:effectLst>
            <a:outerShdw sx="100000" sy="100000" kx="0" ky="0" algn="bl" rotWithShape="0" blurRad="88900" dist="25400" dir="5400000">
              <a:srgbClr val="0A2942">
                <a:alpha val="16000"/>
              </a:srgbClr>
            </a:outerShdw>
          </a:effectLst>
        </p:spPr>
      </p:sp>
      <p:sp>
        <p:nvSpPr>
          <p:cNvPr id="5" name="Text 3"/>
          <p:cNvSpPr/>
          <p:nvPr/>
        </p:nvSpPr>
        <p:spPr>
          <a:xfrm>
            <a:off x="731520" y="156362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1 · Protéger</a:t>
            </a:r>
            <a:endParaRPr lang="en-US" sz="1200" dirty="0"/>
          </a:p>
        </p:txBody>
      </p:sp>
      <p:sp>
        <p:nvSpPr>
          <p:cNvPr id="6" name="Text 4"/>
          <p:cNvSpPr/>
          <p:nvPr/>
        </p:nvSpPr>
        <p:spPr>
          <a:xfrm>
            <a:off x="731520" y="2130552"/>
            <a:ext cx="1746504" cy="11521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Sortir de l'eau (soi + victime). Étanchéité des voies aériennes si PDC dans l'eau.</a:t>
            </a:r>
            <a:endParaRPr lang="en-US" sz="980" dirty="0"/>
          </a:p>
        </p:txBody>
      </p:sp>
      <p:sp>
        <p:nvSpPr>
          <p:cNvPr id="7" name="Text 5"/>
          <p:cNvSpPr/>
          <p:nvPr/>
        </p:nvSpPr>
        <p:spPr>
          <a:xfrm>
            <a:off x="2633472" y="21945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8" name="Shape 6"/>
          <p:cNvSpPr/>
          <p:nvPr/>
        </p:nvSpPr>
        <p:spPr>
          <a:xfrm>
            <a:off x="2788920" y="1417320"/>
            <a:ext cx="2112264" cy="2011680"/>
          </a:xfrm>
          <a:prstGeom prst="roundRect">
            <a:avLst>
              <a:gd name="adj" fmla="val 3636"/>
            </a:avLst>
          </a:prstGeom>
          <a:solidFill>
            <a:srgbClr val="1C7293"/>
          </a:solidFill>
          <a:ln/>
          <a:effectLst>
            <a:outerShdw sx="100000" sy="100000" kx="0" ky="0" algn="bl" rotWithShape="0" blurRad="88900" dist="25400" dir="5400000">
              <a:srgbClr val="0A2942">
                <a:alpha val="16000"/>
              </a:srgbClr>
            </a:outerShdw>
          </a:effectLst>
        </p:spPr>
      </p:sp>
      <p:sp>
        <p:nvSpPr>
          <p:cNvPr id="9" name="Text 7"/>
          <p:cNvSpPr/>
          <p:nvPr/>
        </p:nvSpPr>
        <p:spPr>
          <a:xfrm>
            <a:off x="2971800" y="156362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2 · Évaluer</a:t>
            </a:r>
            <a:endParaRPr lang="en-US" sz="1200" dirty="0"/>
          </a:p>
        </p:txBody>
      </p:sp>
      <p:sp>
        <p:nvSpPr>
          <p:cNvPr id="10" name="Text 8"/>
          <p:cNvSpPr/>
          <p:nvPr/>
        </p:nvSpPr>
        <p:spPr>
          <a:xfrm>
            <a:off x="2971800" y="2130552"/>
            <a:ext cx="1746504" cy="11521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Conscient ? Ventile ? Signes neurologiques ou respiratoires ?</a:t>
            </a:r>
            <a:endParaRPr lang="en-US" sz="980" dirty="0"/>
          </a:p>
        </p:txBody>
      </p:sp>
      <p:sp>
        <p:nvSpPr>
          <p:cNvPr id="11" name="Text 9"/>
          <p:cNvSpPr/>
          <p:nvPr/>
        </p:nvSpPr>
        <p:spPr>
          <a:xfrm>
            <a:off x="4873752" y="21945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5029200" y="1417320"/>
            <a:ext cx="2112264" cy="2011680"/>
          </a:xfrm>
          <a:prstGeom prst="roundRect">
            <a:avLst>
              <a:gd name="adj" fmla="val 3636"/>
            </a:avLst>
          </a:prstGeom>
          <a:solidFill>
            <a:srgbClr val="C77F0A"/>
          </a:solidFill>
          <a:ln/>
          <a:effectLst>
            <a:outerShdw sx="100000" sy="100000" kx="0" ky="0" algn="bl" rotWithShape="0" blurRad="88900" dist="25400" dir="5400000">
              <a:srgbClr val="0A2942">
                <a:alpha val="16000"/>
              </a:srgbClr>
            </a:outerShdw>
          </a:effectLst>
        </p:spPr>
      </p:sp>
      <p:sp>
        <p:nvSpPr>
          <p:cNvPr id="13" name="Text 11"/>
          <p:cNvSpPr/>
          <p:nvPr/>
        </p:nvSpPr>
        <p:spPr>
          <a:xfrm>
            <a:off x="5212080" y="156362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3 · Alerter</a:t>
            </a:r>
            <a:endParaRPr lang="en-US" sz="1200" dirty="0"/>
          </a:p>
        </p:txBody>
      </p:sp>
      <p:sp>
        <p:nvSpPr>
          <p:cNvPr id="14" name="Text 12"/>
          <p:cNvSpPr/>
          <p:nvPr/>
        </p:nvSpPr>
        <p:spPr>
          <a:xfrm>
            <a:off x="5212080" y="2130552"/>
            <a:ext cx="1746504" cy="11521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Secours si signe grave ou doute — sans attendre de voir si ça s'améliore.</a:t>
            </a:r>
            <a:endParaRPr lang="en-US" sz="980" dirty="0"/>
          </a:p>
        </p:txBody>
      </p:sp>
      <p:sp>
        <p:nvSpPr>
          <p:cNvPr id="15" name="Text 13"/>
          <p:cNvSpPr/>
          <p:nvPr/>
        </p:nvSpPr>
        <p:spPr>
          <a:xfrm>
            <a:off x="7114032" y="21945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7269480" y="1417320"/>
            <a:ext cx="2112264" cy="2011680"/>
          </a:xfrm>
          <a:prstGeom prst="roundRect">
            <a:avLst>
              <a:gd name="adj" fmla="val 3636"/>
            </a:avLst>
          </a:prstGeom>
          <a:solidFill>
            <a:srgbClr val="D9541E"/>
          </a:solidFill>
          <a:ln/>
          <a:effectLst>
            <a:outerShdw sx="100000" sy="100000" kx="0" ky="0" algn="bl" rotWithShape="0" blurRad="88900" dist="25400" dir="5400000">
              <a:srgbClr val="0A2942">
                <a:alpha val="16000"/>
              </a:srgbClr>
            </a:outerShdw>
          </a:effectLst>
        </p:spPr>
      </p:sp>
      <p:sp>
        <p:nvSpPr>
          <p:cNvPr id="17" name="Text 15"/>
          <p:cNvSpPr/>
          <p:nvPr/>
        </p:nvSpPr>
        <p:spPr>
          <a:xfrm>
            <a:off x="7452360" y="156362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4 · Oxygéner</a:t>
            </a:r>
            <a:endParaRPr lang="en-US" sz="1200" dirty="0"/>
          </a:p>
        </p:txBody>
      </p:sp>
      <p:sp>
        <p:nvSpPr>
          <p:cNvPr id="18" name="Text 16"/>
          <p:cNvSpPr/>
          <p:nvPr/>
        </p:nvSpPr>
        <p:spPr>
          <a:xfrm>
            <a:off x="7452360" y="2130552"/>
            <a:ext cx="1746504" cy="11521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O₂ 15 L/min pour tout accident grave de plongée.</a:t>
            </a:r>
            <a:endParaRPr lang="en-US" sz="980" dirty="0"/>
          </a:p>
        </p:txBody>
      </p:sp>
      <p:sp>
        <p:nvSpPr>
          <p:cNvPr id="19" name="Text 17"/>
          <p:cNvSpPr/>
          <p:nvPr/>
        </p:nvSpPr>
        <p:spPr>
          <a:xfrm>
            <a:off x="9354312" y="2194560"/>
            <a:ext cx="201168"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t>
            </a:r>
            <a:endParaRPr lang="en-US" sz="1500" dirty="0"/>
          </a:p>
        </p:txBody>
      </p:sp>
      <p:sp>
        <p:nvSpPr>
          <p:cNvPr id="20" name="Shape 18"/>
          <p:cNvSpPr/>
          <p:nvPr/>
        </p:nvSpPr>
        <p:spPr>
          <a:xfrm>
            <a:off x="9509760" y="1417320"/>
            <a:ext cx="2112264" cy="2011680"/>
          </a:xfrm>
          <a:prstGeom prst="roundRect">
            <a:avLst>
              <a:gd name="adj" fmla="val 3636"/>
            </a:avLst>
          </a:prstGeom>
          <a:solidFill>
            <a:srgbClr val="2C8C5A"/>
          </a:solidFill>
          <a:ln/>
          <a:effectLst>
            <a:outerShdw sx="100000" sy="100000" kx="0" ky="0" algn="bl" rotWithShape="0" blurRad="88900" dist="25400" dir="5400000">
              <a:srgbClr val="0A2942">
                <a:alpha val="16000"/>
              </a:srgbClr>
            </a:outerShdw>
          </a:effectLst>
        </p:spPr>
      </p:sp>
      <p:sp>
        <p:nvSpPr>
          <p:cNvPr id="21" name="Text 19"/>
          <p:cNvSpPr/>
          <p:nvPr/>
        </p:nvSpPr>
        <p:spPr>
          <a:xfrm>
            <a:off x="9692640" y="1563624"/>
            <a:ext cx="1746504" cy="566928"/>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5 · Surveiller</a:t>
            </a:r>
            <a:endParaRPr lang="en-US" sz="1200" dirty="0"/>
          </a:p>
        </p:txBody>
      </p:sp>
      <p:sp>
        <p:nvSpPr>
          <p:cNvPr id="22" name="Text 20"/>
          <p:cNvSpPr/>
          <p:nvPr/>
        </p:nvSpPr>
        <p:spPr>
          <a:xfrm>
            <a:off x="9692640" y="2130552"/>
            <a:ext cx="1746504" cy="1152144"/>
          </a:xfrm>
          <a:prstGeom prst="rect">
            <a:avLst/>
          </a:prstGeom>
          <a:noFill/>
          <a:ln/>
        </p:spPr>
        <p:txBody>
          <a:bodyPr wrap="square" lIns="0" tIns="0" rIns="0" bIns="0" rtlCol="0" anchor="t"/>
          <a:lstStyle/>
          <a:p>
            <a:pPr indent="0" marL="0">
              <a:lnSpc>
                <a:spcPct val="105000"/>
              </a:lnSpc>
              <a:buNone/>
            </a:pPr>
            <a:r>
              <a:rPr lang="en-US" sz="980" dirty="0">
                <a:solidFill>
                  <a:srgbClr val="F0F6FA"/>
                </a:solidFill>
                <a:latin typeface="Calibri" pitchFamily="34" charset="0"/>
                <a:ea typeface="Calibri" pitchFamily="34" charset="-122"/>
                <a:cs typeface="Calibri" pitchFamily="34" charset="-120"/>
              </a:rPr>
              <a:t>L'état peut basculer. Réconforter, expliquer, dédramatiser.</a:t>
            </a:r>
            <a:endParaRPr lang="en-US" sz="980" dirty="0"/>
          </a:p>
        </p:txBody>
      </p:sp>
      <p:sp>
        <p:nvSpPr>
          <p:cNvPr id="23" name="Shape 21"/>
          <p:cNvSpPr/>
          <p:nvPr/>
        </p:nvSpPr>
        <p:spPr>
          <a:xfrm>
            <a:off x="548640" y="3840480"/>
            <a:ext cx="5440680" cy="2194560"/>
          </a:xfrm>
          <a:prstGeom prst="roundRect">
            <a:avLst>
              <a:gd name="adj" fmla="val 3750"/>
            </a:avLst>
          </a:prstGeom>
          <a:solidFill>
            <a:srgbClr val="DCEBF5"/>
          </a:solidFill>
          <a:ln/>
          <a:effectLst>
            <a:outerShdw sx="100000" sy="100000" kx="0" ky="0" algn="bl" rotWithShape="0" blurRad="88900" dist="25400" dir="5400000">
              <a:srgbClr val="0A2942">
                <a:alpha val="16000"/>
              </a:srgbClr>
            </a:outerShdw>
          </a:effectLst>
        </p:spPr>
      </p:sp>
      <p:sp>
        <p:nvSpPr>
          <p:cNvPr id="24" name="Text 22"/>
          <p:cNvSpPr/>
          <p:nvPr/>
        </p:nvSpPr>
        <p:spPr>
          <a:xfrm>
            <a:off x="822960" y="3977640"/>
            <a:ext cx="4846320" cy="36576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Et toujours, après l'accident</a:t>
            </a:r>
            <a:endParaRPr lang="en-US" sz="1350" dirty="0"/>
          </a:p>
        </p:txBody>
      </p:sp>
      <p:sp>
        <p:nvSpPr>
          <p:cNvPr id="25" name="Text 23"/>
          <p:cNvSpPr/>
          <p:nvPr/>
        </p:nvSpPr>
        <p:spPr>
          <a:xfrm>
            <a:off x="822960" y="4370832"/>
            <a:ext cx="4892040" cy="1554480"/>
          </a:xfrm>
          <a:prstGeom prst="rect">
            <a:avLst/>
          </a:prstGeom>
          <a:noFill/>
          <a:ln/>
        </p:spPr>
        <p:txBody>
          <a:bodyPr wrap="square" lIns="0" tIns="0" rIns="0" bIns="0" rtlCol="0" anchor="t"/>
          <a:lstStyle/>
          <a:p>
            <a:pPr indent="0" marL="0">
              <a:lnSpc>
                <a:spcPct val="112000"/>
              </a:lnSpc>
              <a:buNone/>
            </a:pPr>
            <a:r>
              <a:rPr lang="en-US" sz="1150" dirty="0">
                <a:solidFill>
                  <a:srgbClr val="1F3347"/>
                </a:solidFill>
                <a:latin typeface="Calibri" pitchFamily="34" charset="0"/>
                <a:ea typeface="Calibri" pitchFamily="34" charset="-122"/>
                <a:cs typeface="Calibri" pitchFamily="34" charset="-120"/>
              </a:rPr>
              <a:t>Chercher la cause exacte : un accident qu'on n'a pas expliqué est un accident qui reviendra la séance suivante. Et évaluer RÉELLEMENT — beaucoup de plongeurs n'osent pas se plaindre devant le groupe : l'information se va chercher, en aparté s'il le faut.</a:t>
            </a:r>
            <a:endParaRPr lang="en-US" sz="1150" dirty="0"/>
          </a:p>
        </p:txBody>
      </p:sp>
      <p:sp>
        <p:nvSpPr>
          <p:cNvPr id="26" name="Shape 24"/>
          <p:cNvSpPr/>
          <p:nvPr/>
        </p:nvSpPr>
        <p:spPr>
          <a:xfrm>
            <a:off x="6181344" y="3840480"/>
            <a:ext cx="5440680" cy="2194560"/>
          </a:xfrm>
          <a:prstGeom prst="roundRect">
            <a:avLst>
              <a:gd name="adj" fmla="val 3750"/>
            </a:avLst>
          </a:prstGeom>
          <a:solidFill>
            <a:srgbClr val="E7F3EC"/>
          </a:solidFill>
          <a:ln/>
          <a:effectLst>
            <a:outerShdw sx="100000" sy="100000" kx="0" ky="0" algn="bl" rotWithShape="0" blurRad="88900" dist="25400" dir="5400000">
              <a:srgbClr val="0A2942">
                <a:alpha val="16000"/>
              </a:srgbClr>
            </a:outerShdw>
          </a:effectLst>
        </p:spPr>
      </p:sp>
      <p:sp>
        <p:nvSpPr>
          <p:cNvPr id="27" name="Text 25"/>
          <p:cNvSpPr/>
          <p:nvPr/>
        </p:nvSpPr>
        <p:spPr>
          <a:xfrm>
            <a:off x="6455664" y="3977640"/>
            <a:ext cx="4846320" cy="365760"/>
          </a:xfrm>
          <a:prstGeom prst="rect">
            <a:avLst/>
          </a:prstGeom>
          <a:noFill/>
          <a:ln/>
        </p:spPr>
        <p:txBody>
          <a:bodyPr wrap="square" lIns="0" tIns="0" rIns="0" bIns="0" rtlCol="0" anchor="ctr"/>
          <a:lstStyle/>
          <a:p>
            <a:pPr indent="0" marL="0">
              <a:buNone/>
            </a:pPr>
            <a:r>
              <a:rPr lang="en-US" sz="1350" b="1" dirty="0">
                <a:solidFill>
                  <a:srgbClr val="2C8C5A"/>
                </a:solidFill>
                <a:latin typeface="Calibri" pitchFamily="34" charset="0"/>
                <a:ea typeface="Calibri" pitchFamily="34" charset="-122"/>
                <a:cs typeface="Calibri" pitchFamily="34" charset="-120"/>
              </a:rPr>
              <a:t>Le matériel qui doit être là</a:t>
            </a:r>
            <a:endParaRPr lang="en-US" sz="1350" dirty="0"/>
          </a:p>
        </p:txBody>
      </p:sp>
      <p:sp>
        <p:nvSpPr>
          <p:cNvPr id="28" name="Text 26"/>
          <p:cNvSpPr/>
          <p:nvPr/>
        </p:nvSpPr>
        <p:spPr>
          <a:xfrm>
            <a:off x="6501384" y="4370832"/>
            <a:ext cx="4937760" cy="1554480"/>
          </a:xfrm>
          <a:prstGeom prst="rect">
            <a:avLst/>
          </a:prstGeom>
          <a:noFill/>
          <a:ln/>
        </p:spPr>
        <p:txBody>
          <a:bodyPr wrap="square" lIns="0" tIns="0" rIns="0" bIns="0" rtlCol="0" anchor="t"/>
          <a:lstStyle/>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Oxygénothérapie fonctionnelle et vérifiée (15 L/min)</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Moyen d'alerte testé (VHF, téléphone étanche)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Plan de secours écrit et connu de l'équipe</a:t>
            </a:r>
            <a:endParaRPr lang="en-US" sz="1150" dirty="0"/>
          </a:p>
          <a:p>
            <a:pPr marL="127000" indent="-127000">
              <a:spcAft>
                <a:spcPts val="500"/>
              </a:spcAft>
              <a:buSzPct val="100000"/>
              <a:buChar char="•"/>
            </a:pPr>
            <a:r>
              <a:rPr lang="en-US" sz="1150" dirty="0">
                <a:solidFill>
                  <a:srgbClr val="1F3347"/>
                </a:solidFill>
                <a:latin typeface="Calibri" pitchFamily="34" charset="0"/>
                <a:ea typeface="Calibri" pitchFamily="34" charset="-122"/>
                <a:cs typeface="Calibri" pitchFamily="34" charset="-120"/>
              </a:rPr>
              <a:t>Couverture, eau chaude sucrée, sucre</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1C7293"/>
                </a:solidFill>
                <a:latin typeface="Calibri" pitchFamily="34" charset="0"/>
                <a:ea typeface="Calibri" pitchFamily="34" charset="-122"/>
                <a:cs typeface="Calibri" pitchFamily="34" charset="-120"/>
              </a:rPr>
              <a:t>CLÔTURE</a:t>
            </a:r>
            <a:endParaRPr lang="en-US" sz="1100" dirty="0"/>
          </a:p>
        </p:txBody>
      </p:sp>
      <p:sp>
        <p:nvSpPr>
          <p:cNvPr id="3" name="Text 1"/>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1F3347"/>
                </a:solidFill>
                <a:latin typeface="Cambria" pitchFamily="34" charset="0"/>
                <a:ea typeface="Cambria" pitchFamily="34" charset="-122"/>
                <a:cs typeface="Cambria" pitchFamily="34" charset="-120"/>
              </a:rPr>
              <a:t>Si vous ne retenez que trois phrases</a:t>
            </a:r>
            <a:endParaRPr lang="en-US" sz="2800" dirty="0"/>
          </a:p>
        </p:txBody>
      </p:sp>
      <p:sp>
        <p:nvSpPr>
          <p:cNvPr id="4" name="Shape 2"/>
          <p:cNvSpPr/>
          <p:nvPr/>
        </p:nvSpPr>
        <p:spPr>
          <a:xfrm>
            <a:off x="548640" y="1417320"/>
            <a:ext cx="11073384" cy="1371600"/>
          </a:xfrm>
          <a:prstGeom prst="roundRect">
            <a:avLst>
              <a:gd name="adj" fmla="val 6000"/>
            </a:avLst>
          </a:prstGeom>
          <a:solidFill>
            <a:srgbClr val="DCEBF5"/>
          </a:solidFill>
          <a:ln/>
          <a:effectLst>
            <a:outerShdw sx="100000" sy="100000" kx="0" ky="0" algn="bl" rotWithShape="0" blurRad="88900" dist="25400" dir="5400000">
              <a:srgbClr val="0A2942">
                <a:alpha val="16000"/>
              </a:srgbClr>
            </a:outerShdw>
          </a:effectLst>
        </p:spPr>
      </p:sp>
      <p:sp>
        <p:nvSpPr>
          <p:cNvPr id="5" name="Shape 3"/>
          <p:cNvSpPr/>
          <p:nvPr/>
        </p:nvSpPr>
        <p:spPr>
          <a:xfrm>
            <a:off x="822960" y="1783080"/>
            <a:ext cx="640080" cy="640080"/>
          </a:xfrm>
          <a:prstGeom prst="ellipse">
            <a:avLst/>
          </a:prstGeom>
          <a:solidFill>
            <a:srgbClr val="065A82"/>
          </a:solidFill>
          <a:ln/>
        </p:spPr>
      </p:sp>
      <p:sp>
        <p:nvSpPr>
          <p:cNvPr id="6" name="Text 4"/>
          <p:cNvSpPr/>
          <p:nvPr/>
        </p:nvSpPr>
        <p:spPr>
          <a:xfrm>
            <a:off x="822960" y="17830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91640" y="1563624"/>
            <a:ext cx="9692640" cy="566928"/>
          </a:xfrm>
          <a:prstGeom prst="rect">
            <a:avLst/>
          </a:prstGeom>
          <a:noFill/>
          <a:ln/>
        </p:spPr>
        <p:txBody>
          <a:bodyPr wrap="square" lIns="0" tIns="0" rIns="0" bIns="0" rtlCol="0" anchor="ctr"/>
          <a:lstStyle/>
          <a:p>
            <a:pPr indent="0" marL="0">
              <a:lnSpc>
                <a:spcPct val="100000"/>
              </a:lnSpc>
              <a:buNone/>
            </a:pPr>
            <a:r>
              <a:rPr lang="en-US" sz="1350" b="1" dirty="0">
                <a:solidFill>
                  <a:srgbClr val="1F3347"/>
                </a:solidFill>
                <a:latin typeface="Calibri" pitchFamily="34" charset="0"/>
                <a:ea typeface="Calibri" pitchFamily="34" charset="-122"/>
                <a:cs typeface="Calibri" pitchFamily="34" charset="-120"/>
              </a:rPr>
              <a:t>Au fond on se sent bien parce que la pression concentre l'oxygène — et c'est en remontant que ça casse.</a:t>
            </a:r>
            <a:endParaRPr lang="en-US" sz="1350" dirty="0"/>
          </a:p>
        </p:txBody>
      </p:sp>
      <p:sp>
        <p:nvSpPr>
          <p:cNvPr id="8" name="Text 6"/>
          <p:cNvSpPr/>
          <p:nvPr/>
        </p:nvSpPr>
        <p:spPr>
          <a:xfrm>
            <a:off x="1691640" y="2167128"/>
            <a:ext cx="9692640" cy="548640"/>
          </a:xfrm>
          <a:prstGeom prst="rect">
            <a:avLst/>
          </a:prstGeom>
          <a:noFill/>
          <a:ln/>
        </p:spPr>
        <p:txBody>
          <a:bodyPr wrap="square" lIns="0" tIns="0" rIns="0" bIns="0" rtlCol="0" anchor="t"/>
          <a:lstStyle/>
          <a:p>
            <a:pPr indent="0" marL="0">
              <a:lnSpc>
                <a:spcPct val="105000"/>
              </a:lnSpc>
              <a:buNone/>
            </a:pPr>
            <a:r>
              <a:rPr lang="en-US" sz="1150" dirty="0">
                <a:solidFill>
                  <a:srgbClr val="5B7288"/>
                </a:solidFill>
                <a:latin typeface="Calibri" pitchFamily="34" charset="0"/>
                <a:ea typeface="Calibri" pitchFamily="34" charset="-122"/>
                <a:cs typeface="Calibri" pitchFamily="34" charset="-120"/>
              </a:rPr>
              <a:t>→ La surveillance se place sur les derniers mètres et les 30 secondes qui suivent la sortie.</a:t>
            </a:r>
            <a:endParaRPr lang="en-US" sz="1150" dirty="0"/>
          </a:p>
        </p:txBody>
      </p:sp>
      <p:sp>
        <p:nvSpPr>
          <p:cNvPr id="9" name="Shape 7"/>
          <p:cNvSpPr/>
          <p:nvPr/>
        </p:nvSpPr>
        <p:spPr>
          <a:xfrm>
            <a:off x="548640" y="2953512"/>
            <a:ext cx="11073384" cy="1371600"/>
          </a:xfrm>
          <a:prstGeom prst="roundRect">
            <a:avLst>
              <a:gd name="adj" fmla="val 6000"/>
            </a:avLst>
          </a:prstGeom>
          <a:solidFill>
            <a:srgbClr val="DCEBF5"/>
          </a:solidFill>
          <a:ln/>
          <a:effectLst>
            <a:outerShdw sx="100000" sy="100000" kx="0" ky="0" algn="bl" rotWithShape="0" blurRad="88900" dist="25400" dir="5400000">
              <a:srgbClr val="0A2942">
                <a:alpha val="16000"/>
              </a:srgbClr>
            </a:outerShdw>
          </a:effectLst>
        </p:spPr>
      </p:sp>
      <p:sp>
        <p:nvSpPr>
          <p:cNvPr id="10" name="Shape 8"/>
          <p:cNvSpPr/>
          <p:nvPr/>
        </p:nvSpPr>
        <p:spPr>
          <a:xfrm>
            <a:off x="822960" y="3319272"/>
            <a:ext cx="640080" cy="640080"/>
          </a:xfrm>
          <a:prstGeom prst="ellipse">
            <a:avLst/>
          </a:prstGeom>
          <a:solidFill>
            <a:srgbClr val="065A82"/>
          </a:solidFill>
          <a:ln/>
        </p:spPr>
      </p:sp>
      <p:sp>
        <p:nvSpPr>
          <p:cNvPr id="11" name="Text 9"/>
          <p:cNvSpPr/>
          <p:nvPr/>
        </p:nvSpPr>
        <p:spPr>
          <a:xfrm>
            <a:off x="822960" y="331927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91640" y="3099816"/>
            <a:ext cx="9692640" cy="566928"/>
          </a:xfrm>
          <a:prstGeom prst="rect">
            <a:avLst/>
          </a:prstGeom>
          <a:noFill/>
          <a:ln/>
        </p:spPr>
        <p:txBody>
          <a:bodyPr wrap="square" lIns="0" tIns="0" rIns="0" bIns="0" rtlCol="0" anchor="ctr"/>
          <a:lstStyle/>
          <a:p>
            <a:pPr indent="0" marL="0">
              <a:lnSpc>
                <a:spcPct val="100000"/>
              </a:lnSpc>
              <a:buNone/>
            </a:pPr>
            <a:r>
              <a:rPr lang="en-US" sz="1350" b="1" dirty="0">
                <a:solidFill>
                  <a:srgbClr val="1F3347"/>
                </a:solidFill>
                <a:latin typeface="Calibri" pitchFamily="34" charset="0"/>
                <a:ea typeface="Calibri" pitchFamily="34" charset="-122"/>
                <a:cs typeface="Calibri" pitchFamily="34" charset="-120"/>
              </a:rPr>
              <a:t>C'est le CO₂ qui donne envie de respirer ; c'est le manque d'O₂ qui fait tomber.</a:t>
            </a:r>
            <a:endParaRPr lang="en-US" sz="1350" dirty="0"/>
          </a:p>
        </p:txBody>
      </p:sp>
      <p:sp>
        <p:nvSpPr>
          <p:cNvPr id="13" name="Text 11"/>
          <p:cNvSpPr/>
          <p:nvPr/>
        </p:nvSpPr>
        <p:spPr>
          <a:xfrm>
            <a:off x="1691640" y="3703320"/>
            <a:ext cx="9692640" cy="548640"/>
          </a:xfrm>
          <a:prstGeom prst="rect">
            <a:avLst/>
          </a:prstGeom>
          <a:noFill/>
          <a:ln/>
        </p:spPr>
        <p:txBody>
          <a:bodyPr wrap="square" lIns="0" tIns="0" rIns="0" bIns="0" rtlCol="0" anchor="t"/>
          <a:lstStyle/>
          <a:p>
            <a:pPr indent="0" marL="0">
              <a:lnSpc>
                <a:spcPct val="105000"/>
              </a:lnSpc>
              <a:buNone/>
            </a:pPr>
            <a:r>
              <a:rPr lang="en-US" sz="1150" dirty="0">
                <a:solidFill>
                  <a:srgbClr val="5B7288"/>
                </a:solidFill>
                <a:latin typeface="Calibri" pitchFamily="34" charset="0"/>
                <a:ea typeface="Calibri" pitchFamily="34" charset="-122"/>
                <a:cs typeface="Calibri" pitchFamily="34" charset="-120"/>
              </a:rPr>
              <a:t>→ L'alarme ne surveille pas le danger : on ne construit pas une sécurité sur des sensations, mais sur une surveillance effective.</a:t>
            </a:r>
            <a:endParaRPr lang="en-US" sz="1150" dirty="0"/>
          </a:p>
        </p:txBody>
      </p:sp>
      <p:sp>
        <p:nvSpPr>
          <p:cNvPr id="14" name="Shape 12"/>
          <p:cNvSpPr/>
          <p:nvPr/>
        </p:nvSpPr>
        <p:spPr>
          <a:xfrm>
            <a:off x="548640" y="4489704"/>
            <a:ext cx="11073384" cy="1371600"/>
          </a:xfrm>
          <a:prstGeom prst="roundRect">
            <a:avLst>
              <a:gd name="adj" fmla="val 6000"/>
            </a:avLst>
          </a:prstGeom>
          <a:solidFill>
            <a:srgbClr val="DCEBF5"/>
          </a:solidFill>
          <a:ln/>
          <a:effectLst>
            <a:outerShdw sx="100000" sy="100000" kx="0" ky="0" algn="bl" rotWithShape="0" blurRad="88900" dist="25400" dir="5400000">
              <a:srgbClr val="0A2942">
                <a:alpha val="16000"/>
              </a:srgbClr>
            </a:outerShdw>
          </a:effectLst>
        </p:spPr>
      </p:sp>
      <p:sp>
        <p:nvSpPr>
          <p:cNvPr id="15" name="Shape 13"/>
          <p:cNvSpPr/>
          <p:nvPr/>
        </p:nvSpPr>
        <p:spPr>
          <a:xfrm>
            <a:off x="822960" y="4855464"/>
            <a:ext cx="640080" cy="640080"/>
          </a:xfrm>
          <a:prstGeom prst="ellipse">
            <a:avLst/>
          </a:prstGeom>
          <a:solidFill>
            <a:srgbClr val="065A82"/>
          </a:solidFill>
          <a:ln/>
        </p:spPr>
      </p:sp>
      <p:sp>
        <p:nvSpPr>
          <p:cNvPr id="16" name="Text 14"/>
          <p:cNvSpPr/>
          <p:nvPr/>
        </p:nvSpPr>
        <p:spPr>
          <a:xfrm>
            <a:off x="822960" y="4855464"/>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91640" y="4636008"/>
            <a:ext cx="9692640" cy="566928"/>
          </a:xfrm>
          <a:prstGeom prst="rect">
            <a:avLst/>
          </a:prstGeom>
          <a:noFill/>
          <a:ln/>
        </p:spPr>
        <p:txBody>
          <a:bodyPr wrap="square" lIns="0" tIns="0" rIns="0" bIns="0" rtlCol="0" anchor="ctr"/>
          <a:lstStyle/>
          <a:p>
            <a:pPr indent="0" marL="0">
              <a:lnSpc>
                <a:spcPct val="100000"/>
              </a:lnSpc>
              <a:buNone/>
            </a:pPr>
            <a:r>
              <a:rPr lang="en-US" sz="1350" b="1" dirty="0">
                <a:solidFill>
                  <a:srgbClr val="1F3347"/>
                </a:solidFill>
                <a:latin typeface="Calibri" pitchFamily="34" charset="0"/>
                <a:ea typeface="Calibri" pitchFamily="34" charset="-122"/>
                <a:cs typeface="Calibri" pitchFamily="34" charset="-120"/>
              </a:rPr>
              <a:t>L'hyperventilation ne remplit pas le réservoir : elle coupe l'alarme.</a:t>
            </a:r>
            <a:endParaRPr lang="en-US" sz="1350" dirty="0"/>
          </a:p>
        </p:txBody>
      </p:sp>
      <p:sp>
        <p:nvSpPr>
          <p:cNvPr id="18" name="Text 16"/>
          <p:cNvSpPr/>
          <p:nvPr/>
        </p:nvSpPr>
        <p:spPr>
          <a:xfrm>
            <a:off x="1691640" y="5239512"/>
            <a:ext cx="9692640" cy="548640"/>
          </a:xfrm>
          <a:prstGeom prst="rect">
            <a:avLst/>
          </a:prstGeom>
          <a:noFill/>
          <a:ln/>
        </p:spPr>
        <p:txBody>
          <a:bodyPr wrap="square" lIns="0" tIns="0" rIns="0" bIns="0" rtlCol="0" anchor="t"/>
          <a:lstStyle/>
          <a:p>
            <a:pPr indent="0" marL="0">
              <a:lnSpc>
                <a:spcPct val="105000"/>
              </a:lnSpc>
              <a:buNone/>
            </a:pPr>
            <a:r>
              <a:rPr lang="en-US" sz="1150" dirty="0">
                <a:solidFill>
                  <a:srgbClr val="5B7288"/>
                </a:solidFill>
                <a:latin typeface="Calibri" pitchFamily="34" charset="0"/>
                <a:ea typeface="Calibri" pitchFamily="34" charset="-122"/>
                <a:cs typeface="Calibri" pitchFamily="34" charset="-120"/>
              </a:rPr>
              <a:t>→ Proscrite. Et on sait désormais l'expliquer avec les courbes, pas seulement l'interdire.</a:t>
            </a:r>
            <a:endParaRPr lang="en-US" sz="1150" dirty="0"/>
          </a:p>
        </p:txBody>
      </p:sp>
      <p:sp>
        <p:nvSpPr>
          <p:cNvPr id="19" name="Text 17"/>
          <p:cNvSpPr/>
          <p:nvPr/>
        </p:nvSpPr>
        <p:spPr>
          <a:xfrm>
            <a:off x="548640" y="6035040"/>
            <a:ext cx="11064240" cy="457200"/>
          </a:xfrm>
          <a:prstGeom prst="rect">
            <a:avLst/>
          </a:prstGeom>
          <a:noFill/>
          <a:ln/>
        </p:spPr>
        <p:txBody>
          <a:bodyPr wrap="square" lIns="0" tIns="0" rIns="0" bIns="0" rtlCol="0" anchor="ctr"/>
          <a:lstStyle/>
          <a:p>
            <a:pPr algn="ctr" indent="0" marL="0">
              <a:lnSpc>
                <a:spcPct val="105000"/>
              </a:lnSpc>
              <a:buNone/>
            </a:pPr>
            <a:r>
              <a:rPr lang="en-US" sz="1200" b="1" i="1" dirty="0">
                <a:solidFill>
                  <a:srgbClr val="065A82"/>
                </a:solidFill>
                <a:latin typeface="Calibri" pitchFamily="34" charset="0"/>
                <a:ea typeface="Calibri" pitchFamily="34" charset="-122"/>
                <a:cs typeface="Calibri" pitchFamily="34" charset="-120"/>
              </a:rPr>
              <a:t>Exercice de clôture : trois stagiaires traitent chacun un accident au choix, en trois minutes, selon le plan des 5 rubriques. C'est exactement le format de l'épreuve qui les attend.</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A2942"/>
        </a:solidFill>
      </p:bgPr>
    </p:bg>
    <p:spTree>
      <p:nvGrpSpPr>
        <p:cNvPr id="1" name=""/>
        <p:cNvGrpSpPr/>
        <p:nvPr/>
      </p:nvGrpSpPr>
      <p:grpSpPr>
        <a:xfrm>
          <a:off x="0" y="0"/>
          <a:ext cx="0" cy="0"/>
          <a:chOff x="0" y="0"/>
          <a:chExt cx="0" cy="0"/>
        </a:xfrm>
      </p:grpSpPr>
      <p:sp>
        <p:nvSpPr>
          <p:cNvPr id="2" name="Shape 0"/>
          <p:cNvSpPr/>
          <p:nvPr/>
        </p:nvSpPr>
        <p:spPr>
          <a:xfrm>
            <a:off x="9692640" y="-1737360"/>
            <a:ext cx="4754880" cy="4754880"/>
          </a:xfrm>
          <a:prstGeom prst="ellipse">
            <a:avLst/>
          </a:prstGeom>
          <a:solidFill>
            <a:srgbClr val="065A82">
              <a:alpha val="45000"/>
            </a:srgbClr>
          </a:solidFill>
          <a:ln/>
        </p:spPr>
      </p:sp>
      <p:sp>
        <p:nvSpPr>
          <p:cNvPr id="3" name="Shape 1"/>
          <p:cNvSpPr/>
          <p:nvPr/>
        </p:nvSpPr>
        <p:spPr>
          <a:xfrm>
            <a:off x="-1463040" y="4480560"/>
            <a:ext cx="4206240" cy="4206240"/>
          </a:xfrm>
          <a:prstGeom prst="ellipse">
            <a:avLst/>
          </a:prstGeom>
          <a:solidFill>
            <a:srgbClr val="1C7293">
              <a:alpha val="35000"/>
            </a:srgbClr>
          </a:solidFill>
          <a:ln/>
        </p:spPr>
      </p:sp>
      <p:sp>
        <p:nvSpPr>
          <p:cNvPr id="4" name="Text 2"/>
          <p:cNvSpPr/>
          <p:nvPr/>
        </p:nvSpPr>
        <p:spPr>
          <a:xfrm>
            <a:off x="548640" y="274320"/>
            <a:ext cx="11064240" cy="274320"/>
          </a:xfrm>
          <a:prstGeom prst="rect">
            <a:avLst/>
          </a:prstGeom>
          <a:noFill/>
          <a:ln/>
        </p:spPr>
        <p:txBody>
          <a:bodyPr wrap="square" lIns="0" tIns="0" rIns="0" bIns="0" rtlCol="0" anchor="ctr"/>
          <a:lstStyle/>
          <a:p>
            <a:pPr indent="0" marL="0">
              <a:buNone/>
            </a:pPr>
            <a:r>
              <a:rPr lang="en-US" sz="1100" b="1" spc="300" kern="0" dirty="0">
                <a:solidFill>
                  <a:srgbClr val="8FC5E8"/>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548640" y="530352"/>
            <a:ext cx="1106424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Le métier de cadre tient en une idée</a:t>
            </a:r>
            <a:endParaRPr lang="en-US" sz="2800" dirty="0"/>
          </a:p>
        </p:txBody>
      </p:sp>
      <p:sp>
        <p:nvSpPr>
          <p:cNvPr id="6" name="Text 4"/>
          <p:cNvSpPr/>
          <p:nvPr/>
        </p:nvSpPr>
        <p:spPr>
          <a:xfrm>
            <a:off x="685800" y="1737360"/>
            <a:ext cx="107899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physiologie explique, la prévention protège.</a:t>
            </a:r>
            <a:endParaRPr lang="en-US" sz="3000" dirty="0"/>
          </a:p>
        </p:txBody>
      </p:sp>
      <p:sp>
        <p:nvSpPr>
          <p:cNvPr id="7" name="Shape 5"/>
          <p:cNvSpPr/>
          <p:nvPr/>
        </p:nvSpPr>
        <p:spPr>
          <a:xfrm>
            <a:off x="685800" y="2606040"/>
            <a:ext cx="10789920" cy="868680"/>
          </a:xfrm>
          <a:prstGeom prst="roundRect">
            <a:avLst>
              <a:gd name="adj" fmla="val 9474"/>
            </a:avLst>
          </a:prstGeom>
          <a:solidFill>
            <a:srgbClr val="10395C"/>
          </a:solidFill>
          <a:ln/>
        </p:spPr>
      </p:sp>
      <p:sp>
        <p:nvSpPr>
          <p:cNvPr id="8" name="Text 6"/>
          <p:cNvSpPr/>
          <p:nvPr/>
        </p:nvSpPr>
        <p:spPr>
          <a:xfrm>
            <a:off x="960120" y="2606040"/>
            <a:ext cx="10241280" cy="868680"/>
          </a:xfrm>
          <a:prstGeom prst="rect">
            <a:avLst/>
          </a:prstGeom>
          <a:noFill/>
          <a:ln/>
        </p:spPr>
        <p:txBody>
          <a:bodyPr wrap="square" lIns="0" tIns="0" rIns="0" bIns="0" rtlCol="0" anchor="ctr"/>
          <a:lstStyle/>
          <a:p>
            <a:pPr indent="0" marL="0">
              <a:lnSpc>
                <a:spcPct val="110000"/>
              </a:lnSpc>
              <a:buNone/>
            </a:pPr>
            <a:r>
              <a:rPr lang="en-US" sz="1300" dirty="0">
                <a:solidFill>
                  <a:srgbClr val="DCEBF5"/>
                </a:solidFill>
                <a:latin typeface="Calibri" pitchFamily="34" charset="0"/>
                <a:ea typeface="Calibri" pitchFamily="34" charset="-122"/>
                <a:cs typeface="Calibri" pitchFamily="34" charset="-120"/>
              </a:rPr>
              <a:t>Un cadre qui sait expliquer le POURQUOI obtient l'adhésion ; un cadre qui récite une consigne se fait discuter.</a:t>
            </a:r>
            <a:endParaRPr lang="en-US" sz="1300" dirty="0"/>
          </a:p>
        </p:txBody>
      </p:sp>
      <p:sp>
        <p:nvSpPr>
          <p:cNvPr id="9" name="Shape 7"/>
          <p:cNvSpPr/>
          <p:nvPr/>
        </p:nvSpPr>
        <p:spPr>
          <a:xfrm>
            <a:off x="685800" y="3630168"/>
            <a:ext cx="10789920" cy="868680"/>
          </a:xfrm>
          <a:prstGeom prst="roundRect">
            <a:avLst>
              <a:gd name="adj" fmla="val 9474"/>
            </a:avLst>
          </a:prstGeom>
          <a:solidFill>
            <a:srgbClr val="10395C"/>
          </a:solidFill>
          <a:ln/>
        </p:spPr>
      </p:sp>
      <p:sp>
        <p:nvSpPr>
          <p:cNvPr id="10" name="Text 8"/>
          <p:cNvSpPr/>
          <p:nvPr/>
        </p:nvSpPr>
        <p:spPr>
          <a:xfrm>
            <a:off x="960120" y="3630168"/>
            <a:ext cx="10241280" cy="868680"/>
          </a:xfrm>
          <a:prstGeom prst="rect">
            <a:avLst/>
          </a:prstGeom>
          <a:noFill/>
          <a:ln/>
        </p:spPr>
        <p:txBody>
          <a:bodyPr wrap="square" lIns="0" tIns="0" rIns="0" bIns="0" rtlCol="0" anchor="ctr"/>
          <a:lstStyle/>
          <a:p>
            <a:pPr indent="0" marL="0">
              <a:lnSpc>
                <a:spcPct val="110000"/>
              </a:lnSpc>
              <a:buNone/>
            </a:pPr>
            <a:r>
              <a:rPr lang="en-US" sz="1300" dirty="0">
                <a:solidFill>
                  <a:srgbClr val="DCEBF5"/>
                </a:solidFill>
                <a:latin typeface="Calibri" pitchFamily="34" charset="0"/>
                <a:ea typeface="Calibri" pitchFamily="34" charset="-122"/>
                <a:cs typeface="Calibri" pitchFamily="34" charset="-120"/>
              </a:rPr>
              <a:t>Les accidents graves de l'apnée sont rares parce que la prévention fonctionne — votre travail est de la faire fonctionner, séance après séance.</a:t>
            </a:r>
            <a:endParaRPr lang="en-US" sz="1300" dirty="0"/>
          </a:p>
        </p:txBody>
      </p:sp>
      <p:sp>
        <p:nvSpPr>
          <p:cNvPr id="11" name="Shape 9"/>
          <p:cNvSpPr/>
          <p:nvPr/>
        </p:nvSpPr>
        <p:spPr>
          <a:xfrm>
            <a:off x="685800" y="4654296"/>
            <a:ext cx="10789920" cy="868680"/>
          </a:xfrm>
          <a:prstGeom prst="roundRect">
            <a:avLst>
              <a:gd name="adj" fmla="val 9474"/>
            </a:avLst>
          </a:prstGeom>
          <a:solidFill>
            <a:srgbClr val="10395C"/>
          </a:solidFill>
          <a:ln/>
        </p:spPr>
      </p:sp>
      <p:sp>
        <p:nvSpPr>
          <p:cNvPr id="12" name="Text 10"/>
          <p:cNvSpPr/>
          <p:nvPr/>
        </p:nvSpPr>
        <p:spPr>
          <a:xfrm>
            <a:off x="960120" y="4654296"/>
            <a:ext cx="10241280" cy="868680"/>
          </a:xfrm>
          <a:prstGeom prst="rect">
            <a:avLst/>
          </a:prstGeom>
          <a:noFill/>
          <a:ln/>
        </p:spPr>
        <p:txBody>
          <a:bodyPr wrap="square" lIns="0" tIns="0" rIns="0" bIns="0" rtlCol="0" anchor="ctr"/>
          <a:lstStyle/>
          <a:p>
            <a:pPr indent="0" marL="0">
              <a:lnSpc>
                <a:spcPct val="110000"/>
              </a:lnSpc>
              <a:buNone/>
            </a:pPr>
            <a:r>
              <a:rPr lang="en-US" sz="1300" dirty="0">
                <a:solidFill>
                  <a:srgbClr val="DCEBF5"/>
                </a:solidFill>
                <a:latin typeface="Calibri" pitchFamily="34" charset="0"/>
                <a:ea typeface="Calibri" pitchFamily="34" charset="-122"/>
                <a:cs typeface="Calibri" pitchFamily="34" charset="-120"/>
              </a:rPr>
              <a:t>Les deux rubriques qui vous appartiennent en propre : la conduite à tenir et la prévention. Le mécanisme sert à comprendre ; la prévention, c'est votre métier.</a:t>
            </a:r>
            <a:endParaRPr lang="en-US" sz="1300" dirty="0"/>
          </a:p>
        </p:txBody>
      </p:sp>
      <p:sp>
        <p:nvSpPr>
          <p:cNvPr id="13" name="Text 11"/>
          <p:cNvSpPr/>
          <p:nvPr/>
        </p:nvSpPr>
        <p:spPr>
          <a:xfrm>
            <a:off x="685800" y="5897880"/>
            <a:ext cx="10789920" cy="640080"/>
          </a:xfrm>
          <a:prstGeom prst="rect">
            <a:avLst/>
          </a:prstGeom>
          <a:noFill/>
          <a:ln/>
        </p:spPr>
        <p:txBody>
          <a:bodyPr wrap="square" lIns="0" tIns="0" rIns="0" bIns="0" rtlCol="0" anchor="ctr"/>
          <a:lstStyle/>
          <a:p>
            <a:pPr indent="0" marL="0">
              <a:lnSpc>
                <a:spcPct val="110000"/>
              </a:lnSpc>
              <a:buNone/>
            </a:pPr>
            <a:r>
              <a:rPr lang="en-US" sz="1000" i="1" dirty="0">
                <a:solidFill>
                  <a:srgbClr val="7FA8C4"/>
                </a:solidFill>
                <a:latin typeface="Calibri" pitchFamily="34" charset="0"/>
                <a:ea typeface="Calibri" pitchFamily="34" charset="-122"/>
                <a:cs typeface="Calibri" pitchFamily="34" charset="-120"/>
              </a:rPr>
              <a:t>Support de synthèse construit à partir des modules « Physiologie de l'apnée » et « Accidents » (supports de formation cadres) — valeurs chiffrées données à visée pédagogique ; se référer aux manuels de formation FFESSM en vigueur pour les contenus d'examen.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2026-08-09T00:02:01Z</dcterms:created>
  <dcterms:modified xsi:type="dcterms:W3CDTF">2026-08-09T00:02:01Z</dcterms:modified>
</cp:coreProperties>
</file>