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charts/chart2.xml" ContentType="application/vnd.openxmlformats-officedocument.drawingml.chart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PaO₂ (mmHg)</c:v>
                </c:pt>
              </c:strCache>
            </c:strRef>
          </c:tx>
          <c:spPr>
            <a:solidFill>
              <a:srgbClr val="0E7CB8">
                <a:alpha val="100000"/>
              </a:srgbClr>
            </a:solidFill>
            <a:ln w="38100" cap="flat">
              <a:solidFill>
                <a:srgbClr val="0E7CB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0E7CB8"/>
              </a:solidFill>
              <a:ln w="9525" cap="flat">
                <a:solidFill>
                  <a:srgbClr val="0E7CB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0</c:v>
                  </c:pt>
                  <c:pt idx="1">
                    <c:v>30</c:v>
                  </c:pt>
                  <c:pt idx="2">
                    <c:v>60</c:v>
                  </c:pt>
                  <c:pt idx="3">
                    <c:v>90</c:v>
                  </c:pt>
                  <c:pt idx="4">
                    <c:v>120</c:v>
                  </c:pt>
                  <c:pt idx="5">
                    <c:v>150</c:v>
                  </c:pt>
                  <c:pt idx="6">
                    <c:v>180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98</c:v>
                </c:pt>
                <c:pt idx="1">
                  <c:v>92</c:v>
                </c:pt>
                <c:pt idx="2">
                  <c:v>82</c:v>
                </c:pt>
                <c:pt idx="3">
                  <c:v>70</c:v>
                </c:pt>
                <c:pt idx="4">
                  <c:v>57</c:v>
                </c:pt>
                <c:pt idx="5">
                  <c:v>43</c:v>
                </c:pt>
                <c:pt idx="6">
                  <c:v>30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PaCO₂ (mmHg)</c:v>
                </c:pt>
              </c:strCache>
            </c:strRef>
          </c:tx>
          <c:spPr>
            <a:solidFill>
              <a:srgbClr val="D9541E">
                <a:alpha val="100000"/>
              </a:srgbClr>
            </a:solidFill>
            <a:ln w="38100" cap="flat">
              <a:solidFill>
                <a:srgbClr val="D9541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D9541E"/>
              </a:solidFill>
              <a:ln w="9525" cap="flat">
                <a:solidFill>
                  <a:srgbClr val="D9541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0</c:v>
                  </c:pt>
                  <c:pt idx="1">
                    <c:v>30</c:v>
                  </c:pt>
                  <c:pt idx="2">
                    <c:v>60</c:v>
                  </c:pt>
                  <c:pt idx="3">
                    <c:v>90</c:v>
                  </c:pt>
                  <c:pt idx="4">
                    <c:v>120</c:v>
                  </c:pt>
                  <c:pt idx="5">
                    <c:v>150</c:v>
                  </c:pt>
                  <c:pt idx="6">
                    <c:v>180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40</c:v>
                </c:pt>
                <c:pt idx="1">
                  <c:v>41</c:v>
                </c:pt>
                <c:pt idx="2">
                  <c:v>42.5</c:v>
                </c:pt>
                <c:pt idx="3">
                  <c:v>44.5</c:v>
                </c:pt>
                <c:pt idx="4">
                  <c:v>47</c:v>
                </c:pt>
                <c:pt idx="5">
                  <c:v>49.5</c:v>
                </c:pt>
                <c:pt idx="6">
                  <c:v>52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5B7288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5B7288"/>
                    </a:solidFill>
                    <a:latin typeface="Arial"/>
                  </a:rPr>
                  <a:t>Temps d'apnée (s)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5B728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12700" cap="flat">
              <a:solidFill>
                <a:srgbClr val="DCEBF5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5B7288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5B7288"/>
                    </a:solidFill>
                    <a:latin typeface="Arial"/>
                  </a:rPr>
                  <a:t>Pression partielle (mmHg)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5B728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F3347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Marge de progression</c:v>
                </c:pt>
              </c:strCache>
            </c:strRef>
          </c:tx>
          <c:spPr>
            <a:solidFill>
              <a:srgbClr val="0E7CB8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5B728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Physiologiques</c:v>
                  </c:pt>
                  <c:pt idx="1">
                    <c:v>Techniques</c:v>
                  </c:pt>
                  <c:pt idx="2">
                    <c:v>Psychologiques</c:v>
                  </c:pt>
                  <c:pt idx="3">
                    <c:v>Morphologiques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85</c:v>
                </c:pt>
                <c:pt idx="1">
                  <c:v>80</c:v>
                </c:pt>
                <c:pt idx="2">
                  <c:v>75</c:v>
                </c:pt>
                <c:pt idx="3">
                  <c:v>25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5B7288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F334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b"/>
        <c:majorGridlines>
          <c:spPr>
            <a:ln w="12700" cap="flat">
              <a:solidFill>
                <a:srgbClr val="DCEBF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728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Version réactualisée du cours « facteurs de la performance ». Nouveautés intégrées : réflexe d'immersion détaillé, spleen effect, blood shift, continuum samba/syncope, OPI, taravana, méthodologie tables CO2/O2. Public : cadres IE/MEF1-MEF2.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Structure reprise de l'ancien support, enrichie : on ajoute explicitement la méthodologie d'entraînement comme famille à part entière. Insister : morphologie = peu entraînable ; physiologie et psychologie = gros gains.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Modèle simple à faire retenir aux stagiaires cadres : tout facteur de performance agit sur au moins un des trois termes. Attention au 3e terme : repousser la tolérance ne veut jamais dire supprimer les alarmes (hyperventilation proscrite).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Répartition approximative des stocks : poumons ~60 %, sang ~35 %, muscles ~5 %. Chiffres arrondis à visée pédagogique. Le stock théorique de 1,5 L permettrait ~5 min de repos strict : la performance vient surtout de la réduction de la consommation et de la tolérance.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point clé pour un cadre : distinguer l'alarme (CO₂, contractions ~PaCO2 47-48 mmHg sous O2 pur, point de rupture conventionnel 50+ mmHg selon individus) du danger réel (O₂). Phase de confort = zone pédagogique. Phase de lutte = travail d'expert, jamais en autonomie.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Courbes schématiques (apnée statique de 3 min, valeurs indicatives). PaO2 part de ~100 mmHg, la zone syncopale se situe sous 25-30 mmHg. PaCO2 part de 40 mmHg ; les contractions apparaissent vers 47-48 mmHg. Point de rupture très variable selon les individus (50 à 90 mmHg décrits).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diving reflex est présent chez tous les mammifères. Chez l'humain il est renforcé par : visage dans l'eau froide, apnée, profondeur. Il est entraînable : les apnéistes développent une bradycardie plus précoce et plus marquée. Faire le lien avec l'échauffement : apnées progressives = amorçage du réflexe + spleen effect.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Historique : la physiologie classique prédisait un écrasement thoracique vers 30-40 m (rapport CPT/VR). Le blood shift, décrit chez les apnéistes profonds, explique les plongées à plus de 100 m. Le spleen effect justifie scientifiquement l'échauffement spécifique par apnées répétées.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Message cadre : ne pas laisser un stagiaire investir tout son temps ici — le retour sur investissement est le plus faible des quatre familles. En revanche, la souplesse thoracique devient déterminante dès qu'on parle de profondeur (protection contre les barotraumatismes pulmonaires).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Reprend et actualise les diapos « facteurs physiologiques » de l'ancien support : on précise les récepteurs (centraux = CO2/pH, bulbe rachidien ; périphériques = O2, sinus carotidiens et crosse aortique) et on relie chaque tolérance à son outil d'entraînement.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Tableau de synthèse à faire reconstruire par les stagiaires MEF. Bien opposer la richesse du signal hypercapnique à la pauvreté du signal hypoxique : c'est la justification physiologique de toutes les règles de sécurité FFESSM.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Actualisation : la cohérence cardiaque et l'imagerie mentale font désormais partie des outils standards de préparation. Le lien physiologique est direct : stress = système sympathique = FC et consommation d'O2 en hausse. Tout ce qui active le parasympathique va dans le sens de la performance.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carpe : à présenter aux cadres comme une technique d'expert avec ses risques (surpression, baisse du retour veineux → syncope de carpe, sur-étirement pulmonaire → OPI). L'hyperventilation : à traiter comme un point de doctrine non négociable, avec l'explication physiologique complète.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Frenzel est aujourd'hui la technique de référence enseignée en apnée (vs Valsalva historique). Rappeler le lien performance/sécurité : la compensation conditionne la vitesse de descente et le confort, donc la consommation d'O2.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vitesse optimale en dynamique est un compromis consommation/temps : trop lent = temps d'apnée long, trop rapide = explosion de la consommation (la traînée croît avec le carré de la vitesse). ~0,8-1 m/s pour la plupart des pratiquants.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Échelle volontairement indicative (pas de consensus chiffré) : l'ordre relatif, lui, fait consensus. Reprend la conclusion de l'ancien support (« le gain morphologique restera inférieur aux autres ») sous forme visuelle.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Terminologie fédérale : PCM (perte de contrôle moteur) = samba ; syncope = perte de connaissance. La syncope survient surtout à l'approche de la surface (chute de la PpO2 alvéolaire à la remontée, ex-« rendez-vous syncopal des 7 mètres »). CAT : sortie de l'eau, maintien voies aériennes hors d'eau, stimulation, O2 — cf. cours secourisme.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Ces trois tableaux ont pris une place croissante dans la doctrine médicale fédérale (commission médicale). OPI : accident « moderne » longtemps sous-diagnostiqué. Taravana : justifie les règles d'intervalle de surface (≥ 3× le temps de plongée en profondeur, limiter le cumul quotidien).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Remplace les anciennes diapos « Amélioration des facteurs 1 et 2 » (vitesses sur 50 m, durées de récupération) par une logique complète de périodisation. Le cadre doit savoir doser : une variable à la fois, progression hebdomadaire douce (~5-10 %).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Fiche mémo à distribuer telle quelle aux stagiaires. Chaque terme doit pouvoir être défini et expliqué physiologiquement par un candidat MEF1.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Ouvrir la discussion : comment chaque stagiaire cadre traduit ces trois messages dans ses séances ? Renvoyer vers les manuels de formation CNA FFESSM en vigueur pour les contenus par niveau.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9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35440" y="-1463040"/>
            <a:ext cx="4937760" cy="493776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3108960"/>
            <a:ext cx="2834640" cy="2834640"/>
          </a:xfrm>
          <a:prstGeom prst="ellipse">
            <a:avLst/>
          </a:prstGeom>
          <a:solidFill>
            <a:srgbClr val="1C7293">
              <a:alpha val="3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280160" y="4663440"/>
            <a:ext cx="3840480" cy="3840480"/>
          </a:xfrm>
          <a:prstGeom prst="ellipse">
            <a:avLst/>
          </a:prstGeom>
          <a:solidFill>
            <a:srgbClr val="1C7293">
              <a:alpha val="3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0744200" y="4892040"/>
            <a:ext cx="457200" cy="457200"/>
          </a:xfrm>
          <a:prstGeom prst="ellipse">
            <a:avLst/>
          </a:prstGeom>
          <a:solidFill>
            <a:srgbClr val="8FC5E8">
              <a:alpha val="7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292840" y="4251960"/>
            <a:ext cx="292608" cy="292608"/>
          </a:xfrm>
          <a:prstGeom prst="ellipse">
            <a:avLst/>
          </a:prstGeom>
          <a:solidFill>
            <a:srgbClr val="8FC5E8">
              <a:alpha val="5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777240"/>
            <a:ext cx="777240" cy="7772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7882" y="979322"/>
            <a:ext cx="373075" cy="37307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85800" y="19202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8FC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FFESSM · COMMISSION APNÉE · FORMATION CADRES IE / MEF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58368" y="2286000"/>
            <a:ext cx="106070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facteurs de la</a:t>
            </a:r>
            <a:endParaRPr lang="en-US" sz="50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performance en apnée</a:t>
            </a:r>
            <a:endParaRPr lang="en-US" sz="5000" dirty="0"/>
          </a:p>
        </p:txBody>
      </p:sp>
      <p:sp>
        <p:nvSpPr>
          <p:cNvPr id="11" name="Text 8"/>
          <p:cNvSpPr/>
          <p:nvPr/>
        </p:nvSpPr>
        <p:spPr>
          <a:xfrm>
            <a:off x="685800" y="4343400"/>
            <a:ext cx="8778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DC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Physiologie actualisée — réflexe d'immersion, spleen effect, tolérances hypercapnique et hypoxique, sécurité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685800" y="612648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7F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de cours · édition 2026 · conforme aux contenus de formation en vigueur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D'ENSEMBLE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33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familles de facteurs, une seule performance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602736" cy="2148840"/>
          </a:xfrm>
          <a:prstGeom prst="roundRect">
            <a:avLst>
              <a:gd name="adj" fmla="val 3830"/>
            </a:avLst>
          </a:prstGeom>
          <a:solidFill>
            <a:srgbClr val="F2F7FB"/>
          </a:solidFill>
          <a:ln/>
          <a:effectLst>
            <a:outerShdw sx="100000" sy="100000" kx="0" ky="0" algn="bl" rotWithShape="0" blurRad="88900" dist="25400" dir="5400000">
              <a:srgbClr val="0A2942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618488"/>
            <a:ext cx="475488" cy="47548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3435" y="1742115"/>
            <a:ext cx="228234" cy="22823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600200"/>
            <a:ext cx="26426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Morphologiques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04672" y="2221992"/>
            <a:ext cx="309067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B7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Aptitudes innées ou acquises : souplesse thoracique, volumes pulmonaires, anatomie tubaire.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343400" y="1417320"/>
            <a:ext cx="3602736" cy="2148840"/>
          </a:xfrm>
          <a:prstGeom prst="roundRect">
            <a:avLst>
              <a:gd name="adj" fmla="val 3830"/>
            </a:avLst>
          </a:prstGeom>
          <a:solidFill>
            <a:srgbClr val="F2F7FB"/>
          </a:solidFill>
          <a:ln/>
          <a:effectLst>
            <a:outerShdw sx="100000" sy="100000" kx="0" ky="0" algn="bl" rotWithShape="0" blurRad="88900" dist="25400" dir="5400000">
              <a:srgbClr val="0A2942">
                <a:alpha val="1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44568" y="1618488"/>
            <a:ext cx="475488" cy="475488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8195" y="1742115"/>
            <a:ext cx="228234" cy="22823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166360" y="1600200"/>
            <a:ext cx="26426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Physiologiques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4599432" y="2221992"/>
            <a:ext cx="309067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B7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 l'O₂, tolérance CO₂ / hypoxie, réflexe d'immersion. Les plus rentables à entraîner.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138160" y="1417320"/>
            <a:ext cx="3602736" cy="2148840"/>
          </a:xfrm>
          <a:prstGeom prst="roundRect">
            <a:avLst>
              <a:gd name="adj" fmla="val 3830"/>
            </a:avLst>
          </a:prstGeom>
          <a:solidFill>
            <a:srgbClr val="F2F7FB"/>
          </a:solidFill>
          <a:ln/>
          <a:effectLst>
            <a:outerShdw sx="100000" sy="100000" kx="0" ky="0" algn="bl" rotWithShape="0" blurRad="88900" dist="25400" dir="5400000">
              <a:srgbClr val="0A2942">
                <a:alpha val="16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39328" y="1618488"/>
            <a:ext cx="475488" cy="475488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2955" y="1742115"/>
            <a:ext cx="228234" cy="22823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961120" y="1600200"/>
            <a:ext cx="26426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Psychologiques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394192" y="2221992"/>
            <a:ext cx="309067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B7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Relaxation, gestion du stress, imagerie mentale : le cerveau est un gros consommateur d'O₂.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548640" y="3840480"/>
            <a:ext cx="3602736" cy="2148840"/>
          </a:xfrm>
          <a:prstGeom prst="roundRect">
            <a:avLst>
              <a:gd name="adj" fmla="val 3830"/>
            </a:avLst>
          </a:prstGeom>
          <a:solidFill>
            <a:srgbClr val="F2F7FB"/>
          </a:solidFill>
          <a:ln/>
          <a:effectLst>
            <a:outerShdw sx="100000" sy="100000" kx="0" ky="0" algn="bl" rotWithShape="0" blurRad="88900" dist="25400" dir="5400000">
              <a:srgbClr val="0A2942">
                <a:alpha val="16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49808" y="4041648"/>
            <a:ext cx="475488" cy="475488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3435" y="4165275"/>
            <a:ext cx="228234" cy="22823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371600" y="4023360"/>
            <a:ext cx="26426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Techniques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804672" y="4645152"/>
            <a:ext cx="309067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B7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Ventilation préparatoire, compensation, tonus musculaire, glisse : l'économie du geste.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4343400" y="3840480"/>
            <a:ext cx="3602736" cy="2148840"/>
          </a:xfrm>
          <a:prstGeom prst="roundRect">
            <a:avLst>
              <a:gd name="adj" fmla="val 3830"/>
            </a:avLst>
          </a:prstGeom>
          <a:solidFill>
            <a:srgbClr val="F2F7FB"/>
          </a:solidFill>
          <a:ln/>
          <a:effectLst>
            <a:outerShdw sx="100000" sy="100000" kx="0" ky="0" algn="bl" rotWithShape="0" blurRad="88900" dist="25400" dir="5400000">
              <a:srgbClr val="0A2942">
                <a:alpha val="16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544568" y="4041648"/>
            <a:ext cx="475488" cy="47548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8195" y="4165275"/>
            <a:ext cx="228234" cy="22823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166360" y="4023360"/>
            <a:ext cx="26426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Spécifiques</a:t>
            </a:r>
            <a:endParaRPr lang="en-US" sz="1450" dirty="0"/>
          </a:p>
        </p:txBody>
      </p:sp>
      <p:sp>
        <p:nvSpPr>
          <p:cNvPr id="28" name="Text 21"/>
          <p:cNvSpPr/>
          <p:nvPr/>
        </p:nvSpPr>
        <p:spPr>
          <a:xfrm>
            <a:off x="4599432" y="4645152"/>
            <a:ext cx="309067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B7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Exigences propres à chaque discipline : statique, dynamique, poids constant.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8138160" y="3840480"/>
            <a:ext cx="3602736" cy="2148840"/>
          </a:xfrm>
          <a:prstGeom prst="roundRect">
            <a:avLst>
              <a:gd name="adj" fmla="val 3830"/>
            </a:avLst>
          </a:prstGeom>
          <a:solidFill>
            <a:srgbClr val="F2F7FB"/>
          </a:solidFill>
          <a:ln/>
          <a:effectLst>
            <a:outerShdw sx="100000" sy="100000" kx="0" ky="0" algn="bl" rotWithShape="0" blurRad="88900" dist="25400" dir="5400000">
              <a:srgbClr val="0A2942">
                <a:alpha val="16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339328" y="4041648"/>
            <a:ext cx="475488" cy="47548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62955" y="4165275"/>
            <a:ext cx="228234" cy="228234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961120" y="4023360"/>
            <a:ext cx="26426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Méthodologiques</a:t>
            </a:r>
            <a:endParaRPr lang="en-US" sz="1450" dirty="0"/>
          </a:p>
        </p:txBody>
      </p:sp>
      <p:sp>
        <p:nvSpPr>
          <p:cNvPr id="33" name="Text 25"/>
          <p:cNvSpPr/>
          <p:nvPr/>
        </p:nvSpPr>
        <p:spPr>
          <a:xfrm>
            <a:off x="8394192" y="4645152"/>
            <a:ext cx="309067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B7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Savoir doser volume, intensité et récupération : c'est le rôle du cadre.</a:t>
            </a:r>
            <a:endParaRPr lang="en-US" sz="1150" dirty="0"/>
          </a:p>
        </p:txBody>
      </p:sp>
      <p:sp>
        <p:nvSpPr>
          <p:cNvPr id="34" name="Text 26"/>
          <p:cNvSpPr/>
          <p:nvPr/>
        </p:nvSpPr>
        <p:spPr>
          <a:xfrm>
            <a:off x="548640" y="617220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= capacité à aller loin, longtemps ou profond… en revenant en parfait état. La sécurité fait partie de la performance.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MODÈLE PHYSIOLOGIQUE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33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L'équation de la performance en apnée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246120" cy="3566160"/>
          </a:xfrm>
          <a:prstGeom prst="roundRect">
            <a:avLst>
              <a:gd name="adj" fmla="val 2535"/>
            </a:avLst>
          </a:prstGeom>
          <a:solidFill>
            <a:srgbClr val="F2F7FB"/>
          </a:solidFill>
          <a:ln/>
          <a:effectLst>
            <a:outerShdw sx="100000" sy="100000" kx="0" ky="0" algn="bl" rotWithShape="0" blurRad="88900" dist="25400" dir="5400000">
              <a:srgbClr val="0A2942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24228" y="1737360"/>
            <a:ext cx="694944" cy="694944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04913" y="1918045"/>
            <a:ext cx="333573" cy="33357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256032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STOCKS D'O₂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731520" y="2944368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150" kern="0" dirty="0">
                <a:solidFill>
                  <a:srgbClr val="2C8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 À AUGMENTER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868680" y="3337560"/>
            <a:ext cx="2697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5B7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Volumes pulmonaires (CPT, VR)</a:t>
            </a:r>
            <a:endParaRPr lang="en-US" sz="1150" dirty="0"/>
          </a:p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5B7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Hémoglobine, hématocrite</a:t>
            </a:r>
            <a:endParaRPr lang="en-US" sz="1150" dirty="0"/>
          </a:p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5B7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Myoglobine musculaire</a:t>
            </a:r>
            <a:endParaRPr lang="en-US" sz="1150" dirty="0"/>
          </a:p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5B7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Spleen effect (rate)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3867912" y="288036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</a:t>
            </a:r>
            <a:endParaRPr lang="en-US" sz="3400" dirty="0"/>
          </a:p>
        </p:txBody>
      </p:sp>
      <p:sp>
        <p:nvSpPr>
          <p:cNvPr id="11" name="Shape 8"/>
          <p:cNvSpPr/>
          <p:nvPr/>
        </p:nvSpPr>
        <p:spPr>
          <a:xfrm>
            <a:off x="4453128" y="1463040"/>
            <a:ext cx="3246120" cy="3566160"/>
          </a:xfrm>
          <a:prstGeom prst="roundRect">
            <a:avLst>
              <a:gd name="adj" fmla="val 2535"/>
            </a:avLst>
          </a:prstGeom>
          <a:solidFill>
            <a:srgbClr val="F2F7FB"/>
          </a:solidFill>
          <a:ln/>
          <a:effectLst>
            <a:outerShdw sx="100000" sy="100000" kx="0" ky="0" algn="bl" rotWithShape="0" blurRad="88900" dist="25400" dir="5400000">
              <a:srgbClr val="0A2942">
                <a:alpha val="1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728716" y="1737360"/>
            <a:ext cx="694944" cy="694944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9401" y="1918045"/>
            <a:ext cx="333573" cy="333573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636008" y="256032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CONSOMMATION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4636008" y="2944368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150" kern="0" dirty="0">
                <a:solidFill>
                  <a:srgbClr val="D95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 À RÉDUIRE</a:t>
            </a:r>
            <a:endParaRPr lang="en-US" sz="1150" dirty="0"/>
          </a:p>
        </p:txBody>
      </p:sp>
      <p:sp>
        <p:nvSpPr>
          <p:cNvPr id="16" name="Text 12"/>
          <p:cNvSpPr/>
          <p:nvPr/>
        </p:nvSpPr>
        <p:spPr>
          <a:xfrm>
            <a:off x="4773168" y="3337560"/>
            <a:ext cx="2697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5B7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Tonus musculaire minimal</a:t>
            </a:r>
            <a:endParaRPr lang="en-US" sz="1150" dirty="0"/>
          </a:p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5B7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Économie de nage, glisse</a:t>
            </a:r>
            <a:endParaRPr lang="en-US" sz="1150" dirty="0"/>
          </a:p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5B7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Activité cérébrale apaisée</a:t>
            </a:r>
            <a:endParaRPr lang="en-US" sz="1150" dirty="0"/>
          </a:p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5B7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Réflexe d'immersion (bradycardie)</a:t>
            </a:r>
            <a:endParaRPr lang="en-US" sz="1150" dirty="0"/>
          </a:p>
        </p:txBody>
      </p:sp>
      <p:sp>
        <p:nvSpPr>
          <p:cNvPr id="17" name="Text 13"/>
          <p:cNvSpPr/>
          <p:nvPr/>
        </p:nvSpPr>
        <p:spPr>
          <a:xfrm>
            <a:off x="7772400" y="288036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</a:t>
            </a:r>
            <a:endParaRPr lang="en-US" sz="3400" dirty="0"/>
          </a:p>
        </p:txBody>
      </p:sp>
      <p:sp>
        <p:nvSpPr>
          <p:cNvPr id="18" name="Shape 14"/>
          <p:cNvSpPr/>
          <p:nvPr/>
        </p:nvSpPr>
        <p:spPr>
          <a:xfrm>
            <a:off x="8357616" y="1463040"/>
            <a:ext cx="3246120" cy="3566160"/>
          </a:xfrm>
          <a:prstGeom prst="roundRect">
            <a:avLst>
              <a:gd name="adj" fmla="val 2535"/>
            </a:avLst>
          </a:prstGeom>
          <a:solidFill>
            <a:srgbClr val="F2F7FB"/>
          </a:solidFill>
          <a:ln/>
          <a:effectLst>
            <a:outerShdw sx="100000" sy="100000" kx="0" ky="0" algn="bl" rotWithShape="0" blurRad="88900" dist="25400" dir="5400000">
              <a:srgbClr val="0A2942">
                <a:alpha val="16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9633204" y="1737360"/>
            <a:ext cx="694944" cy="694944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13889" y="1918045"/>
            <a:ext cx="333573" cy="333573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540496" y="256032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TOLÉRANCE</a:t>
            </a:r>
            <a:endParaRPr lang="en-US" sz="1700" dirty="0"/>
          </a:p>
        </p:txBody>
      </p:sp>
      <p:sp>
        <p:nvSpPr>
          <p:cNvPr id="22" name="Text 17"/>
          <p:cNvSpPr/>
          <p:nvPr/>
        </p:nvSpPr>
        <p:spPr>
          <a:xfrm>
            <a:off x="8540496" y="2944368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150" kern="0" dirty="0">
                <a:solidFill>
                  <a:srgbClr val="2C8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 À REPOUSSER</a:t>
            </a:r>
            <a:endParaRPr lang="en-US" sz="1150" dirty="0"/>
          </a:p>
        </p:txBody>
      </p:sp>
      <p:sp>
        <p:nvSpPr>
          <p:cNvPr id="23" name="Text 18"/>
          <p:cNvSpPr/>
          <p:nvPr/>
        </p:nvSpPr>
        <p:spPr>
          <a:xfrm>
            <a:off x="8677656" y="3337560"/>
            <a:ext cx="2697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5B7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Hypercapnie (CO₂ ↑)</a:t>
            </a:r>
            <a:endParaRPr lang="en-US" sz="1150" dirty="0"/>
          </a:p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5B7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Hypoxie (O₂ ↓)</a:t>
            </a:r>
            <a:endParaRPr lang="en-US" sz="1150" dirty="0"/>
          </a:p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5B7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Stimuli mécaniques thoraciques</a:t>
            </a:r>
            <a:endParaRPr lang="en-US" sz="1150" dirty="0"/>
          </a:p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5B7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…sans jamais leurrer l'alarme</a:t>
            </a:r>
            <a:endParaRPr lang="en-US" sz="1150" dirty="0"/>
          </a:p>
        </p:txBody>
      </p:sp>
      <p:sp>
        <p:nvSpPr>
          <p:cNvPr id="24" name="Shape 19"/>
          <p:cNvSpPr/>
          <p:nvPr/>
        </p:nvSpPr>
        <p:spPr>
          <a:xfrm>
            <a:off x="2011680" y="5486400"/>
            <a:ext cx="8165592" cy="777240"/>
          </a:xfrm>
          <a:prstGeom prst="roundRect">
            <a:avLst>
              <a:gd name="adj" fmla="val 11765"/>
            </a:avLst>
          </a:prstGeom>
          <a:solidFill>
            <a:srgbClr val="065A82"/>
          </a:solidFill>
          <a:ln/>
          <a:effectLst>
            <a:outerShdw sx="100000" sy="100000" kx="0" ky="0" algn="bl" rotWithShape="0" blurRad="88900" dist="25400" dir="5400000">
              <a:srgbClr val="0A2942">
                <a:alpha val="16000"/>
              </a:srgbClr>
            </a:outerShdw>
          </a:effectLst>
        </p:spPr>
      </p:sp>
      <p:sp>
        <p:nvSpPr>
          <p:cNvPr id="25" name="Text 20"/>
          <p:cNvSpPr/>
          <p:nvPr/>
        </p:nvSpPr>
        <p:spPr>
          <a:xfrm>
            <a:off x="2194560" y="5486400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 =  </a:t>
            </a:r>
            <a:pPr algn="ctr" indent="0" marL="0">
              <a:buNone/>
            </a:pPr>
            <a:r>
              <a:rPr lang="en-US" sz="1500" dirty="0">
                <a:solidFill>
                  <a:srgbClr val="DC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stocks d'O₂  ×  économie d'utilisation  ×  tolérance aux signaux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PHYSIOLOGIE DE BASE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33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Où est stocké l'oxygène ?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566160" cy="3246120"/>
          </a:xfrm>
          <a:prstGeom prst="roundRect">
            <a:avLst>
              <a:gd name="adj" fmla="val 2535"/>
            </a:avLst>
          </a:prstGeom>
          <a:solidFill>
            <a:srgbClr val="F2F7FB"/>
          </a:solidFill>
          <a:ln/>
          <a:effectLst>
            <a:outerShdw sx="100000" sy="100000" kx="0" ky="0" algn="bl" rotWithShape="0" blurRad="88900" dist="25400" dir="5400000">
              <a:srgbClr val="0A2942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69164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5606" y="1834286"/>
            <a:ext cx="263347" cy="26334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581912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60 %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841248" y="2468880"/>
            <a:ext cx="2980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Poumons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41248" y="2880360"/>
            <a:ext cx="298094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7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O₂ alvéolaire. Dépend de la capacité pulmonaire totale (CPT) et du volume résiduel (VR). Levier : souplesse thoracique, ventilation préparatoire.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306824" y="1417320"/>
            <a:ext cx="3566160" cy="3246120"/>
          </a:xfrm>
          <a:prstGeom prst="roundRect">
            <a:avLst>
              <a:gd name="adj" fmla="val 2535"/>
            </a:avLst>
          </a:prstGeom>
          <a:solidFill>
            <a:srgbClr val="F2F7FB"/>
          </a:solidFill>
          <a:ln/>
          <a:effectLst>
            <a:outerShdw sx="100000" sy="100000" kx="0" ky="0" algn="bl" rotWithShape="0" blurRad="88900" dist="25400" dir="5400000">
              <a:srgbClr val="0A2942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81144" y="169164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3790" y="1834286"/>
            <a:ext cx="263347" cy="263347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266944" y="1581912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35 %</a:t>
            </a:r>
            <a:endParaRPr lang="en-US" sz="4000" dirty="0"/>
          </a:p>
        </p:txBody>
      </p:sp>
      <p:sp>
        <p:nvSpPr>
          <p:cNvPr id="14" name="Text 10"/>
          <p:cNvSpPr/>
          <p:nvPr/>
        </p:nvSpPr>
        <p:spPr>
          <a:xfrm>
            <a:off x="4599432" y="2468880"/>
            <a:ext cx="2980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Sang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4599432" y="2880360"/>
            <a:ext cx="298094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7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O₂ fixé sur l'hémoglobine. Dépend de l'hématocrite — augmenté transitoirement par la contraction de la rate (spleen effect).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8065008" y="1417320"/>
            <a:ext cx="3566160" cy="3246120"/>
          </a:xfrm>
          <a:prstGeom prst="roundRect">
            <a:avLst>
              <a:gd name="adj" fmla="val 2535"/>
            </a:avLst>
          </a:prstGeom>
          <a:solidFill>
            <a:srgbClr val="F2F7FB"/>
          </a:solidFill>
          <a:ln/>
          <a:effectLst>
            <a:outerShdw sx="100000" sy="100000" kx="0" ky="0" algn="bl" rotWithShape="0" blurRad="88900" dist="25400" dir="5400000">
              <a:srgbClr val="0A2942">
                <a:alpha val="16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339328" y="169164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1974" y="1834286"/>
            <a:ext cx="263347" cy="263347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9025128" y="1581912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5 %</a:t>
            </a:r>
            <a:endParaRPr lang="en-US" sz="4000" dirty="0"/>
          </a:p>
        </p:txBody>
      </p:sp>
      <p:sp>
        <p:nvSpPr>
          <p:cNvPr id="20" name="Text 15"/>
          <p:cNvSpPr/>
          <p:nvPr/>
        </p:nvSpPr>
        <p:spPr>
          <a:xfrm>
            <a:off x="8357616" y="2468880"/>
            <a:ext cx="2980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Muscles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8357616" y="2880360"/>
            <a:ext cx="298094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7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O₂ fixé sur la myoglobine, réserve locale des fibres musculaires. Se développe avec l'entraînement en apnée répété.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548640" y="4983480"/>
            <a:ext cx="11073384" cy="1234440"/>
          </a:xfrm>
          <a:prstGeom prst="roundRect">
            <a:avLst>
              <a:gd name="adj" fmla="val 6667"/>
            </a:avLst>
          </a:prstGeom>
          <a:solidFill>
            <a:srgbClr val="DCEBF5"/>
          </a:solidFill>
          <a:ln/>
          <a:effectLst>
            <a:outerShdw sx="100000" sy="100000" kx="0" ky="0" algn="bl" rotWithShape="0" blurRad="88900" dist="25400" dir="5400000">
              <a:srgbClr val="0A2942">
                <a:alpha val="16000"/>
              </a:srgbClr>
            </a:outerShdw>
          </a:effectLst>
        </p:spPr>
      </p:sp>
      <p:sp>
        <p:nvSpPr>
          <p:cNvPr id="23" name="Text 18"/>
          <p:cNvSpPr/>
          <p:nvPr/>
        </p:nvSpPr>
        <p:spPr>
          <a:xfrm>
            <a:off x="822960" y="5074920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F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Ordres de grandeur (adulte, poumons pleins) :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F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total ≈ 1,5 L d'O₂ · consommation de repos ≈ 0,25 à 0,30 L/min · le cerveau consomme à lui seul ≈ 20 % de l'O₂ pour 2 % du poids du corps. D'où les deux stratégies : agrandir le réservoir… et surtout fermer les robinets.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LOGIGRAMME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33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déroulement physiologique d'une apnée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093976" cy="1783080"/>
          </a:xfrm>
          <a:prstGeom prst="roundRect">
            <a:avLst>
              <a:gd name="adj" fmla="val 4103"/>
            </a:avLst>
          </a:prstGeom>
          <a:solidFill>
            <a:srgbClr val="065A82"/>
          </a:solidFill>
          <a:ln/>
          <a:effectLst>
            <a:outerShdw sx="100000" sy="100000" kx="0" ky="0" algn="bl" rotWithShape="0" blurRad="88900" dist="25400" dir="5400000">
              <a:srgbClr val="0A2942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49808" y="1801368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Inspiration finale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49808" y="2423160"/>
            <a:ext cx="1691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C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Stocks constitués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C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(sans hyperventilation)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615184" y="2221992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2788920" y="1600200"/>
            <a:ext cx="2093976" cy="1783080"/>
          </a:xfrm>
          <a:prstGeom prst="roundRect">
            <a:avLst>
              <a:gd name="adj" fmla="val 4103"/>
            </a:avLst>
          </a:prstGeom>
          <a:solidFill>
            <a:srgbClr val="065A82"/>
          </a:solidFill>
          <a:ln/>
          <a:effectLst>
            <a:outerShdw sx="100000" sy="100000" kx="0" ky="0" algn="bl" rotWithShape="0" blurRad="88900" dist="25400" dir="5400000">
              <a:srgbClr val="0A2942">
                <a:alpha val="1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990088" y="1801368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de confort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990088" y="2423160"/>
            <a:ext cx="1691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C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PaCO₂ monte en silence,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C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PaO₂ baisse déjà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855464" y="2221992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029200" y="1600200"/>
            <a:ext cx="2093976" cy="1783080"/>
          </a:xfrm>
          <a:prstGeom prst="roundRect">
            <a:avLst>
              <a:gd name="adj" fmla="val 4103"/>
            </a:avLst>
          </a:prstGeom>
          <a:solidFill>
            <a:srgbClr val="1C7293"/>
          </a:solidFill>
          <a:ln/>
          <a:effectLst>
            <a:outerShdw sx="100000" sy="100000" kx="0" ky="0" algn="bl" rotWithShape="0" blurRad="88900" dist="25400" dir="5400000">
              <a:srgbClr val="0A2942">
                <a:alpha val="1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230368" y="1801368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1ères contractions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230368" y="2423160"/>
            <a:ext cx="1691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C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Diaphragme : alarme CO₂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C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(PaCO₂ ≈ 47–48 mmHg)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095744" y="2221992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269480" y="1600200"/>
            <a:ext cx="2093976" cy="1783080"/>
          </a:xfrm>
          <a:prstGeom prst="roundRect">
            <a:avLst>
              <a:gd name="adj" fmla="val 4103"/>
            </a:avLst>
          </a:prstGeom>
          <a:solidFill>
            <a:srgbClr val="1C7293"/>
          </a:solidFill>
          <a:ln/>
          <a:effectLst>
            <a:outerShdw sx="100000" sy="100000" kx="0" ky="0" algn="bl" rotWithShape="0" blurRad="88900" dist="25400" dir="5400000">
              <a:srgbClr val="0A2942">
                <a:alpha val="1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470648" y="1801368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de lutte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470648" y="2423160"/>
            <a:ext cx="1691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C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Spleen effect maximal,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C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bradycardie renforcée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9336024" y="2221992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9509760" y="1600200"/>
            <a:ext cx="2093976" cy="1783080"/>
          </a:xfrm>
          <a:prstGeom prst="roundRect">
            <a:avLst>
              <a:gd name="adj" fmla="val 4103"/>
            </a:avLst>
          </a:prstGeom>
          <a:solidFill>
            <a:srgbClr val="2C8C5A"/>
          </a:solidFill>
          <a:ln/>
          <a:effectLst>
            <a:outerShdw sx="100000" sy="100000" kx="0" ky="0" algn="bl" rotWithShape="0" blurRad="88900" dist="25400" dir="5400000">
              <a:srgbClr val="0A2942">
                <a:alpha val="16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710928" y="1801368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Reprise ventilatoire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710928" y="2423160"/>
            <a:ext cx="1691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C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Sortie + ventilation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C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récupération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48640" y="352044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C8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CONFORT  —  la seule zone de travail en formation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675120" y="352044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95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LUTTE  —  zone d'expertise, toujours très encadrée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66928" y="3456432"/>
            <a:ext cx="5486400" cy="0"/>
          </a:xfrm>
          <a:prstGeom prst="line">
            <a:avLst/>
          </a:prstGeom>
          <a:noFill/>
          <a:ln w="28575">
            <a:solidFill>
              <a:srgbClr val="2C8C5A"/>
            </a:solidFill>
            <a:prstDash val="dash"/>
          </a:ln>
        </p:spPr>
      </p:sp>
      <p:sp>
        <p:nvSpPr>
          <p:cNvPr id="26" name="Shape 24"/>
          <p:cNvSpPr/>
          <p:nvPr/>
        </p:nvSpPr>
        <p:spPr>
          <a:xfrm>
            <a:off x="6693408" y="3456432"/>
            <a:ext cx="4892040" cy="0"/>
          </a:xfrm>
          <a:prstGeom prst="line">
            <a:avLst/>
          </a:prstGeom>
          <a:noFill/>
          <a:ln w="28575">
            <a:solidFill>
              <a:srgbClr val="D9541E"/>
            </a:solidFill>
            <a:prstDash val="dash"/>
          </a:ln>
        </p:spPr>
      </p:sp>
      <p:sp>
        <p:nvSpPr>
          <p:cNvPr id="27" name="Shape 25"/>
          <p:cNvSpPr/>
          <p:nvPr/>
        </p:nvSpPr>
        <p:spPr>
          <a:xfrm>
            <a:off x="548640" y="4069080"/>
            <a:ext cx="11073384" cy="2057400"/>
          </a:xfrm>
          <a:prstGeom prst="roundRect">
            <a:avLst>
              <a:gd name="adj" fmla="val 4000"/>
            </a:avLst>
          </a:prstGeom>
          <a:solidFill>
            <a:srgbClr val="FBE9E1"/>
          </a:solidFill>
          <a:ln/>
          <a:effectLst>
            <a:outerShdw sx="100000" sy="100000" kx="0" ky="0" algn="bl" rotWithShape="0" blurRad="88900" dist="25400" dir="5400000">
              <a:srgbClr val="0A2942">
                <a:alpha val="16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822960" y="4343400"/>
            <a:ext cx="566928" cy="566928"/>
          </a:xfrm>
          <a:prstGeom prst="ellipse">
            <a:avLst/>
          </a:prstGeom>
          <a:solidFill>
            <a:srgbClr val="D9541E"/>
          </a:solidFill>
          <a:ln/>
        </p:spPr>
      </p:sp>
      <p:pic>
        <p:nvPicPr>
          <p:cNvPr id="2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0361" y="4490801"/>
            <a:ext cx="272125" cy="272125"/>
          </a:xfrm>
          <a:prstGeom prst="rect">
            <a:avLst/>
          </a:prstGeom>
        </p:spPr>
      </p:pic>
      <p:sp>
        <p:nvSpPr>
          <p:cNvPr id="30" name="Text 27"/>
          <p:cNvSpPr/>
          <p:nvPr/>
        </p:nvSpPr>
        <p:spPr>
          <a:xfrm>
            <a:off x="1600200" y="4315968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9C3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l'apnée est prolongée au-delà des signaux…</a:t>
            </a:r>
            <a:endParaRPr lang="en-US" sz="1450" dirty="0"/>
          </a:p>
        </p:txBody>
      </p:sp>
      <p:sp>
        <p:nvSpPr>
          <p:cNvPr id="31" name="Text 28"/>
          <p:cNvSpPr/>
          <p:nvPr/>
        </p:nvSpPr>
        <p:spPr>
          <a:xfrm>
            <a:off x="1600200" y="4709160"/>
            <a:ext cx="97383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F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Hypoxie profonde → signes annonciateurs (chaleur, picotements, phosphènes) → </a:t>
            </a:r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9C3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PCM / « samba »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F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(perte de contrôle moteur) → </a:t>
            </a:r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9C3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syncope hypoxique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F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 La rupture d'apnée est déclenchée par le CO₂ ; la syncope est provoquée par le manque d'O₂ : deux horloges différentes — l'hyperventilation désynchronise la première sans retarder la seconde.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GAZ DU SANG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33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Deux horloges internes : O₂ et CO₂</a:t>
            </a:r>
            <a:endParaRPr lang="en-US" sz="29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417320"/>
          <a:ext cx="6949440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772400" y="1417320"/>
            <a:ext cx="3840480" cy="1444752"/>
          </a:xfrm>
          <a:prstGeom prst="roundRect">
            <a:avLst>
              <a:gd name="adj" fmla="val 5696"/>
            </a:avLst>
          </a:prstGeom>
          <a:solidFill>
            <a:srgbClr val="FBE9E1"/>
          </a:solidFill>
          <a:ln/>
          <a:effectLst>
            <a:outerShdw sx="100000" sy="100000" kx="0" ky="0" algn="bl" rotWithShape="0" blurRad="88900" dist="25400" dir="5400000">
              <a:srgbClr val="0A2942">
                <a:alpha val="16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028432" y="1545336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C3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PaCO₂ ≈ 47–48 mmHg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028432" y="1856232"/>
            <a:ext cx="3383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F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Premières contractions diaphragmatiques : l'alarme sonne tôt, bien avant le danger.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7772400" y="3026664"/>
            <a:ext cx="3840480" cy="1444752"/>
          </a:xfrm>
          <a:prstGeom prst="roundRect">
            <a:avLst>
              <a:gd name="adj" fmla="val 5696"/>
            </a:avLst>
          </a:prstGeom>
          <a:solidFill>
            <a:srgbClr val="DCEBF5"/>
          </a:solidFill>
          <a:ln/>
          <a:effectLst>
            <a:outerShdw sx="100000" sy="100000" kx="0" ky="0" algn="bl" rotWithShape="0" blurRad="88900" dist="25400" dir="5400000">
              <a:srgbClr val="0A2942">
                <a:alpha val="16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8028432" y="315468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PaO₂ &lt; 30 mmHg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028432" y="3465576"/>
            <a:ext cx="3383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F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syncopale : le cerveau disjoncte sans prévenir. À la remontée, la chute de pression accélère brutalement la baisse de PaO₂.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7772400" y="4636008"/>
            <a:ext cx="3840480" cy="1444752"/>
          </a:xfrm>
          <a:prstGeom prst="roundRect">
            <a:avLst>
              <a:gd name="adj" fmla="val 5696"/>
            </a:avLst>
          </a:prstGeom>
          <a:solidFill>
            <a:srgbClr val="E7F3EC"/>
          </a:solidFill>
          <a:ln/>
          <a:effectLst>
            <a:outerShdw sx="100000" sy="100000" kx="0" ky="0" algn="bl" rotWithShape="0" blurRad="88900" dist="25400" dir="5400000">
              <a:srgbClr val="0A2942">
                <a:alpha val="16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8028432" y="4764024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8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Après l'entraînement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8028432" y="5074920"/>
            <a:ext cx="3383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F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courbes s'aplatissent : consommation réduite, seuils de tolérance repoussés — jamais l'inverse (alarme supprimée).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NOTION CLÉ ACTUALISÉE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33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réflexe d'immersion, notre héritage de mammifère marin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383280" cy="4023360"/>
          </a:xfrm>
          <a:prstGeom prst="roundRect">
            <a:avLst>
              <a:gd name="adj" fmla="val 2432"/>
            </a:avLst>
          </a:prstGeom>
          <a:solidFill>
            <a:srgbClr val="DCEBF5"/>
          </a:solidFill>
          <a:ln/>
          <a:effectLst>
            <a:outerShdw sx="100000" sy="100000" kx="0" ky="0" algn="bl" rotWithShape="0" blurRad="88900" dist="25400" dir="5400000">
              <a:srgbClr val="0A2942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664208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DÉCLENCHEURS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841248" y="210312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221992"/>
            <a:ext cx="219456" cy="21945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44752" y="2048256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F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Immersion du visage (nerf trijumeau)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841248" y="2944368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3063240"/>
            <a:ext cx="219456" cy="21945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444752" y="2889504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F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Eau froide : réponse amplifiée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841248" y="3785616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3904488"/>
            <a:ext cx="219456" cy="21945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444752" y="3730752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F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Arrêt ventilatoire (apnée)</a:t>
            </a:r>
            <a:endParaRPr lang="en-US" sz="1150" dirty="0"/>
          </a:p>
        </p:txBody>
      </p:sp>
      <p:sp>
        <p:nvSpPr>
          <p:cNvPr id="15" name="Shape 10"/>
          <p:cNvSpPr/>
          <p:nvPr/>
        </p:nvSpPr>
        <p:spPr>
          <a:xfrm>
            <a:off x="841248" y="4626864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4745736"/>
            <a:ext cx="219456" cy="219456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444752" y="4572000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F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Pression hydrostatique (profondeur)</a:t>
            </a:r>
            <a:endParaRPr lang="en-US" sz="1150" dirty="0"/>
          </a:p>
        </p:txBody>
      </p:sp>
      <p:sp>
        <p:nvSpPr>
          <p:cNvPr id="18" name="Shape 12"/>
          <p:cNvSpPr/>
          <p:nvPr/>
        </p:nvSpPr>
        <p:spPr>
          <a:xfrm>
            <a:off x="4434840" y="2743200"/>
            <a:ext cx="1737360" cy="1737360"/>
          </a:xfrm>
          <a:prstGeom prst="ellipse">
            <a:avLst/>
          </a:prstGeom>
          <a:solidFill>
            <a:srgbClr val="065A82"/>
          </a:solidFill>
          <a:ln w="381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5400000">
              <a:srgbClr val="0A2942">
                <a:alpha val="16000"/>
              </a:srgbClr>
            </a:outerShdw>
          </a:effectLst>
        </p:spPr>
      </p:sp>
      <p:sp>
        <p:nvSpPr>
          <p:cNvPr id="19" name="Text 13"/>
          <p:cNvSpPr/>
          <p:nvPr/>
        </p:nvSpPr>
        <p:spPr>
          <a:xfrm>
            <a:off x="4434840" y="274320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RÉFLEXE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D'IMMERSION</a:t>
            </a:r>
            <a:endParaRPr lang="en-US" sz="1250" dirty="0"/>
          </a:p>
        </p:txBody>
      </p:sp>
      <p:sp>
        <p:nvSpPr>
          <p:cNvPr id="20" name="Shape 14"/>
          <p:cNvSpPr/>
          <p:nvPr/>
        </p:nvSpPr>
        <p:spPr>
          <a:xfrm>
            <a:off x="3950208" y="3611880"/>
            <a:ext cx="457200" cy="0"/>
          </a:xfrm>
          <a:prstGeom prst="line">
            <a:avLst/>
          </a:prstGeom>
          <a:noFill/>
          <a:ln w="3175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21" name="Shape 15"/>
          <p:cNvSpPr/>
          <p:nvPr/>
        </p:nvSpPr>
        <p:spPr>
          <a:xfrm>
            <a:off x="6199632" y="3611880"/>
            <a:ext cx="502920" cy="-169164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6720840" y="1463040"/>
            <a:ext cx="4892040" cy="914400"/>
          </a:xfrm>
          <a:prstGeom prst="roundRect">
            <a:avLst>
              <a:gd name="adj" fmla="val 9000"/>
            </a:avLst>
          </a:prstGeom>
          <a:solidFill>
            <a:srgbClr val="F2F7FB"/>
          </a:solidFill>
          <a:ln/>
          <a:effectLst>
            <a:outerShdw sx="100000" sy="100000" kx="0" ky="0" algn="bl" rotWithShape="0" blurRad="88900" dist="25400" dir="5400000">
              <a:srgbClr val="0A2942">
                <a:alpha val="16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6903720" y="1664208"/>
            <a:ext cx="475488" cy="475488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27347" y="1787835"/>
            <a:ext cx="228234" cy="228234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7543800" y="15544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Bradycardie</a:t>
            </a:r>
            <a:endParaRPr lang="en-US" sz="1250" dirty="0"/>
          </a:p>
        </p:txBody>
      </p:sp>
      <p:sp>
        <p:nvSpPr>
          <p:cNvPr id="26" name="Text 19"/>
          <p:cNvSpPr/>
          <p:nvPr/>
        </p:nvSpPr>
        <p:spPr>
          <a:xfrm>
            <a:off x="7543800" y="1865376"/>
            <a:ext cx="3977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B7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 −10 à −40 % : le cœur ralentit, l'O₂ est épargné.</a:t>
            </a:r>
            <a:endParaRPr lang="en-US" sz="1050" dirty="0"/>
          </a:p>
        </p:txBody>
      </p:sp>
      <p:sp>
        <p:nvSpPr>
          <p:cNvPr id="27" name="Shape 20"/>
          <p:cNvSpPr/>
          <p:nvPr/>
        </p:nvSpPr>
        <p:spPr>
          <a:xfrm>
            <a:off x="6199632" y="3611880"/>
            <a:ext cx="502920" cy="-649224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28" name="Shape 21"/>
          <p:cNvSpPr/>
          <p:nvPr/>
        </p:nvSpPr>
        <p:spPr>
          <a:xfrm>
            <a:off x="6720840" y="2505456"/>
            <a:ext cx="4892040" cy="914400"/>
          </a:xfrm>
          <a:prstGeom prst="roundRect">
            <a:avLst>
              <a:gd name="adj" fmla="val 9000"/>
            </a:avLst>
          </a:prstGeom>
          <a:solidFill>
            <a:srgbClr val="F2F7FB"/>
          </a:solidFill>
          <a:ln/>
          <a:effectLst>
            <a:outerShdw sx="100000" sy="100000" kx="0" ky="0" algn="bl" rotWithShape="0" blurRad="88900" dist="25400" dir="5400000">
              <a:srgbClr val="0A2942">
                <a:alpha val="16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6903720" y="2706624"/>
            <a:ext cx="475488" cy="475488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27347" y="2830251"/>
            <a:ext cx="228234" cy="228234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7543800" y="2596896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Vasoconstriction périphérique</a:t>
            </a:r>
            <a:endParaRPr lang="en-US" sz="1250" dirty="0"/>
          </a:p>
        </p:txBody>
      </p:sp>
      <p:sp>
        <p:nvSpPr>
          <p:cNvPr id="32" name="Text 24"/>
          <p:cNvSpPr/>
          <p:nvPr/>
        </p:nvSpPr>
        <p:spPr>
          <a:xfrm>
            <a:off x="7543800" y="2907792"/>
            <a:ext cx="3977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B7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sang quitte muscles et peau au profit du cœur et du cerveau.</a:t>
            </a:r>
            <a:endParaRPr lang="en-US" sz="1050" dirty="0"/>
          </a:p>
        </p:txBody>
      </p:sp>
      <p:sp>
        <p:nvSpPr>
          <p:cNvPr id="33" name="Shape 25"/>
          <p:cNvSpPr/>
          <p:nvPr/>
        </p:nvSpPr>
        <p:spPr>
          <a:xfrm>
            <a:off x="6199632" y="3611880"/>
            <a:ext cx="502920" cy="393192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34" name="Shape 26"/>
          <p:cNvSpPr/>
          <p:nvPr/>
        </p:nvSpPr>
        <p:spPr>
          <a:xfrm>
            <a:off x="6720840" y="3547872"/>
            <a:ext cx="4892040" cy="914400"/>
          </a:xfrm>
          <a:prstGeom prst="roundRect">
            <a:avLst>
              <a:gd name="adj" fmla="val 9000"/>
            </a:avLst>
          </a:prstGeom>
          <a:solidFill>
            <a:srgbClr val="F2F7FB"/>
          </a:solidFill>
          <a:ln/>
          <a:effectLst>
            <a:outerShdw sx="100000" sy="100000" kx="0" ky="0" algn="bl" rotWithShape="0" blurRad="88900" dist="25400" dir="5400000">
              <a:srgbClr val="0A2942">
                <a:alpha val="16000"/>
              </a:srgbClr>
            </a:outerShdw>
          </a:effectLst>
        </p:spPr>
      </p:sp>
      <p:sp>
        <p:nvSpPr>
          <p:cNvPr id="35" name="Shape 27"/>
          <p:cNvSpPr/>
          <p:nvPr/>
        </p:nvSpPr>
        <p:spPr>
          <a:xfrm>
            <a:off x="6903720" y="3749040"/>
            <a:ext cx="475488" cy="475488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3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27347" y="3872667"/>
            <a:ext cx="228234" cy="228234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7543800" y="363931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Contraction splénique</a:t>
            </a:r>
            <a:endParaRPr lang="en-US" sz="1250" dirty="0"/>
          </a:p>
        </p:txBody>
      </p:sp>
      <p:sp>
        <p:nvSpPr>
          <p:cNvPr id="38" name="Text 29"/>
          <p:cNvSpPr/>
          <p:nvPr/>
        </p:nvSpPr>
        <p:spPr>
          <a:xfrm>
            <a:off x="7543800" y="3950208"/>
            <a:ext cx="3977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B7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rate injecte des globules rouges : hématocrite +2 à +5 %.</a:t>
            </a:r>
            <a:endParaRPr lang="en-US" sz="1050" dirty="0"/>
          </a:p>
        </p:txBody>
      </p:sp>
      <p:sp>
        <p:nvSpPr>
          <p:cNvPr id="39" name="Shape 30"/>
          <p:cNvSpPr/>
          <p:nvPr/>
        </p:nvSpPr>
        <p:spPr>
          <a:xfrm>
            <a:off x="6199632" y="3611880"/>
            <a:ext cx="502920" cy="1435608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40" name="Shape 31"/>
          <p:cNvSpPr/>
          <p:nvPr/>
        </p:nvSpPr>
        <p:spPr>
          <a:xfrm>
            <a:off x="6720840" y="4590288"/>
            <a:ext cx="4892040" cy="914400"/>
          </a:xfrm>
          <a:prstGeom prst="roundRect">
            <a:avLst>
              <a:gd name="adj" fmla="val 9000"/>
            </a:avLst>
          </a:prstGeom>
          <a:solidFill>
            <a:srgbClr val="F2F7FB"/>
          </a:solidFill>
          <a:ln/>
          <a:effectLst>
            <a:outerShdw sx="100000" sy="100000" kx="0" ky="0" algn="bl" rotWithShape="0" blurRad="88900" dist="25400" dir="5400000">
              <a:srgbClr val="0A2942">
                <a:alpha val="16000"/>
              </a:srgbClr>
            </a:outerShdw>
          </a:effectLst>
        </p:spPr>
      </p:sp>
      <p:sp>
        <p:nvSpPr>
          <p:cNvPr id="41" name="Shape 32"/>
          <p:cNvSpPr/>
          <p:nvPr/>
        </p:nvSpPr>
        <p:spPr>
          <a:xfrm>
            <a:off x="6903720" y="4791456"/>
            <a:ext cx="475488" cy="475488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4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27347" y="4915083"/>
            <a:ext cx="228234" cy="228234"/>
          </a:xfrm>
          <a:prstGeom prst="rect">
            <a:avLst/>
          </a:prstGeom>
        </p:spPr>
      </p:pic>
      <p:sp>
        <p:nvSpPr>
          <p:cNvPr id="43" name="Text 33"/>
          <p:cNvSpPr/>
          <p:nvPr/>
        </p:nvSpPr>
        <p:spPr>
          <a:xfrm>
            <a:off x="7543800" y="468172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 shift</a:t>
            </a:r>
            <a:endParaRPr lang="en-US" sz="1250" dirty="0"/>
          </a:p>
        </p:txBody>
      </p:sp>
      <p:sp>
        <p:nvSpPr>
          <p:cNvPr id="44" name="Text 34"/>
          <p:cNvSpPr/>
          <p:nvPr/>
        </p:nvSpPr>
        <p:spPr>
          <a:xfrm>
            <a:off x="7543800" y="4992624"/>
            <a:ext cx="3977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B7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profondeur, le sang afflue vers le thorax et protège les poumons.</a:t>
            </a:r>
            <a:endParaRPr lang="en-US" sz="1050" dirty="0"/>
          </a:p>
        </p:txBody>
      </p:sp>
      <p:sp>
        <p:nvSpPr>
          <p:cNvPr id="45" name="Text 35"/>
          <p:cNvSpPr/>
          <p:nvPr/>
        </p:nvSpPr>
        <p:spPr>
          <a:xfrm>
            <a:off x="548640" y="58064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réflexe s'entraîne : il devient plus rapide et plus profond avec la répétition des immersions — c'est la base de l'échauffement spécifique.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DEUX DÉCOUVERTES QUI ONT CHANGÉ L'ENTRAÎNEMENT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33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Spleen effect &amp; blood shift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440680" cy="4160520"/>
          </a:xfrm>
          <a:prstGeom prst="roundRect">
            <a:avLst>
              <a:gd name="adj" fmla="val 1978"/>
            </a:avLst>
          </a:prstGeom>
          <a:solidFill>
            <a:srgbClr val="F2F7FB"/>
          </a:solidFill>
          <a:ln/>
          <a:effectLst>
            <a:outerShdw sx="100000" sy="100000" kx="0" ky="0" algn="bl" rotWithShape="0" blurRad="88900" dist="25400" dir="5400000">
              <a:srgbClr val="0A2942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737360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0361" y="1884761"/>
            <a:ext cx="272125" cy="27212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755648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F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« spleen effect » (rate)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868680" y="2468880"/>
            <a:ext cx="48463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5B7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rate stocke un volume de sang très riche en globules rouges.</a:t>
            </a:r>
            <a:endParaRPr lang="en-US" sz="1200" dirty="0"/>
          </a:p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5B7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apnée, elle se contracte et libère ce sang : hématocrite +2 à +5 %, donc plus d'O₂ transporté.</a:t>
            </a:r>
            <a:endParaRPr lang="en-US" sz="1200" dirty="0"/>
          </a:p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5B7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L'effet se renforce sur des apnées successives : les 3e et 4e apnées sont souvent plus faciles que la 1ère.</a:t>
            </a:r>
            <a:endParaRPr lang="en-US" sz="1200" dirty="0"/>
          </a:p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5B7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persiste plusieurs minutes après l'effort.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868680" y="4754880"/>
            <a:ext cx="4800600" cy="685800"/>
          </a:xfrm>
          <a:prstGeom prst="roundRect">
            <a:avLst>
              <a:gd name="adj" fmla="val 10667"/>
            </a:avLst>
          </a:prstGeom>
          <a:solidFill>
            <a:srgbClr val="E7F3EC"/>
          </a:solidFill>
          <a:ln/>
        </p:spPr>
      </p:sp>
      <p:sp>
        <p:nvSpPr>
          <p:cNvPr id="10" name="Text 7"/>
          <p:cNvSpPr/>
          <p:nvPr/>
        </p:nvSpPr>
        <p:spPr>
          <a:xfrm>
            <a:off x="1051560" y="4791456"/>
            <a:ext cx="4480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2C8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Conséquence pédagogique : l'échauffement par apnées progressives n'est pas un rituel, c'est de la physiologie.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181344" y="1463040"/>
            <a:ext cx="5440680" cy="4160520"/>
          </a:xfrm>
          <a:prstGeom prst="roundRect">
            <a:avLst>
              <a:gd name="adj" fmla="val 1978"/>
            </a:avLst>
          </a:prstGeom>
          <a:solidFill>
            <a:srgbClr val="F2F7FB"/>
          </a:solidFill>
          <a:ln/>
          <a:effectLst>
            <a:outerShdw sx="100000" sy="100000" kx="0" ky="0" algn="bl" rotWithShape="0" blurRad="88900" dist="25400" dir="5400000">
              <a:srgbClr val="0A2942">
                <a:alpha val="1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55664" y="1737360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3065" y="1884761"/>
            <a:ext cx="272125" cy="272125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32904" y="1755648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F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« blood shift » (profondeur)</a:t>
            </a:r>
            <a:endParaRPr lang="en-US" sz="1650" dirty="0"/>
          </a:p>
        </p:txBody>
      </p:sp>
      <p:sp>
        <p:nvSpPr>
          <p:cNvPr id="15" name="Text 11"/>
          <p:cNvSpPr/>
          <p:nvPr/>
        </p:nvSpPr>
        <p:spPr>
          <a:xfrm>
            <a:off x="6501384" y="2468880"/>
            <a:ext cx="48463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5B7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Avec la pression, le volume pulmonaire se comprime (loi de Boyle) vers le volume résiduel.</a:t>
            </a:r>
            <a:endParaRPr lang="en-US" sz="1200" dirty="0"/>
          </a:p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5B7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sang migre vers les vaisseaux pulmonaires et comble l'espace : le thorax ne s'écrase pas.</a:t>
            </a:r>
            <a:endParaRPr lang="en-US" sz="1200" dirty="0"/>
          </a:p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5B7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C'est ce qui permet de plonger bien au-delà de la limite théorique donnée par le rapport CPT/VR.</a:t>
            </a:r>
            <a:endParaRPr lang="en-US" sz="1200" dirty="0"/>
          </a:p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5B7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Mécanisme entraînable, mais à respecter : forcé, il expose à l'œdème pulmonaire d'immersion.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6501384" y="4754880"/>
            <a:ext cx="4800600" cy="685800"/>
          </a:xfrm>
          <a:prstGeom prst="roundRect">
            <a:avLst>
              <a:gd name="adj" fmla="val 10667"/>
            </a:avLst>
          </a:prstGeom>
          <a:solidFill>
            <a:srgbClr val="FBE9E1"/>
          </a:solidFill>
          <a:ln/>
        </p:spPr>
      </p:sp>
      <p:sp>
        <p:nvSpPr>
          <p:cNvPr id="17" name="Text 13"/>
          <p:cNvSpPr/>
          <p:nvPr/>
        </p:nvSpPr>
        <p:spPr>
          <a:xfrm>
            <a:off x="6684264" y="4791456"/>
            <a:ext cx="4480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9C3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Progressivité en profondeur obligatoire : le blood shift se prépare sur des semaines, pas sur une séance.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548640" y="58978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7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Ces deux mécanismes expliquent pourquoi les « limites théoriques » calculées dans les années 1960 ont toutes été pulvérisées.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FAMILLE 1 · ENTRAÎNABILITÉ FAIBLE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33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facteurs morphologiques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7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Aptitudes largement innées : le gain possible est réel mais limité — on optimise, on ne transforme pas.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11073384" cy="1024128"/>
          </a:xfrm>
          <a:prstGeom prst="roundRect">
            <a:avLst>
              <a:gd name="adj" fmla="val 8036"/>
            </a:avLst>
          </a:prstGeom>
          <a:solidFill>
            <a:srgbClr val="F2F7FB"/>
          </a:solidFill>
          <a:ln/>
          <a:effectLst>
            <a:outerShdw sx="100000" sy="100000" kx="0" ky="0" algn="bl" rotWithShape="0" blurRad="88900" dist="25400" dir="5400000">
              <a:srgbClr val="0A2942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78308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Souplesse de la cage thoracique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526280" y="1783080"/>
            <a:ext cx="4297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1F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cage mobile augmente la CPT à l'inspiration et diminue le VR utile à l'expiration — le ratio CPT/VR est un vrai marqueur d'aptitude à la profondeur.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9006840" y="1856232"/>
            <a:ext cx="2423160" cy="694944"/>
          </a:xfrm>
          <a:prstGeom prst="roundRect">
            <a:avLst>
              <a:gd name="adj" fmla="val 9211"/>
            </a:avLst>
          </a:prstGeom>
          <a:solidFill>
            <a:srgbClr val="DCEBF5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0" y="1874520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9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Assouplissements, hatha-yoga, étirements intercostaux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48640" y="2862072"/>
            <a:ext cx="11073384" cy="1024128"/>
          </a:xfrm>
          <a:prstGeom prst="roundRect">
            <a:avLst>
              <a:gd name="adj" fmla="val 8036"/>
            </a:avLst>
          </a:prstGeom>
          <a:solidFill>
            <a:srgbClr val="F2F7FB"/>
          </a:solidFill>
          <a:ln/>
          <a:effectLst>
            <a:outerShdw sx="100000" sy="100000" kx="0" ky="0" algn="bl" rotWithShape="0" blurRad="88900" dist="25400" dir="5400000">
              <a:srgbClr val="0A2942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22960" y="2953512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Musculature ventilatoire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526280" y="2953512"/>
            <a:ext cx="4297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1F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Inspirateurs et expirateurs puissants et endurants : meilleure inspiration finale, meilleur renouvellement de l'air.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9006840" y="3026664"/>
            <a:ext cx="2423160" cy="694944"/>
          </a:xfrm>
          <a:prstGeom prst="roundRect">
            <a:avLst>
              <a:gd name="adj" fmla="val 9211"/>
            </a:avLst>
          </a:prstGeom>
          <a:solidFill>
            <a:srgbClr val="DCEBF5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0" y="3044952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9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Pranayama, expirations résistées, natation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48640" y="4032504"/>
            <a:ext cx="11073384" cy="1024128"/>
          </a:xfrm>
          <a:prstGeom prst="roundRect">
            <a:avLst>
              <a:gd name="adj" fmla="val 8036"/>
            </a:avLst>
          </a:prstGeom>
          <a:solidFill>
            <a:srgbClr val="F2F7FB"/>
          </a:solidFill>
          <a:ln/>
          <a:effectLst>
            <a:outerShdw sx="100000" sy="100000" kx="0" ky="0" algn="bl" rotWithShape="0" blurRad="88900" dist="25400" dir="5400000">
              <a:srgbClr val="0A2942">
                <a:alpha val="16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22960" y="4123944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Souplesse du diaphragme et de la chaîne postérieure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526280" y="4123944"/>
            <a:ext cx="4297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1F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Conditionne la ventilation abdominale, la tolérance aux contractions et le confort en profondeur.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9006840" y="4197096"/>
            <a:ext cx="2423160" cy="694944"/>
          </a:xfrm>
          <a:prstGeom prst="roundRect">
            <a:avLst>
              <a:gd name="adj" fmla="val 9211"/>
            </a:avLst>
          </a:prstGeom>
          <a:solidFill>
            <a:srgbClr val="DCEBF5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0" y="4215384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9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Uddiyana bandha, étirements ciblés, mobilité rachis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48640" y="5202936"/>
            <a:ext cx="11073384" cy="1024128"/>
          </a:xfrm>
          <a:prstGeom prst="roundRect">
            <a:avLst>
              <a:gd name="adj" fmla="val 8036"/>
            </a:avLst>
          </a:prstGeom>
          <a:solidFill>
            <a:srgbClr val="F2F7FB"/>
          </a:solidFill>
          <a:ln/>
          <a:effectLst>
            <a:outerShdw sx="100000" sy="100000" kx="0" ky="0" algn="bl" rotWithShape="0" blurRad="88900" dist="25400" dir="5400000">
              <a:srgbClr val="0A2942">
                <a:alpha val="16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22960" y="5294376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Anatomie tubaire — la BTV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526280" y="5294376"/>
            <a:ext cx="4297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1F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béance tubaire volontaire libère les mains et l'attention : gain d'énergie et d'hydrodynamisme. Partiellement apprenable.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9006840" y="5367528"/>
            <a:ext cx="2423160" cy="694944"/>
          </a:xfrm>
          <a:prstGeom prst="roundRect">
            <a:avLst>
              <a:gd name="adj" fmla="val 9211"/>
            </a:avLst>
          </a:prstGeom>
          <a:solidFill>
            <a:srgbClr val="DCEBF5"/>
          </a:solidFill>
          <a:ln/>
        </p:spPr>
      </p:sp>
      <p:sp>
        <p:nvSpPr>
          <p:cNvPr id="24" name="Text 22"/>
          <p:cNvSpPr/>
          <p:nvPr/>
        </p:nvSpPr>
        <p:spPr>
          <a:xfrm>
            <a:off x="9144000" y="5385816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9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Exercices spécifiques d'ouverture tubaire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FAMILLE 2 · ENTRAÎNABILITÉ FORTE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33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facteurs physiologiques : le cœur de l'entraînement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440680" cy="2212848"/>
          </a:xfrm>
          <a:prstGeom prst="roundRect">
            <a:avLst>
              <a:gd name="adj" fmla="val 3719"/>
            </a:avLst>
          </a:prstGeom>
          <a:solidFill>
            <a:srgbClr val="F2F7FB"/>
          </a:solidFill>
          <a:ln/>
          <a:effectLst>
            <a:outerShdw sx="100000" sy="100000" kx="0" ky="0" algn="bl" rotWithShape="0" blurRad="88900" dist="25400" dir="5400000">
              <a:srgbClr val="0A2942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664208"/>
            <a:ext cx="475488" cy="475488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3435" y="1787835"/>
            <a:ext cx="228234" cy="22823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645920"/>
            <a:ext cx="4480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aérobie (VO₂max)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04672" y="2267712"/>
            <a:ext cx="4928616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B7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bon moteur aérobie consomme moins d'O₂ à effort égal et recycle mieux les lactates. Se construit hors de l'eau : natation, course, vélo — en amont de tout travail spécifique.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181344" y="1463040"/>
            <a:ext cx="5440680" cy="2212848"/>
          </a:xfrm>
          <a:prstGeom prst="roundRect">
            <a:avLst>
              <a:gd name="adj" fmla="val 3719"/>
            </a:avLst>
          </a:prstGeom>
          <a:solidFill>
            <a:srgbClr val="F2F7FB"/>
          </a:solidFill>
          <a:ln/>
          <a:effectLst>
            <a:outerShdw sx="100000" sy="100000" kx="0" ky="0" algn="bl" rotWithShape="0" blurRad="88900" dist="25400" dir="5400000">
              <a:srgbClr val="0A2942">
                <a:alpha val="1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382512" y="1664208"/>
            <a:ext cx="475488" cy="475488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6139" y="1787835"/>
            <a:ext cx="228234" cy="22823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004304" y="1645920"/>
            <a:ext cx="4480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Tolérance à l'hypercapnie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6437376" y="2267712"/>
            <a:ext cx="4928616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B7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Abaisser la réponse des chémorécepteurs centraux (bulbe rachidien) à la montée du CO₂ : reculer l'inconfort, pas l'alarme. Outil roi : les tables CO₂ (récupérations courtes).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48640" y="3904488"/>
            <a:ext cx="5440680" cy="2212848"/>
          </a:xfrm>
          <a:prstGeom prst="roundRect">
            <a:avLst>
              <a:gd name="adj" fmla="val 3719"/>
            </a:avLst>
          </a:prstGeom>
          <a:solidFill>
            <a:srgbClr val="F2F7FB"/>
          </a:solidFill>
          <a:ln/>
          <a:effectLst>
            <a:outerShdw sx="100000" sy="100000" kx="0" ky="0" algn="bl" rotWithShape="0" blurRad="88900" dist="25400" dir="5400000">
              <a:srgbClr val="0A2942">
                <a:alpha val="16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49808" y="4105656"/>
            <a:ext cx="475488" cy="475488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435" y="4229283"/>
            <a:ext cx="228234" cy="22823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371600" y="4087368"/>
            <a:ext cx="4480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Tolérance à l'hypoxie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804672" y="4709160"/>
            <a:ext cx="4928616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B7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Habituer les chémorécepteurs périphériques (sinus carotidiens, crosse aortique) à des PaO₂ basses. Outil : tables O₂ (apnées croissantes, récupérations longues). Travail d'expert, très encadré.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181344" y="3904488"/>
            <a:ext cx="5440680" cy="2212848"/>
          </a:xfrm>
          <a:prstGeom prst="roundRect">
            <a:avLst>
              <a:gd name="adj" fmla="val 3719"/>
            </a:avLst>
          </a:prstGeom>
          <a:solidFill>
            <a:srgbClr val="F2F7FB"/>
          </a:solidFill>
          <a:ln/>
          <a:effectLst>
            <a:outerShdw sx="100000" sy="100000" kx="0" ky="0" algn="bl" rotWithShape="0" blurRad="88900" dist="25400" dir="5400000">
              <a:srgbClr val="0A2942">
                <a:alpha val="16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382512" y="4105656"/>
            <a:ext cx="475488" cy="475488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6139" y="4229283"/>
            <a:ext cx="228234" cy="22823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004304" y="4087368"/>
            <a:ext cx="4480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Filière anaérobie &amp; sang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6437376" y="4709160"/>
            <a:ext cx="4928616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B7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Exercices courts, intenses, répétés : moins de lactates produits, relargage retardé, tamponnement amélioré. S'y ajoutent hématocrite, myoglobine et spleen effect entraîné.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548640" y="60807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C'est ici que l'entraînement paie le plus vite — et que l'encadrement doit être le plus rigoureux.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COMPARATIF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33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Hypercapnie vs hypoxie : deux tolérances, deux entraînements</a:t>
            </a:r>
            <a:endParaRPr lang="en-US" sz="29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73384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4480560"/>
                <a:gridCol w="44805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TOLÉRANCE À L'HYPERCAPNIE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TOLÉRANCE À L'HYPOXIE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F33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Stimulus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B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33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Montée de la PaCO₂ (et baisse du pH)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33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Chute de la PaO₂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F33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Récepteurs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B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33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Chémorécepteurs centraux — bulbe rachidien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33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Chémorécepteurs périphériques — sinus carotidiens, crosse aortique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F33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 que ressent l'apnéiste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B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33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Envie de ventiler, contractions diaphragmatiques : signal fort et précoce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33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Presque rien : chaleur, picotements, euphorie… puis syncope sans prévenir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F33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Entraînement type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B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33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Tables CO₂ : apnées constantes, récupérations courtes et décroissantes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33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Tables O₂ : apnées croissantes, récupérations longues et complètes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F33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Niveau de risque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B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33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Inconfort important, risque modéré si encadré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33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Risque élevé (syncope) : réservé aux experts, jamais seul, jamais dans l'eau sans surveillance rapprochée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1264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9C3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Règle d'or du cadre : on entraîne la tolérance au CO₂ largement, la tolérance à l'hypoxie avec parcimonie — et on n'efface jamais les signaux (hyperventilation proscrite).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FAMILLE 3 · ENTRAÎNABILITÉ FORTE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33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facteurs psychologiques : éteindre le cerveau qui consomme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073384" cy="914400"/>
          </a:xfrm>
          <a:prstGeom prst="roundRect">
            <a:avLst>
              <a:gd name="adj" fmla="val 9000"/>
            </a:avLst>
          </a:prstGeom>
          <a:solidFill>
            <a:srgbClr val="DCEBF5"/>
          </a:solidFill>
          <a:ln/>
          <a:effectLst>
            <a:outerShdw sx="100000" sy="100000" kx="0" ky="0" algn="bl" rotWithShape="0" blurRad="88900" dist="25400" dir="5400000">
              <a:srgbClr val="0A2942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3716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cerveau consomme ≈ 20 % de l'O₂ du corps pour 2 % de son poids.  </a:t>
            </a:r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1F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Faire le vide » n'est pas une image : réduire l'activité mentale et le stress est une économie d'oxygène mesurable.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2514600"/>
            <a:ext cx="3602736" cy="1691640"/>
          </a:xfrm>
          <a:prstGeom prst="roundRect">
            <a:avLst>
              <a:gd name="adj" fmla="val 4865"/>
            </a:avLst>
          </a:prstGeom>
          <a:solidFill>
            <a:srgbClr val="F2F7FB"/>
          </a:solidFill>
          <a:ln/>
          <a:effectLst>
            <a:outerShdw sx="100000" sy="100000" kx="0" ky="0" algn="bl" rotWithShape="0" blurRad="88900" dist="25400" dir="5400000">
              <a:srgbClr val="0A2942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49808" y="2715768"/>
            <a:ext cx="475488" cy="475488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3435" y="2839395"/>
            <a:ext cx="228234" cy="22823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71600" y="2697480"/>
            <a:ext cx="26426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Relaxation &amp; sophrologie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804672" y="3319272"/>
            <a:ext cx="3090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B7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Détente segmentaire, scan corporel, ancrages : abaisse tonus et FC avant l'immersion.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343400" y="2514600"/>
            <a:ext cx="3602736" cy="1691640"/>
          </a:xfrm>
          <a:prstGeom prst="roundRect">
            <a:avLst>
              <a:gd name="adj" fmla="val 4865"/>
            </a:avLst>
          </a:prstGeom>
          <a:solidFill>
            <a:srgbClr val="F2F7FB"/>
          </a:solidFill>
          <a:ln/>
          <a:effectLst>
            <a:outerShdw sx="100000" sy="100000" kx="0" ky="0" algn="bl" rotWithShape="0" blurRad="88900" dist="25400" dir="5400000">
              <a:srgbClr val="0A2942">
                <a:alpha val="1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544568" y="2715768"/>
            <a:ext cx="475488" cy="475488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8195" y="2839395"/>
            <a:ext cx="228234" cy="22823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166360" y="2697480"/>
            <a:ext cx="26426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Cohérence cardiaque &amp; respiration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4599432" y="3319272"/>
            <a:ext cx="3090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B7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Expiration allongée = activation parasympathique. Prépare la bradycardie d'immersion.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8138160" y="2514600"/>
            <a:ext cx="3602736" cy="1691640"/>
          </a:xfrm>
          <a:prstGeom prst="roundRect">
            <a:avLst>
              <a:gd name="adj" fmla="val 4865"/>
            </a:avLst>
          </a:prstGeom>
          <a:solidFill>
            <a:srgbClr val="F2F7FB"/>
          </a:solidFill>
          <a:ln/>
          <a:effectLst>
            <a:outerShdw sx="100000" sy="100000" kx="0" ky="0" algn="bl" rotWithShape="0" blurRad="88900" dist="25400" dir="5400000">
              <a:srgbClr val="0A2942">
                <a:alpha val="16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339328" y="2715768"/>
            <a:ext cx="475488" cy="475488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2955" y="2839395"/>
            <a:ext cx="228234" cy="22823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961120" y="2697480"/>
            <a:ext cx="26426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Imagerie mentale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8394192" y="3319272"/>
            <a:ext cx="3090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B7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Visualisation de la performance et des sensations : automatise les gestes, réduit l'anxiété d'anticipation.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548640" y="4434840"/>
            <a:ext cx="3602736" cy="1691640"/>
          </a:xfrm>
          <a:prstGeom prst="roundRect">
            <a:avLst>
              <a:gd name="adj" fmla="val 4865"/>
            </a:avLst>
          </a:prstGeom>
          <a:solidFill>
            <a:srgbClr val="F2F7FB"/>
          </a:solidFill>
          <a:ln/>
          <a:effectLst>
            <a:outerShdw sx="100000" sy="100000" kx="0" ky="0" algn="bl" rotWithShape="0" blurRad="88900" dist="25400" dir="5400000">
              <a:srgbClr val="0A2942">
                <a:alpha val="16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749808" y="4636008"/>
            <a:ext cx="475488" cy="475488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3435" y="4759635"/>
            <a:ext cx="228234" cy="228234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371600" y="4617720"/>
            <a:ext cx="26426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du stress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804672" y="5239512"/>
            <a:ext cx="3090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B7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Exposition progressive et variée en entraînement : stimuli inopinés, conditions changeantes.</a:t>
            </a:r>
            <a:endParaRPr lang="en-US" sz="1050" dirty="0"/>
          </a:p>
        </p:txBody>
      </p:sp>
      <p:sp>
        <p:nvSpPr>
          <p:cNvPr id="26" name="Shape 20"/>
          <p:cNvSpPr/>
          <p:nvPr/>
        </p:nvSpPr>
        <p:spPr>
          <a:xfrm>
            <a:off x="4343400" y="4434840"/>
            <a:ext cx="3602736" cy="1691640"/>
          </a:xfrm>
          <a:prstGeom prst="roundRect">
            <a:avLst>
              <a:gd name="adj" fmla="val 4865"/>
            </a:avLst>
          </a:prstGeom>
          <a:solidFill>
            <a:srgbClr val="F2F7FB"/>
          </a:solidFill>
          <a:ln/>
          <a:effectLst>
            <a:outerShdw sx="100000" sy="100000" kx="0" ky="0" algn="bl" rotWithShape="0" blurRad="88900" dist="25400" dir="5400000">
              <a:srgbClr val="0A2942">
                <a:alpha val="16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4544568" y="4636008"/>
            <a:ext cx="475488" cy="475488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8195" y="4759635"/>
            <a:ext cx="228234" cy="228234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5166360" y="4617720"/>
            <a:ext cx="26426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Volonté &amp; motivation</a:t>
            </a:r>
            <a:endParaRPr lang="en-US" sz="1250" dirty="0"/>
          </a:p>
        </p:txBody>
      </p:sp>
      <p:sp>
        <p:nvSpPr>
          <p:cNvPr id="30" name="Text 23"/>
          <p:cNvSpPr/>
          <p:nvPr/>
        </p:nvSpPr>
        <p:spPr>
          <a:xfrm>
            <a:off x="4599432" y="5239512"/>
            <a:ext cx="3090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B7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Déterminante en phase de lutte (statique). Se cultive aussi par les sports d'endurance.</a:t>
            </a:r>
            <a:endParaRPr lang="en-US" sz="1050" dirty="0"/>
          </a:p>
        </p:txBody>
      </p:sp>
      <p:sp>
        <p:nvSpPr>
          <p:cNvPr id="31" name="Shape 24"/>
          <p:cNvSpPr/>
          <p:nvPr/>
        </p:nvSpPr>
        <p:spPr>
          <a:xfrm>
            <a:off x="8138160" y="4434840"/>
            <a:ext cx="3602736" cy="1691640"/>
          </a:xfrm>
          <a:prstGeom prst="roundRect">
            <a:avLst>
              <a:gd name="adj" fmla="val 4865"/>
            </a:avLst>
          </a:prstGeom>
          <a:solidFill>
            <a:srgbClr val="F2F7FB"/>
          </a:solidFill>
          <a:ln/>
          <a:effectLst>
            <a:outerShdw sx="100000" sy="100000" kx="0" ky="0" algn="bl" rotWithShape="0" blurRad="88900" dist="25400" dir="5400000">
              <a:srgbClr val="0A2942">
                <a:alpha val="16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8339328" y="4636008"/>
            <a:ext cx="475488" cy="475488"/>
          </a:xfrm>
          <a:prstGeom prst="ellipse">
            <a:avLst/>
          </a:prstGeom>
          <a:solidFill>
            <a:srgbClr val="2C8C5A"/>
          </a:solidFill>
          <a:ln/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62955" y="4759635"/>
            <a:ext cx="228234" cy="228234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8961120" y="4617720"/>
            <a:ext cx="26426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Capacité à positiver</a:t>
            </a:r>
            <a:endParaRPr lang="en-US" sz="1250" dirty="0"/>
          </a:p>
        </p:txBody>
      </p:sp>
      <p:sp>
        <p:nvSpPr>
          <p:cNvPr id="35" name="Text 27"/>
          <p:cNvSpPr/>
          <p:nvPr/>
        </p:nvSpPr>
        <p:spPr>
          <a:xfrm>
            <a:off x="8394192" y="5239512"/>
            <a:ext cx="3090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B7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Multiplier les expériences agréables : un réflexe conditionné de bien-être à l'immersion.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FAMILLE 4 · TECHNIQUES (BIOMÉCANIQUES)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33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ventilation : préparer sans tricher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6766560" cy="1481328"/>
          </a:xfrm>
          <a:prstGeom prst="roundRect">
            <a:avLst>
              <a:gd name="adj" fmla="val 5556"/>
            </a:avLst>
          </a:prstGeom>
          <a:solidFill>
            <a:srgbClr val="F2F7FB"/>
          </a:solidFill>
          <a:ln/>
          <a:effectLst>
            <a:outerShdw sx="100000" sy="100000" kx="0" ky="0" algn="bl" rotWithShape="0" blurRad="88900" dist="25400" dir="5400000">
              <a:srgbClr val="0A2942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664208"/>
            <a:ext cx="475488" cy="475488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3435" y="1787835"/>
            <a:ext cx="228234" cy="22823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645920"/>
            <a:ext cx="5806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Ventilation préparatoire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804672" y="2267712"/>
            <a:ext cx="6254496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5B7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Calme, ample, abdominale puis thoracique ; expiration lente et allongée (frein glotte ou lèvres). Objectif : détente et remplissage optimal — pas lavage du CO₂.</a:t>
            </a:r>
            <a:endParaRPr lang="en-US" sz="1080" dirty="0"/>
          </a:p>
        </p:txBody>
      </p:sp>
      <p:sp>
        <p:nvSpPr>
          <p:cNvPr id="9" name="Shape 6"/>
          <p:cNvSpPr/>
          <p:nvPr/>
        </p:nvSpPr>
        <p:spPr>
          <a:xfrm>
            <a:off x="548640" y="3090672"/>
            <a:ext cx="6766560" cy="1481328"/>
          </a:xfrm>
          <a:prstGeom prst="roundRect">
            <a:avLst>
              <a:gd name="adj" fmla="val 5556"/>
            </a:avLst>
          </a:prstGeom>
          <a:solidFill>
            <a:srgbClr val="F2F7FB"/>
          </a:solidFill>
          <a:ln/>
          <a:effectLst>
            <a:outerShdw sx="100000" sy="100000" kx="0" ky="0" algn="bl" rotWithShape="0" blurRad="88900" dist="25400" dir="5400000">
              <a:srgbClr val="0A2942">
                <a:alpha val="1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49808" y="3291840"/>
            <a:ext cx="475488" cy="475488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435" y="3415467"/>
            <a:ext cx="228234" cy="22823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371600" y="3273552"/>
            <a:ext cx="5806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Inspiration finale &amp; carpe (packing)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804672" y="3895344"/>
            <a:ext cx="6254496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5B7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carpe emmagasine un volume supplémentaire au prix d'une surpression thoracique. Gain réel mais risques réels : « syncope de carpe », OPI. Réservée aux experts, hors cursus standard.</a:t>
            </a:r>
            <a:endParaRPr lang="en-US" sz="1080" dirty="0"/>
          </a:p>
        </p:txBody>
      </p:sp>
      <p:sp>
        <p:nvSpPr>
          <p:cNvPr id="14" name="Shape 10"/>
          <p:cNvSpPr/>
          <p:nvPr/>
        </p:nvSpPr>
        <p:spPr>
          <a:xfrm>
            <a:off x="548640" y="4718304"/>
            <a:ext cx="6766560" cy="1481328"/>
          </a:xfrm>
          <a:prstGeom prst="roundRect">
            <a:avLst>
              <a:gd name="adj" fmla="val 5556"/>
            </a:avLst>
          </a:prstGeom>
          <a:solidFill>
            <a:srgbClr val="F2F7FB"/>
          </a:solidFill>
          <a:ln/>
          <a:effectLst>
            <a:outerShdw sx="100000" sy="100000" kx="0" ky="0" algn="bl" rotWithShape="0" blurRad="88900" dist="25400" dir="5400000">
              <a:srgbClr val="0A2942">
                <a:alpha val="16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49808" y="4919472"/>
            <a:ext cx="475488" cy="475488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435" y="5043099"/>
            <a:ext cx="228234" cy="22823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371600" y="4901184"/>
            <a:ext cx="5806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Blocage de la respiration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804672" y="5522976"/>
            <a:ext cx="6254496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5B7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Chez le débutant : blocage par le diaphragme contracté = coûteux en O₂. À enseigner : fermeture de la glotte, thorax et diaphragme relâchés.</a:t>
            </a:r>
            <a:endParaRPr lang="en-US" sz="1080" dirty="0"/>
          </a:p>
        </p:txBody>
      </p:sp>
      <p:sp>
        <p:nvSpPr>
          <p:cNvPr id="19" name="Shape 14"/>
          <p:cNvSpPr/>
          <p:nvPr/>
        </p:nvSpPr>
        <p:spPr>
          <a:xfrm>
            <a:off x="7498080" y="1463040"/>
            <a:ext cx="4114800" cy="4681728"/>
          </a:xfrm>
          <a:prstGeom prst="roundRect">
            <a:avLst>
              <a:gd name="adj" fmla="val 2000"/>
            </a:avLst>
          </a:prstGeom>
          <a:solidFill>
            <a:srgbClr val="FBE9E1"/>
          </a:solidFill>
          <a:ln/>
          <a:effectLst>
            <a:outerShdw sx="100000" sy="100000" kx="0" ky="0" algn="bl" rotWithShape="0" blurRad="88900" dist="25400" dir="5400000">
              <a:srgbClr val="0A2942">
                <a:alpha val="16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772400" y="1737360"/>
            <a:ext cx="566928" cy="566928"/>
          </a:xfrm>
          <a:prstGeom prst="ellipse">
            <a:avLst/>
          </a:prstGeom>
          <a:solidFill>
            <a:srgbClr val="D9541E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19801" y="1884761"/>
            <a:ext cx="272125" cy="27212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522208" y="1700784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9C3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L'hyperventilation :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9C3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proscrite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7772400" y="2606040"/>
            <a:ext cx="36118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F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N'augmente quasiment pas le stock d'O₂…</a:t>
            </a:r>
            <a:endParaRPr lang="en-US" sz="1100" dirty="0"/>
          </a:p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F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…mais abaisse fortement la PaCO₂ de départ (alcalose).</a:t>
            </a:r>
            <a:endParaRPr lang="en-US" sz="1100" dirty="0"/>
          </a:p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F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L'alarme CO₂ sonne trop tard : la syncope peut survenir avant toute envie de respirer.</a:t>
            </a:r>
            <a:endParaRPr lang="en-US" sz="1100" dirty="0"/>
          </a:p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F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Elle retarde aussi le réflexe d'immersion (vasoconstriction cérébrale).</a:t>
            </a:r>
            <a:endParaRPr lang="en-US" sz="1100" dirty="0"/>
          </a:p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F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Doctrine fédérale : ventilation naturelle, jamais plus de quelques cycles amples.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FAMILLE 4 · TECHNIQUES (BIOMÉCANIQUES)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33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Dans l'eau : l'économie du geste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440680" cy="1554480"/>
          </a:xfrm>
          <a:prstGeom prst="roundRect">
            <a:avLst>
              <a:gd name="adj" fmla="val 5294"/>
            </a:avLst>
          </a:prstGeom>
          <a:solidFill>
            <a:srgbClr val="F2F7FB"/>
          </a:solidFill>
          <a:ln/>
          <a:effectLst>
            <a:outerShdw sx="100000" sy="100000" kx="0" ky="0" algn="bl" rotWithShape="0" blurRad="88900" dist="25400" dir="5400000">
              <a:srgbClr val="0A2942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664208"/>
            <a:ext cx="475488" cy="475488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3435" y="1787835"/>
            <a:ext cx="228234" cy="22823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645920"/>
            <a:ext cx="4480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Contrôle du tonus musculaire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804672" y="2267712"/>
            <a:ext cx="49286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5B7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mobiliser que les muscles strictement utiles à la propulsion, tout le reste relâché — visage et épaules en premier.</a:t>
            </a:r>
            <a:endParaRPr lang="en-US" sz="1080" dirty="0"/>
          </a:p>
        </p:txBody>
      </p:sp>
      <p:sp>
        <p:nvSpPr>
          <p:cNvPr id="9" name="Shape 6"/>
          <p:cNvSpPr/>
          <p:nvPr/>
        </p:nvSpPr>
        <p:spPr>
          <a:xfrm>
            <a:off x="6181344" y="1463040"/>
            <a:ext cx="5440680" cy="1554480"/>
          </a:xfrm>
          <a:prstGeom prst="roundRect">
            <a:avLst>
              <a:gd name="adj" fmla="val 5294"/>
            </a:avLst>
          </a:prstGeom>
          <a:solidFill>
            <a:srgbClr val="F2F7FB"/>
          </a:solidFill>
          <a:ln/>
          <a:effectLst>
            <a:outerShdw sx="100000" sy="100000" kx="0" ky="0" algn="bl" rotWithShape="0" blurRad="88900" dist="25400" dir="5400000">
              <a:srgbClr val="0A2942">
                <a:alpha val="1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382512" y="1664208"/>
            <a:ext cx="475488" cy="475488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6139" y="1787835"/>
            <a:ext cx="228234" cy="22823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004304" y="1645920"/>
            <a:ext cx="4480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Hydrodynamisme &amp; glisse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6437376" y="2267712"/>
            <a:ext cx="49286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5B7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 profilée, amplitude de palmage, phases de glisse : la dépense chute plus vite que la vitesse.</a:t>
            </a:r>
            <a:endParaRPr lang="en-US" sz="1080" dirty="0"/>
          </a:p>
        </p:txBody>
      </p:sp>
      <p:sp>
        <p:nvSpPr>
          <p:cNvPr id="14" name="Shape 10"/>
          <p:cNvSpPr/>
          <p:nvPr/>
        </p:nvSpPr>
        <p:spPr>
          <a:xfrm>
            <a:off x="548640" y="3218688"/>
            <a:ext cx="5440680" cy="1554480"/>
          </a:xfrm>
          <a:prstGeom prst="roundRect">
            <a:avLst>
              <a:gd name="adj" fmla="val 5294"/>
            </a:avLst>
          </a:prstGeom>
          <a:solidFill>
            <a:srgbClr val="F2F7FB"/>
          </a:solidFill>
          <a:ln/>
          <a:effectLst>
            <a:outerShdw sx="100000" sy="100000" kx="0" ky="0" algn="bl" rotWithShape="0" blurRad="88900" dist="25400" dir="5400000">
              <a:srgbClr val="0A2942">
                <a:alpha val="16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49808" y="3419856"/>
            <a:ext cx="475488" cy="475488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435" y="3543483"/>
            <a:ext cx="228234" cy="22823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371600" y="3401568"/>
            <a:ext cx="4480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Transfert d'air &amp; leurre des mécanorécepteurs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804672" y="4023360"/>
            <a:ext cx="49286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5B7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Petits mouvements d'air entre poumons, pharynx et bouche : atténuent la stimulation des récepteurs thoraciques d'immobilité.</a:t>
            </a:r>
            <a:endParaRPr lang="en-US" sz="1080" dirty="0"/>
          </a:p>
        </p:txBody>
      </p:sp>
      <p:sp>
        <p:nvSpPr>
          <p:cNvPr id="19" name="Shape 14"/>
          <p:cNvSpPr/>
          <p:nvPr/>
        </p:nvSpPr>
        <p:spPr>
          <a:xfrm>
            <a:off x="6181344" y="3218688"/>
            <a:ext cx="5440680" cy="1554480"/>
          </a:xfrm>
          <a:prstGeom prst="roundRect">
            <a:avLst>
              <a:gd name="adj" fmla="val 5294"/>
            </a:avLst>
          </a:prstGeom>
          <a:solidFill>
            <a:srgbClr val="F2F7FB"/>
          </a:solidFill>
          <a:ln/>
          <a:effectLst>
            <a:outerShdw sx="100000" sy="100000" kx="0" ky="0" algn="bl" rotWithShape="0" blurRad="88900" dist="25400" dir="5400000">
              <a:srgbClr val="0A2942">
                <a:alpha val="16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382512" y="3419856"/>
            <a:ext cx="475488" cy="475488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6139" y="3543483"/>
            <a:ext cx="228234" cy="22823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004304" y="3401568"/>
            <a:ext cx="4480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Coordination générale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6437376" y="4023360"/>
            <a:ext cx="49286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5B7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Virages, coulées, rythme : chaque geste parasite coûte de l'O₂. La technique se stabilise avant de chercher la performance.</a:t>
            </a:r>
            <a:endParaRPr lang="en-US" sz="1080" dirty="0"/>
          </a:p>
        </p:txBody>
      </p:sp>
      <p:sp>
        <p:nvSpPr>
          <p:cNvPr id="24" name="Shape 18"/>
          <p:cNvSpPr/>
          <p:nvPr/>
        </p:nvSpPr>
        <p:spPr>
          <a:xfrm>
            <a:off x="548640" y="4892040"/>
            <a:ext cx="11073384" cy="1371600"/>
          </a:xfrm>
          <a:prstGeom prst="roundRect">
            <a:avLst>
              <a:gd name="adj" fmla="val 6000"/>
            </a:avLst>
          </a:prstGeom>
          <a:solidFill>
            <a:srgbClr val="DCEBF5"/>
          </a:solidFill>
          <a:ln/>
          <a:effectLst>
            <a:outerShdw sx="100000" sy="100000" kx="0" ky="0" algn="bl" rotWithShape="0" blurRad="88900" dist="25400" dir="5400000">
              <a:srgbClr val="0A2942">
                <a:alpha val="16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822960" y="5166360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0361" y="5313761"/>
            <a:ext cx="272125" cy="272125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600200" y="5029200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compensation, un facteur de performance à part entière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1600200" y="5376672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Valsalva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F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simple mais coûteuse et limitée en profondeur (diaphragme sollicité).  </a:t>
            </a:r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Frenzel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F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référence en apnée — langue-piston, glotte fermée, économe.  </a:t>
            </a:r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BTV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F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idéale quand elle est accessible.  À enseigner tôt : une compensation qui échoue, c'est une descente qui s'arrête… ou un barotraumatisme.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FAMILLE 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33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facteurs spécifiques : chaque discipline a ses clés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602736" cy="4297680"/>
          </a:xfrm>
          <a:prstGeom prst="roundRect">
            <a:avLst>
              <a:gd name="adj" fmla="val 2284"/>
            </a:avLst>
          </a:prstGeom>
          <a:solidFill>
            <a:srgbClr val="F2F7FB"/>
          </a:solidFill>
          <a:ln/>
          <a:effectLst>
            <a:outerShdw sx="100000" sy="100000" kx="0" ky="0" algn="bl" rotWithShape="0" blurRad="88900" dist="25400" dir="5400000">
              <a:srgbClr val="0A2942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029968" y="173736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96389" y="190378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2487168"/>
            <a:ext cx="3236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Apnée statique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68680" y="3017520"/>
            <a:ext cx="3008376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5B7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Faire le vide » : l'arme absolue</a:t>
            </a:r>
            <a:endParaRPr lang="en-US" sz="1150" dirty="0"/>
          </a:p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5B7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 de flottaison neutre, visage détendu</a:t>
            </a:r>
            <a:endParaRPr lang="en-US" sz="1150" dirty="0"/>
          </a:p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5B7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fine des phases confort / lutte</a:t>
            </a:r>
            <a:endParaRPr lang="en-US" sz="1150" dirty="0"/>
          </a:p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5B7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Protocole de sortie irréprochable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343400" y="1463040"/>
            <a:ext cx="3602736" cy="4297680"/>
          </a:xfrm>
          <a:prstGeom prst="roundRect">
            <a:avLst>
              <a:gd name="adj" fmla="val 2284"/>
            </a:avLst>
          </a:prstGeom>
          <a:solidFill>
            <a:srgbClr val="F2F7FB"/>
          </a:solidFill>
          <a:ln/>
          <a:effectLst>
            <a:outerShdw sx="100000" sy="100000" kx="0" ky="0" algn="bl" rotWithShape="0" blurRad="88900" dist="25400" dir="5400000">
              <a:srgbClr val="0A2942">
                <a:alpha val="1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824728" y="173736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1149" y="1903781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26280" y="2487168"/>
            <a:ext cx="3236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Dynamique (DYN / DNF)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4663440" y="3017520"/>
            <a:ext cx="3008376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5B7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Vitesse optimale ≈ 0,8–1 m/s : ni trop lent, ni trop vite</a:t>
            </a:r>
            <a:endParaRPr lang="en-US" sz="1150" dirty="0"/>
          </a:p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5B7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 de virage et coulées</a:t>
            </a:r>
            <a:endParaRPr lang="en-US" sz="1150" dirty="0"/>
          </a:p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5B7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Amplitude et rythme de palmage, glisse</a:t>
            </a:r>
            <a:endParaRPr lang="en-US" sz="1150" dirty="0"/>
          </a:p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5B7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Barrières psychologiques des « paliers » (50 m, 100 m…)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138160" y="1463040"/>
            <a:ext cx="3602736" cy="4297680"/>
          </a:xfrm>
          <a:prstGeom prst="roundRect">
            <a:avLst>
              <a:gd name="adj" fmla="val 2284"/>
            </a:avLst>
          </a:prstGeom>
          <a:solidFill>
            <a:srgbClr val="F2F7FB"/>
          </a:solidFill>
          <a:ln/>
          <a:effectLst>
            <a:outerShdw sx="100000" sy="100000" kx="0" ky="0" algn="bl" rotWithShape="0" blurRad="88900" dist="25400" dir="5400000">
              <a:srgbClr val="0A2942">
                <a:alpha val="16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619488" y="173736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5909" y="1903781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21040" y="2487168"/>
            <a:ext cx="3236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Poids constant / profondeur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8458200" y="3017520"/>
            <a:ext cx="3008376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5B7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Canard efficace, verticalité immédiate</a:t>
            </a:r>
            <a:endParaRPr lang="en-US" sz="1150" dirty="0"/>
          </a:p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5B7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Compensation continue (Frenzel, BTV)</a:t>
            </a:r>
            <a:endParaRPr lang="en-US" sz="1150" dirty="0"/>
          </a:p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5B7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blood shift : progressivité stricte</a:t>
            </a:r>
            <a:endParaRPr lang="en-US" sz="1150" dirty="0"/>
          </a:p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5B7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Vitesses de descente/remontée, chute libre</a:t>
            </a:r>
            <a:endParaRPr lang="en-US" sz="1150" dirty="0"/>
          </a:p>
        </p:txBody>
      </p:sp>
      <p:sp>
        <p:nvSpPr>
          <p:cNvPr id="19" name="Text 14"/>
          <p:cNvSpPr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7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tronc commun (stocks, tolérances, mental) se décline ensuite en compétences spécifiques : c'est la logique des cursus fédéraux.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SYNTHÈSE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33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Où investir le temps d'entraînement ?</a:t>
            </a:r>
            <a:endParaRPr lang="en-US" sz="29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554480"/>
          <a:ext cx="685800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8064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B7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Marge de progression indicative (échelle relative, %)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7680960" y="1554480"/>
            <a:ext cx="3931920" cy="1298448"/>
          </a:xfrm>
          <a:prstGeom prst="roundRect">
            <a:avLst>
              <a:gd name="adj" fmla="val 6338"/>
            </a:avLst>
          </a:prstGeom>
          <a:solidFill>
            <a:srgbClr val="F2F7FB"/>
          </a:solidFill>
          <a:ln/>
          <a:effectLst>
            <a:outerShdw sx="100000" sy="100000" kx="0" ky="0" algn="bl" rotWithShape="0" blurRad="88900" dist="25400" dir="5400000">
              <a:srgbClr val="0A2942">
                <a:alpha val="16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936992" y="167335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Physiologie &amp; technique d'abord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7936992" y="201168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7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Gains rapides, mesurables, transférables à toutes les disciplines.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7680960" y="3017520"/>
            <a:ext cx="3931920" cy="1298448"/>
          </a:xfrm>
          <a:prstGeom prst="roundRect">
            <a:avLst>
              <a:gd name="adj" fmla="val 6338"/>
            </a:avLst>
          </a:prstGeom>
          <a:solidFill>
            <a:srgbClr val="F2F7FB"/>
          </a:solidFill>
          <a:ln/>
          <a:effectLst>
            <a:outerShdw sx="100000" sy="100000" kx="0" ky="0" algn="bl" rotWithShape="0" blurRad="88900" dist="25400" dir="5400000">
              <a:srgbClr val="0A2942">
                <a:alpha val="16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7936992" y="313639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mental, fil rouge permanent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7936992" y="347472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7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s'entraîne dans chaque séance, pas dans des séances à part.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7680960" y="4480560"/>
            <a:ext cx="3931920" cy="1298448"/>
          </a:xfrm>
          <a:prstGeom prst="roundRect">
            <a:avLst>
              <a:gd name="adj" fmla="val 6338"/>
            </a:avLst>
          </a:prstGeom>
          <a:solidFill>
            <a:srgbClr val="F2F7FB"/>
          </a:solidFill>
          <a:ln/>
          <a:effectLst>
            <a:outerShdw sx="100000" sy="100000" kx="0" ky="0" algn="bl" rotWithShape="0" blurRad="88900" dist="25400" dir="5400000">
              <a:srgbClr val="0A2942">
                <a:alpha val="16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7936992" y="459943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morphologie s'optimise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7936992" y="493776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7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Souplesse et ventilation : un travail de fond, patient, aux gains limités mais durables.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 · LE FACTEUR LIMITANT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33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continuum hypoxique : de la performance à l'accident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2670048" cy="1691640"/>
          </a:xfrm>
          <a:prstGeom prst="roundRect">
            <a:avLst>
              <a:gd name="adj" fmla="val 4324"/>
            </a:avLst>
          </a:prstGeom>
          <a:solidFill>
            <a:srgbClr val="1C7293"/>
          </a:solidFill>
          <a:ln/>
          <a:effectLst>
            <a:outerShdw sx="100000" sy="100000" kx="0" ky="0" algn="bl" rotWithShape="0" blurRad="88900" dist="25400" dir="5400000">
              <a:srgbClr val="0A2942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68096" y="1691640"/>
            <a:ext cx="22311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Hypoxie qui s'installe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768096" y="2258568"/>
            <a:ext cx="223113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FFF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PaO₂ chute — accélérée à la remontée (baisse de pression)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182112" y="2084832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95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346704" y="1508760"/>
            <a:ext cx="2670048" cy="1691640"/>
          </a:xfrm>
          <a:prstGeom prst="roundRect">
            <a:avLst>
              <a:gd name="adj" fmla="val 4324"/>
            </a:avLst>
          </a:prstGeom>
          <a:solidFill>
            <a:srgbClr val="C77F0A"/>
          </a:solidFill>
          <a:ln/>
          <a:effectLst>
            <a:outerShdw sx="100000" sy="100000" kx="0" ky="0" algn="bl" rotWithShape="0" blurRad="88900" dist="25400" dir="5400000">
              <a:srgbClr val="0A2942">
                <a:alpha val="1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566160" y="1691640"/>
            <a:ext cx="22311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Signes annonciateurs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3566160" y="2258568"/>
            <a:ext cx="223113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FFF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Chaleur, picotements, phosphènes, dissociation, euphorie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980176" y="2084832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95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144768" y="1508760"/>
            <a:ext cx="2670048" cy="1691640"/>
          </a:xfrm>
          <a:prstGeom prst="roundRect">
            <a:avLst>
              <a:gd name="adj" fmla="val 4324"/>
            </a:avLst>
          </a:prstGeom>
          <a:solidFill>
            <a:srgbClr val="D9541E"/>
          </a:solidFill>
          <a:ln/>
          <a:effectLst>
            <a:outerShdw sx="100000" sy="100000" kx="0" ky="0" algn="bl" rotWithShape="0" blurRad="88900" dist="25400" dir="5400000">
              <a:srgbClr val="0A2942">
                <a:alpha val="1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364224" y="1691640"/>
            <a:ext cx="22311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PCM / « samba »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364224" y="2258568"/>
            <a:ext cx="223113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FFF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Perte de contrôle moteur, tremblements — conscience conservée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778240" y="2084832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95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942832" y="1508760"/>
            <a:ext cx="2670048" cy="1691640"/>
          </a:xfrm>
          <a:prstGeom prst="roundRect">
            <a:avLst>
              <a:gd name="adj" fmla="val 4324"/>
            </a:avLst>
          </a:prstGeom>
          <a:solidFill>
            <a:srgbClr val="9C3A10"/>
          </a:solidFill>
          <a:ln/>
          <a:effectLst>
            <a:outerShdw sx="100000" sy="100000" kx="0" ky="0" algn="bl" rotWithShape="0" blurRad="88900" dist="25400" dir="5400000">
              <a:srgbClr val="0A2942">
                <a:alpha val="1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162288" y="1691640"/>
            <a:ext cx="22311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Syncope hypoxique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9162288" y="2258568"/>
            <a:ext cx="223113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FFF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Perte de connaissance — souvent près de la surface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48640" y="333756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9C3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Sans prise en charge : reprise inspiratoire réflexe sous l'eau → noyade. Avec un binôme formé : issue quasi toujours favorable.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3840480"/>
            <a:ext cx="11073384" cy="2286000"/>
          </a:xfrm>
          <a:prstGeom prst="roundRect">
            <a:avLst>
              <a:gd name="adj" fmla="val 3600"/>
            </a:avLst>
          </a:prstGeom>
          <a:solidFill>
            <a:srgbClr val="E7F3EC"/>
          </a:solidFill>
          <a:ln/>
          <a:effectLst>
            <a:outerShdw sx="100000" sy="100000" kx="0" ky="0" algn="bl" rotWithShape="0" blurRad="88900" dist="25400" dir="5400000">
              <a:srgbClr val="0A2942">
                <a:alpha val="1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22960" y="4114800"/>
            <a:ext cx="566928" cy="566928"/>
          </a:xfrm>
          <a:prstGeom prst="ellipse">
            <a:avLst/>
          </a:prstGeom>
          <a:solidFill>
            <a:srgbClr val="2C8C5A"/>
          </a:solidFill>
          <a:ln/>
        </p:spPr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0361" y="4262201"/>
            <a:ext cx="272125" cy="272125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1600200" y="4041648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C8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Prévention — les règles non négociables</a:t>
            </a:r>
            <a:endParaRPr lang="en-US" sz="1450" dirty="0"/>
          </a:p>
        </p:txBody>
      </p:sp>
      <p:sp>
        <p:nvSpPr>
          <p:cNvPr id="24" name="Text 21"/>
          <p:cNvSpPr/>
          <p:nvPr/>
        </p:nvSpPr>
        <p:spPr>
          <a:xfrm>
            <a:off x="1600200" y="4480560"/>
            <a:ext cx="4937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F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Jamais seul : binôme formé, attentif pendant l'apnée et ≥ 30 s après la sortie</a:t>
            </a:r>
            <a:endParaRPr lang="en-US" sz="1150" dirty="0"/>
          </a:p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F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Jamais d'hyperventilation ; jamais d'apnée « au maximum » sans encadrement</a:t>
            </a:r>
            <a:endParaRPr lang="en-US" sz="1150" dirty="0"/>
          </a:p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F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Récupération ≥ 2 × le temps d'apnée entre deux tentatives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6720840" y="4480560"/>
            <a:ext cx="4846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F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Protocole de sortie systématique : ventilation de récupération, signe OK</a:t>
            </a:r>
            <a:endParaRPr lang="en-US" sz="1150" dirty="0"/>
          </a:p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F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profondeur : vigilance maximale sur les 15 derniers mètres (chute de PpO₂)</a:t>
            </a:r>
            <a:endParaRPr lang="en-US" sz="1150" dirty="0"/>
          </a:p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F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Lestage permettant la flottabilité positive en surface</a:t>
            </a:r>
            <a:endParaRPr lang="en-US" sz="11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 · CONNAISSANCES ACTUALISÉES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33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accidents que le cadre doit savoir reconnaître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602736" cy="4389120"/>
          </a:xfrm>
          <a:prstGeom prst="roundRect">
            <a:avLst>
              <a:gd name="adj" fmla="val 2284"/>
            </a:avLst>
          </a:prstGeom>
          <a:solidFill>
            <a:srgbClr val="F2F7FB"/>
          </a:solidFill>
          <a:ln/>
          <a:effectLst>
            <a:outerShdw sx="100000" sy="100000" kx="0" ky="0" algn="bl" rotWithShape="0" blurRad="88900" dist="25400" dir="5400000">
              <a:srgbClr val="0A2942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719072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7318" y="1861718"/>
            <a:ext cx="263347" cy="26334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81328" y="1664208"/>
            <a:ext cx="24597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F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Œdème pulmonaire d'immersion (OPI)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22960" y="2514600"/>
            <a:ext cx="305409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1F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Passage de liquide dans les alvéoles : toux persistante, crachats parfois rosés (hémoptysie), gêne respiratoire, tachypnée.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22960" y="3794760"/>
            <a:ext cx="305409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i="1" dirty="0">
                <a:solidFill>
                  <a:srgbClr val="5B7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Favorisé par : profondeur, froid, effort, packing, descentes forcées.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822960" y="4846320"/>
            <a:ext cx="3054096" cy="822960"/>
          </a:xfrm>
          <a:prstGeom prst="roundRect">
            <a:avLst>
              <a:gd name="adj" fmla="val 7778"/>
            </a:avLst>
          </a:prstGeom>
          <a:solidFill>
            <a:srgbClr val="FBE9E1"/>
          </a:solidFill>
          <a:ln/>
        </p:spPr>
      </p:sp>
      <p:sp>
        <p:nvSpPr>
          <p:cNvPr id="11" name="Text 8"/>
          <p:cNvSpPr/>
          <p:nvPr/>
        </p:nvSpPr>
        <p:spPr>
          <a:xfrm>
            <a:off x="960120" y="4882896"/>
            <a:ext cx="277977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9C3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Sortie de l'eau définitive, O₂, avis médical systématique.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343400" y="1463040"/>
            <a:ext cx="3602736" cy="4389120"/>
          </a:xfrm>
          <a:prstGeom prst="roundRect">
            <a:avLst>
              <a:gd name="adj" fmla="val 2284"/>
            </a:avLst>
          </a:prstGeom>
          <a:solidFill>
            <a:srgbClr val="F2F7FB"/>
          </a:solidFill>
          <a:ln/>
          <a:effectLst>
            <a:outerShdw sx="100000" sy="100000" kx="0" ky="0" algn="bl" rotWithShape="0" blurRad="88900" dist="25400" dir="5400000">
              <a:srgbClr val="0A2942">
                <a:alpha val="16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599432" y="1719072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2078" y="1861718"/>
            <a:ext cx="263347" cy="263347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276088" y="1664208"/>
            <a:ext cx="24597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F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Taravana — désaturation en apnée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4617720" y="2514600"/>
            <a:ext cx="305409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1F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Accident de décompression possible en apnée : plongées profondes, répétées, intervalles de surface trop courts.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4617720" y="3794760"/>
            <a:ext cx="305409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i="1" dirty="0">
                <a:solidFill>
                  <a:srgbClr val="5B7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Signes neurologiques après une session : vertiges, troubles visuels, paresthésies.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4617720" y="4846320"/>
            <a:ext cx="3054096" cy="822960"/>
          </a:xfrm>
          <a:prstGeom prst="roundRect">
            <a:avLst>
              <a:gd name="adj" fmla="val 7778"/>
            </a:avLst>
          </a:prstGeom>
          <a:solidFill>
            <a:srgbClr val="FBE9E1"/>
          </a:solidFill>
          <a:ln/>
        </p:spPr>
      </p:sp>
      <p:sp>
        <p:nvSpPr>
          <p:cNvPr id="19" name="Text 15"/>
          <p:cNvSpPr/>
          <p:nvPr/>
        </p:nvSpPr>
        <p:spPr>
          <a:xfrm>
            <a:off x="4754880" y="4882896"/>
            <a:ext cx="277977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9C3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O₂ 15 L/min, alerte, évacuation — comme un ADD scaphandre.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8138160" y="1463040"/>
            <a:ext cx="3602736" cy="4389120"/>
          </a:xfrm>
          <a:prstGeom prst="roundRect">
            <a:avLst>
              <a:gd name="adj" fmla="val 2284"/>
            </a:avLst>
          </a:prstGeom>
          <a:solidFill>
            <a:srgbClr val="F2F7FB"/>
          </a:solidFill>
          <a:ln/>
          <a:effectLst>
            <a:outerShdw sx="100000" sy="100000" kx="0" ky="0" algn="bl" rotWithShape="0" blurRad="88900" dist="25400" dir="5400000">
              <a:srgbClr val="0A2942">
                <a:alpha val="16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8394192" y="1719072"/>
            <a:ext cx="548640" cy="548640"/>
          </a:xfrm>
          <a:prstGeom prst="ellipse">
            <a:avLst/>
          </a:prstGeom>
          <a:solidFill>
            <a:srgbClr val="D9541E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6838" y="1861718"/>
            <a:ext cx="263347" cy="263347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9070848" y="1664208"/>
            <a:ext cx="24597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F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Barotraumatismes</a:t>
            </a:r>
            <a:endParaRPr lang="en-US" sz="1300" dirty="0"/>
          </a:p>
        </p:txBody>
      </p:sp>
      <p:sp>
        <p:nvSpPr>
          <p:cNvPr id="24" name="Text 19"/>
          <p:cNvSpPr/>
          <p:nvPr/>
        </p:nvSpPr>
        <p:spPr>
          <a:xfrm>
            <a:off x="8412480" y="2514600"/>
            <a:ext cx="305409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1F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Oreilles et sinus (compensation), placage de masque, et surpression pulmonaire en cas de carpe excessive ou de remontée en expiration bloquée.</a:t>
            </a:r>
            <a:endParaRPr lang="en-US" sz="1100" dirty="0"/>
          </a:p>
        </p:txBody>
      </p:sp>
      <p:sp>
        <p:nvSpPr>
          <p:cNvPr id="25" name="Text 20"/>
          <p:cNvSpPr/>
          <p:nvPr/>
        </p:nvSpPr>
        <p:spPr>
          <a:xfrm>
            <a:off x="8412480" y="3794760"/>
            <a:ext cx="305409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i="1" dirty="0">
                <a:solidFill>
                  <a:srgbClr val="5B7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Prévention : technique de compensation solide, progressivité, jamais forcer.</a:t>
            </a:r>
            <a:endParaRPr lang="en-US" sz="1050" dirty="0"/>
          </a:p>
        </p:txBody>
      </p:sp>
      <p:sp>
        <p:nvSpPr>
          <p:cNvPr id="26" name="Shape 21"/>
          <p:cNvSpPr/>
          <p:nvPr/>
        </p:nvSpPr>
        <p:spPr>
          <a:xfrm>
            <a:off x="8412480" y="4846320"/>
            <a:ext cx="3054096" cy="822960"/>
          </a:xfrm>
          <a:prstGeom prst="roundRect">
            <a:avLst>
              <a:gd name="adj" fmla="val 7778"/>
            </a:avLst>
          </a:prstGeom>
          <a:solidFill>
            <a:srgbClr val="FBE9E1"/>
          </a:solidFill>
          <a:ln/>
        </p:spPr>
      </p:sp>
      <p:sp>
        <p:nvSpPr>
          <p:cNvPr id="27" name="Text 22"/>
          <p:cNvSpPr/>
          <p:nvPr/>
        </p:nvSpPr>
        <p:spPr>
          <a:xfrm>
            <a:off x="8549640" y="4882896"/>
            <a:ext cx="277977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9C3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Arrêt de la séance, avis ORL/médical selon le cas.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MÉTHODOLOGIE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33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Construire l'entraînement : doser, progresser, récupérer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2697480" cy="1600200"/>
          </a:xfrm>
          <a:prstGeom prst="roundRect">
            <a:avLst>
              <a:gd name="adj" fmla="val 5143"/>
            </a:avLst>
          </a:prstGeom>
          <a:solidFill>
            <a:srgbClr val="F2F7FB"/>
          </a:solidFill>
          <a:ln/>
          <a:effectLst>
            <a:outerShdw sx="100000" sy="100000" kx="0" ky="0" algn="bl" rotWithShape="0" blurRad="88900" dist="25400" dir="5400000">
              <a:srgbClr val="0A2942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49808" y="1591056"/>
            <a:ext cx="2295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Progressivité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49808" y="1938528"/>
            <a:ext cx="22951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B7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avant intensité ; une seule variable à la fois (durée, distance, récupération, vitesse).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346704" y="1463040"/>
            <a:ext cx="2697480" cy="1600200"/>
          </a:xfrm>
          <a:prstGeom prst="roundRect">
            <a:avLst>
              <a:gd name="adj" fmla="val 5143"/>
            </a:avLst>
          </a:prstGeom>
          <a:solidFill>
            <a:srgbClr val="F2F7FB"/>
          </a:solidFill>
          <a:ln/>
          <a:effectLst>
            <a:outerShdw sx="100000" sy="100000" kx="0" ky="0" algn="bl" rotWithShape="0" blurRad="88900" dist="25400" dir="5400000">
              <a:srgbClr val="0A2942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547872" y="1591056"/>
            <a:ext cx="2295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Spécificité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547872" y="1938528"/>
            <a:ext cx="22951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B7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corps s'adapte à ce qu'on lui demande : cibler CO₂, O₂, technique ou mental — pas tout en même temps.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144768" y="1463040"/>
            <a:ext cx="2697480" cy="1600200"/>
          </a:xfrm>
          <a:prstGeom prst="roundRect">
            <a:avLst>
              <a:gd name="adj" fmla="val 5143"/>
            </a:avLst>
          </a:prstGeom>
          <a:solidFill>
            <a:srgbClr val="F2F7FB"/>
          </a:solidFill>
          <a:ln/>
          <a:effectLst>
            <a:outerShdw sx="100000" sy="100000" kx="0" ky="0" algn="bl" rotWithShape="0" blurRad="88900" dist="25400" dir="5400000">
              <a:srgbClr val="0A2942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345936" y="1591056"/>
            <a:ext cx="2295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Récupération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345936" y="1938528"/>
            <a:ext cx="22951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B7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adaptations se construisent entre les séances. Sommeil et assimilation font partie du plan.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42832" y="1463040"/>
            <a:ext cx="2697480" cy="1600200"/>
          </a:xfrm>
          <a:prstGeom prst="roundRect">
            <a:avLst>
              <a:gd name="adj" fmla="val 5143"/>
            </a:avLst>
          </a:prstGeom>
          <a:solidFill>
            <a:srgbClr val="F2F7FB"/>
          </a:solidFill>
          <a:ln/>
          <a:effectLst>
            <a:outerShdw sx="100000" sy="100000" kx="0" ky="0" algn="bl" rotWithShape="0" blurRad="88900" dist="25400" dir="5400000">
              <a:srgbClr val="0A2942">
                <a:alpha val="1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144000" y="1591056"/>
            <a:ext cx="2295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Variété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144000" y="1938528"/>
            <a:ext cx="22951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B7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Alterner milieux, exercices et intensités : éviter lassitude et plafonnement.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48640" y="32918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saison type (périodisation simple)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48640" y="3703320"/>
            <a:ext cx="2688336" cy="1051560"/>
          </a:xfrm>
          <a:prstGeom prst="roundRect">
            <a:avLst>
              <a:gd name="adj" fmla="val 6957"/>
            </a:avLst>
          </a:prstGeom>
          <a:solidFill>
            <a:srgbClr val="1C7293"/>
          </a:solidFill>
          <a:ln/>
        </p:spPr>
      </p:sp>
      <p:sp>
        <p:nvSpPr>
          <p:cNvPr id="18" name="Text 16"/>
          <p:cNvSpPr/>
          <p:nvPr/>
        </p:nvSpPr>
        <p:spPr>
          <a:xfrm>
            <a:off x="768096" y="3831336"/>
            <a:ext cx="2249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Base aérobie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68096" y="4206240"/>
            <a:ext cx="2249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C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Hors de l'eau + aquacité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209544" y="4005072"/>
            <a:ext cx="164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3346704" y="3703320"/>
            <a:ext cx="2688336" cy="1051560"/>
          </a:xfrm>
          <a:prstGeom prst="roundRect">
            <a:avLst>
              <a:gd name="adj" fmla="val 6957"/>
            </a:avLst>
          </a:prstGeom>
          <a:solidFill>
            <a:srgbClr val="065A82"/>
          </a:solidFill>
          <a:ln/>
        </p:spPr>
      </p:sp>
      <p:sp>
        <p:nvSpPr>
          <p:cNvPr id="22" name="Text 20"/>
          <p:cNvSpPr/>
          <p:nvPr/>
        </p:nvSpPr>
        <p:spPr>
          <a:xfrm>
            <a:off x="3566160" y="3831336"/>
            <a:ext cx="2249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Tolérance CO₂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566160" y="4206240"/>
            <a:ext cx="2249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C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 CO₂, volume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007608" y="4005072"/>
            <a:ext cx="164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144768" y="3703320"/>
            <a:ext cx="2688336" cy="1051560"/>
          </a:xfrm>
          <a:prstGeom prst="roundRect">
            <a:avLst>
              <a:gd name="adj" fmla="val 6957"/>
            </a:avLst>
          </a:prstGeom>
          <a:solidFill>
            <a:srgbClr val="065A82"/>
          </a:solidFill>
          <a:ln/>
        </p:spPr>
      </p:sp>
      <p:sp>
        <p:nvSpPr>
          <p:cNvPr id="26" name="Text 24"/>
          <p:cNvSpPr/>
          <p:nvPr/>
        </p:nvSpPr>
        <p:spPr>
          <a:xfrm>
            <a:off x="6364224" y="3831336"/>
            <a:ext cx="2249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Spécifique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364224" y="4206240"/>
            <a:ext cx="2249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C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Discipline cible, technique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805672" y="4005072"/>
            <a:ext cx="164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8942832" y="3703320"/>
            <a:ext cx="2688336" cy="1051560"/>
          </a:xfrm>
          <a:prstGeom prst="roundRect">
            <a:avLst>
              <a:gd name="adj" fmla="val 6957"/>
            </a:avLst>
          </a:prstGeom>
          <a:solidFill>
            <a:srgbClr val="2C8C5A"/>
          </a:solidFill>
          <a:ln/>
        </p:spPr>
      </p:sp>
      <p:sp>
        <p:nvSpPr>
          <p:cNvPr id="30" name="Text 28"/>
          <p:cNvSpPr/>
          <p:nvPr/>
        </p:nvSpPr>
        <p:spPr>
          <a:xfrm>
            <a:off x="9162288" y="3831336"/>
            <a:ext cx="2249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Affûtage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9162288" y="4206240"/>
            <a:ext cx="2249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C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Intensité ↓ volume, fraîcheur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48640" y="5029200"/>
            <a:ext cx="11073384" cy="1234440"/>
          </a:xfrm>
          <a:prstGeom prst="roundRect">
            <a:avLst>
              <a:gd name="adj" fmla="val 6667"/>
            </a:avLst>
          </a:prstGeom>
          <a:solidFill>
            <a:srgbClr val="DCEBF5"/>
          </a:solidFill>
          <a:ln/>
          <a:effectLst>
            <a:outerShdw sx="100000" sy="100000" kx="0" ky="0" algn="bl" rotWithShape="0" blurRad="88900" dist="25400" dir="5400000">
              <a:srgbClr val="0A2942">
                <a:alpha val="16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822960" y="5120640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Doser une séance :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F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jouer sur la vitesse de nage, la distance ou la durée des apnées, et la durée de récupération — jamais sur la suppression des signaux. Exemple : 8 × 25 m, départ toutes les 1 min 30, puis réduire la récupération de 10 s par semaine (table CO₂ dynamique).</a:t>
            </a:r>
            <a:endParaRPr lang="en-US" sz="12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GLOSSAIRE EXPRESS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33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mots-clés stratégiques à maîtriser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2697480" cy="969264"/>
          </a:xfrm>
          <a:prstGeom prst="roundRect">
            <a:avLst>
              <a:gd name="adj" fmla="val 6604"/>
            </a:avLst>
          </a:prstGeom>
          <a:solidFill>
            <a:srgbClr val="DCEBF5"/>
          </a:solidFill>
          <a:ln/>
          <a:effectLst>
            <a:outerShdw sx="100000" sy="100000" kx="0" ky="0" algn="bl" rotWithShape="0" blurRad="88900" dist="25400" dir="5400000">
              <a:srgbClr val="0A2942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13232" y="1499616"/>
            <a:ext cx="2368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Réflexe d'immersion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713232" y="1783080"/>
            <a:ext cx="23682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1F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Bradycardie + vasoconstriction + spleen effect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346704" y="1417320"/>
            <a:ext cx="2697480" cy="969264"/>
          </a:xfrm>
          <a:prstGeom prst="roundRect">
            <a:avLst>
              <a:gd name="adj" fmla="val 6604"/>
            </a:avLst>
          </a:prstGeom>
          <a:solidFill>
            <a:srgbClr val="F2F7FB"/>
          </a:solidFill>
          <a:ln/>
          <a:effectLst>
            <a:outerShdw sx="100000" sy="100000" kx="0" ky="0" algn="bl" rotWithShape="0" blurRad="88900" dist="25400" dir="5400000">
              <a:srgbClr val="0A2942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511296" y="1499616"/>
            <a:ext cx="2368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Spleen effect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511296" y="1783080"/>
            <a:ext cx="23682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1F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rate libère des globules rouges : Hct +2 à +5 %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144768" y="1417320"/>
            <a:ext cx="2697480" cy="969264"/>
          </a:xfrm>
          <a:prstGeom prst="roundRect">
            <a:avLst>
              <a:gd name="adj" fmla="val 6604"/>
            </a:avLst>
          </a:prstGeom>
          <a:solidFill>
            <a:srgbClr val="DCEBF5"/>
          </a:solidFill>
          <a:ln/>
          <a:effectLst>
            <a:outerShdw sx="100000" sy="100000" kx="0" ky="0" algn="bl" rotWithShape="0" blurRad="88900" dist="25400" dir="5400000">
              <a:srgbClr val="0A2942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309360" y="1499616"/>
            <a:ext cx="2368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 shift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309360" y="1783080"/>
            <a:ext cx="23682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1F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Afflux sanguin thoracique qui protège en profondeur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8942832" y="1417320"/>
            <a:ext cx="2697480" cy="969264"/>
          </a:xfrm>
          <a:prstGeom prst="roundRect">
            <a:avLst>
              <a:gd name="adj" fmla="val 6604"/>
            </a:avLst>
          </a:prstGeom>
          <a:solidFill>
            <a:srgbClr val="F2F7FB"/>
          </a:solidFill>
          <a:ln/>
          <a:effectLst>
            <a:outerShdw sx="100000" sy="100000" kx="0" ky="0" algn="bl" rotWithShape="0" blurRad="88900" dist="25400" dir="5400000">
              <a:srgbClr val="0A2942">
                <a:alpha val="1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107424" y="1499616"/>
            <a:ext cx="2368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CPT / VR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9107424" y="1783080"/>
            <a:ext cx="23682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1F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Capacité pulmonaire totale / volume résiduel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48640" y="2514600"/>
            <a:ext cx="2697480" cy="969264"/>
          </a:xfrm>
          <a:prstGeom prst="roundRect">
            <a:avLst>
              <a:gd name="adj" fmla="val 6604"/>
            </a:avLst>
          </a:prstGeom>
          <a:solidFill>
            <a:srgbClr val="DCEBF5"/>
          </a:solidFill>
          <a:ln/>
          <a:effectLst>
            <a:outerShdw sx="100000" sy="100000" kx="0" ky="0" algn="bl" rotWithShape="0" blurRad="88900" dist="25400" dir="5400000">
              <a:srgbClr val="0A2942">
                <a:alpha val="1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13232" y="2596896"/>
            <a:ext cx="2368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Hypercapnie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713232" y="2880360"/>
            <a:ext cx="23682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1F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Excès de CO₂ : l'alarme qui déclenche la rupture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346704" y="2514600"/>
            <a:ext cx="2697480" cy="969264"/>
          </a:xfrm>
          <a:prstGeom prst="roundRect">
            <a:avLst>
              <a:gd name="adj" fmla="val 6604"/>
            </a:avLst>
          </a:prstGeom>
          <a:solidFill>
            <a:srgbClr val="F2F7FB"/>
          </a:solidFill>
          <a:ln/>
          <a:effectLst>
            <a:outerShdw sx="100000" sy="100000" kx="0" ky="0" algn="bl" rotWithShape="0" blurRad="88900" dist="25400" dir="5400000">
              <a:srgbClr val="0A2942">
                <a:alpha val="16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511296" y="2596896"/>
            <a:ext cx="2368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Hypoxie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3511296" y="2880360"/>
            <a:ext cx="23682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1F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Manque d'O₂ : le danger silencieux (syncope)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144768" y="2514600"/>
            <a:ext cx="2697480" cy="969264"/>
          </a:xfrm>
          <a:prstGeom prst="roundRect">
            <a:avLst>
              <a:gd name="adj" fmla="val 6604"/>
            </a:avLst>
          </a:prstGeom>
          <a:solidFill>
            <a:srgbClr val="DCEBF5"/>
          </a:solidFill>
          <a:ln/>
          <a:effectLst>
            <a:outerShdw sx="100000" sy="100000" kx="0" ky="0" algn="bl" rotWithShape="0" blurRad="88900" dist="25400" dir="5400000">
              <a:srgbClr val="0A2942">
                <a:alpha val="16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309360" y="2596896"/>
            <a:ext cx="2368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Chémorécepteurs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309360" y="2880360"/>
            <a:ext cx="23682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1F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Centraux (CO₂, bulbe) et périphériques (O₂, carotides)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8942832" y="2514600"/>
            <a:ext cx="2697480" cy="969264"/>
          </a:xfrm>
          <a:prstGeom prst="roundRect">
            <a:avLst>
              <a:gd name="adj" fmla="val 6604"/>
            </a:avLst>
          </a:prstGeom>
          <a:solidFill>
            <a:srgbClr val="F2F7FB"/>
          </a:solidFill>
          <a:ln/>
          <a:effectLst>
            <a:outerShdw sx="100000" sy="100000" kx="0" ky="0" algn="bl" rotWithShape="0" blurRad="88900" dist="25400" dir="5400000">
              <a:srgbClr val="0A2942">
                <a:alpha val="16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9107424" y="2596896"/>
            <a:ext cx="2368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de lutte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9107424" y="2880360"/>
            <a:ext cx="23682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1F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Après les 1ères contractions diaphragmatiques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8640" y="3611880"/>
            <a:ext cx="2697480" cy="969264"/>
          </a:xfrm>
          <a:prstGeom prst="roundRect">
            <a:avLst>
              <a:gd name="adj" fmla="val 6604"/>
            </a:avLst>
          </a:prstGeom>
          <a:solidFill>
            <a:srgbClr val="DCEBF5"/>
          </a:solidFill>
          <a:ln/>
          <a:effectLst>
            <a:outerShdw sx="100000" sy="100000" kx="0" ky="0" algn="bl" rotWithShape="0" blurRad="88900" dist="25400" dir="5400000">
              <a:srgbClr val="0A2942">
                <a:alpha val="16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713232" y="3694176"/>
            <a:ext cx="2368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PCM / Samba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713232" y="3977640"/>
            <a:ext cx="23682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1F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Perte de contrôle moteur, conscience conservée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346704" y="3611880"/>
            <a:ext cx="2697480" cy="969264"/>
          </a:xfrm>
          <a:prstGeom prst="roundRect">
            <a:avLst>
              <a:gd name="adj" fmla="val 6604"/>
            </a:avLst>
          </a:prstGeom>
          <a:solidFill>
            <a:srgbClr val="F2F7FB"/>
          </a:solidFill>
          <a:ln/>
          <a:effectLst>
            <a:outerShdw sx="100000" sy="100000" kx="0" ky="0" algn="bl" rotWithShape="0" blurRad="88900" dist="25400" dir="5400000">
              <a:srgbClr val="0A2942">
                <a:alpha val="16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511296" y="3694176"/>
            <a:ext cx="2368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Syncope hypoxique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3511296" y="3977640"/>
            <a:ext cx="23682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1F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Perte de connaissance par manque d'O₂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144768" y="3611880"/>
            <a:ext cx="2697480" cy="969264"/>
          </a:xfrm>
          <a:prstGeom prst="roundRect">
            <a:avLst>
              <a:gd name="adj" fmla="val 6604"/>
            </a:avLst>
          </a:prstGeom>
          <a:solidFill>
            <a:srgbClr val="DCEBF5"/>
          </a:solidFill>
          <a:ln/>
          <a:effectLst>
            <a:outerShdw sx="100000" sy="100000" kx="0" ky="0" algn="bl" rotWithShape="0" blurRad="88900" dist="25400" dir="5400000">
              <a:srgbClr val="0A2942">
                <a:alpha val="16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6309360" y="3694176"/>
            <a:ext cx="2368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 CO₂ / O₂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6309360" y="3977640"/>
            <a:ext cx="23682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1F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Récup décroissantes / apnées croissantes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8942832" y="3611880"/>
            <a:ext cx="2697480" cy="969264"/>
          </a:xfrm>
          <a:prstGeom prst="roundRect">
            <a:avLst>
              <a:gd name="adj" fmla="val 6604"/>
            </a:avLst>
          </a:prstGeom>
          <a:solidFill>
            <a:srgbClr val="F2F7FB"/>
          </a:solidFill>
          <a:ln/>
          <a:effectLst>
            <a:outerShdw sx="100000" sy="100000" kx="0" ky="0" algn="bl" rotWithShape="0" blurRad="88900" dist="25400" dir="5400000">
              <a:srgbClr val="0A2942">
                <a:alpha val="16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9107424" y="3694176"/>
            <a:ext cx="2368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Frenzel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9107424" y="3977640"/>
            <a:ext cx="23682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1F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Compensation langue-piston, référence en apnée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548640" y="4709160"/>
            <a:ext cx="2697480" cy="969264"/>
          </a:xfrm>
          <a:prstGeom prst="roundRect">
            <a:avLst>
              <a:gd name="adj" fmla="val 6604"/>
            </a:avLst>
          </a:prstGeom>
          <a:solidFill>
            <a:srgbClr val="DCEBF5"/>
          </a:solidFill>
          <a:ln/>
          <a:effectLst>
            <a:outerShdw sx="100000" sy="100000" kx="0" ky="0" algn="bl" rotWithShape="0" blurRad="88900" dist="25400" dir="5400000">
              <a:srgbClr val="0A2942">
                <a:alpha val="16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713232" y="4791456"/>
            <a:ext cx="2368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BTV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713232" y="5074920"/>
            <a:ext cx="23682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1F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Béance tubaire volontaire : compensation sans les mains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3346704" y="4709160"/>
            <a:ext cx="2697480" cy="969264"/>
          </a:xfrm>
          <a:prstGeom prst="roundRect">
            <a:avLst>
              <a:gd name="adj" fmla="val 6604"/>
            </a:avLst>
          </a:prstGeom>
          <a:solidFill>
            <a:srgbClr val="F2F7FB"/>
          </a:solidFill>
          <a:ln/>
          <a:effectLst>
            <a:outerShdw sx="100000" sy="100000" kx="0" ky="0" algn="bl" rotWithShape="0" blurRad="88900" dist="25400" dir="5400000">
              <a:srgbClr val="0A2942">
                <a:alpha val="16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3511296" y="4791456"/>
            <a:ext cx="2368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Carpe (packing)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3511296" y="5074920"/>
            <a:ext cx="23682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1F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Sur-remplissage pulmonaire — technique d'expert à risque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6144768" y="4709160"/>
            <a:ext cx="2697480" cy="969264"/>
          </a:xfrm>
          <a:prstGeom prst="roundRect">
            <a:avLst>
              <a:gd name="adj" fmla="val 6604"/>
            </a:avLst>
          </a:prstGeom>
          <a:solidFill>
            <a:srgbClr val="DCEBF5"/>
          </a:solidFill>
          <a:ln/>
          <a:effectLst>
            <a:outerShdw sx="100000" sy="100000" kx="0" ky="0" algn="bl" rotWithShape="0" blurRad="88900" dist="25400" dir="5400000">
              <a:srgbClr val="0A2942">
                <a:alpha val="16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6309360" y="4791456"/>
            <a:ext cx="2368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OPI</a:t>
            </a:r>
            <a:endParaRPr lang="en-US" sz="1150" dirty="0"/>
          </a:p>
        </p:txBody>
      </p:sp>
      <p:sp>
        <p:nvSpPr>
          <p:cNvPr id="48" name="Text 46"/>
          <p:cNvSpPr/>
          <p:nvPr/>
        </p:nvSpPr>
        <p:spPr>
          <a:xfrm>
            <a:off x="6309360" y="5074920"/>
            <a:ext cx="23682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1F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Œdème pulmonaire d'immersion : toux, crachats rosés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8942832" y="4709160"/>
            <a:ext cx="2697480" cy="969264"/>
          </a:xfrm>
          <a:prstGeom prst="roundRect">
            <a:avLst>
              <a:gd name="adj" fmla="val 6604"/>
            </a:avLst>
          </a:prstGeom>
          <a:solidFill>
            <a:srgbClr val="F2F7FB"/>
          </a:solidFill>
          <a:ln/>
          <a:effectLst>
            <a:outerShdw sx="100000" sy="100000" kx="0" ky="0" algn="bl" rotWithShape="0" blurRad="88900" dist="25400" dir="5400000">
              <a:srgbClr val="0A2942">
                <a:alpha val="16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9107424" y="4791456"/>
            <a:ext cx="2368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Taravana</a:t>
            </a:r>
            <a:endParaRPr lang="en-US" sz="1150" dirty="0"/>
          </a:p>
        </p:txBody>
      </p:sp>
      <p:sp>
        <p:nvSpPr>
          <p:cNvPr id="51" name="Text 49"/>
          <p:cNvSpPr/>
          <p:nvPr/>
        </p:nvSpPr>
        <p:spPr>
          <a:xfrm>
            <a:off x="9107424" y="5074920"/>
            <a:ext cx="23682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1F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Accident de décompression de l'apnée profonde répétée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A29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737360"/>
            <a:ext cx="4754880" cy="475488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480560"/>
            <a:ext cx="4206240" cy="4206240"/>
          </a:xfrm>
          <a:prstGeom prst="ellipse">
            <a:avLst/>
          </a:prstGeom>
          <a:solidFill>
            <a:srgbClr val="1C7293">
              <a:alpha val="3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743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FC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53035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Trois messages à emporter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685800" y="1600200"/>
            <a:ext cx="10789920" cy="1298448"/>
          </a:xfrm>
          <a:prstGeom prst="roundRect">
            <a:avLst>
              <a:gd name="adj" fmla="val 6338"/>
            </a:avLst>
          </a:prstGeom>
          <a:solidFill>
            <a:srgbClr val="10395C"/>
          </a:solidFill>
          <a:ln/>
        </p:spPr>
      </p:sp>
      <p:sp>
        <p:nvSpPr>
          <p:cNvPr id="7" name="Shape 5"/>
          <p:cNvSpPr/>
          <p:nvPr/>
        </p:nvSpPr>
        <p:spPr>
          <a:xfrm>
            <a:off x="914400" y="1929384"/>
            <a:ext cx="640080" cy="640080"/>
          </a:xfrm>
          <a:prstGeom prst="ellipse">
            <a:avLst/>
          </a:prstGeom>
          <a:solidFill>
            <a:srgbClr val="065A82"/>
          </a:solidFill>
          <a:ln w="19050">
            <a:solidFill>
              <a:srgbClr val="8FC5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92938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828800" y="1764792"/>
            <a:ext cx="9418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performance se construit avec la physiologie, jamais contre elle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1828800" y="2167128"/>
            <a:ext cx="9418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C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Réflexe d'immersion, spleen effect, tolérances : on entraîne des mécanismes naturels, on ne les contourne pas.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85800" y="3081528"/>
            <a:ext cx="10789920" cy="1298448"/>
          </a:xfrm>
          <a:prstGeom prst="roundRect">
            <a:avLst>
              <a:gd name="adj" fmla="val 6338"/>
            </a:avLst>
          </a:prstGeom>
          <a:solidFill>
            <a:srgbClr val="10395C"/>
          </a:solidFill>
          <a:ln/>
        </p:spPr>
      </p:sp>
      <p:sp>
        <p:nvSpPr>
          <p:cNvPr id="12" name="Shape 10"/>
          <p:cNvSpPr/>
          <p:nvPr/>
        </p:nvSpPr>
        <p:spPr>
          <a:xfrm>
            <a:off x="914400" y="3410712"/>
            <a:ext cx="640080" cy="640080"/>
          </a:xfrm>
          <a:prstGeom prst="ellipse">
            <a:avLst/>
          </a:prstGeom>
          <a:solidFill>
            <a:srgbClr val="065A82"/>
          </a:solidFill>
          <a:ln w="19050">
            <a:solidFill>
              <a:srgbClr val="8FC5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41071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828800" y="3246120"/>
            <a:ext cx="9418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gros gains sont physiologiques, psychologiques et techniques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1828800" y="3648456"/>
            <a:ext cx="9418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C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morphologie s'optimise à la marge ; le reste se transforme réellement par un entraînement structuré et dosé.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85800" y="4562856"/>
            <a:ext cx="10789920" cy="1298448"/>
          </a:xfrm>
          <a:prstGeom prst="roundRect">
            <a:avLst>
              <a:gd name="adj" fmla="val 6338"/>
            </a:avLst>
          </a:prstGeom>
          <a:solidFill>
            <a:srgbClr val="10395C"/>
          </a:solidFill>
          <a:ln/>
        </p:spPr>
      </p:sp>
      <p:sp>
        <p:nvSpPr>
          <p:cNvPr id="17" name="Shape 15"/>
          <p:cNvSpPr/>
          <p:nvPr/>
        </p:nvSpPr>
        <p:spPr>
          <a:xfrm>
            <a:off x="914400" y="4892040"/>
            <a:ext cx="640080" cy="640080"/>
          </a:xfrm>
          <a:prstGeom prst="ellipse">
            <a:avLst/>
          </a:prstGeom>
          <a:solidFill>
            <a:srgbClr val="065A82"/>
          </a:solidFill>
          <a:ln w="19050">
            <a:solidFill>
              <a:srgbClr val="8FC5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4892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828800" y="4727448"/>
            <a:ext cx="9418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Aucune performance ne vaut une syncope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1828800" y="5129784"/>
            <a:ext cx="9418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C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L'alarme, c'est le CO₂ ; le danger, c'est l'O₂. Le cadre enseigne d'abord à respecter les signaux — l'hyperventilation reste proscrite.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85800" y="617220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i="1" dirty="0">
                <a:solidFill>
                  <a:srgbClr val="7F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Références : manuels de formation de la Commission Nationale d'Apnée FFESSM · commission médicale fédérale (accidents d'apnée) · littérature physiologique récente (diving reflex, contraction splénique, blood shift). Valeurs chiffrées données à titre pédagogique.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2026-08-08T10:14:38Z</dcterms:created>
  <dcterms:modified xsi:type="dcterms:W3CDTF">2026-08-08T10:14:38Z</dcterms:modified>
</cp:coreProperties>
</file>